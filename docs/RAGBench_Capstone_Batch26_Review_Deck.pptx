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2.xml" ContentType="application/vnd.openxmlformats-officedocument.drawingml.chart+xml"/>
  <Override PartName="/ppt/notesSlides/notesSlide17.xml" ContentType="application/vnd.openxmlformats-officedocument.presentationml.notesSlide+xml"/>
  <Override PartName="/ppt/charts/chart3.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87" r:id="rId12"/>
    <p:sldId id="266" r:id="rId13"/>
    <p:sldId id="285" r:id="rId14"/>
    <p:sldId id="286" r:id="rId15"/>
    <p:sldId id="284" r:id="rId16"/>
    <p:sldId id="281" r:id="rId17"/>
    <p:sldId id="267" r:id="rId18"/>
    <p:sldId id="268" r:id="rId19"/>
    <p:sldId id="280" r:id="rId20"/>
    <p:sldId id="269" r:id="rId21"/>
    <p:sldId id="270" r:id="rId22"/>
    <p:sldId id="282" r:id="rId23"/>
    <p:sldId id="283" r:id="rId24"/>
    <p:sldId id="273" r:id="rId25"/>
    <p:sldId id="274" r:id="rId26"/>
    <p:sldId id="275" r:id="rId27"/>
    <p:sldId id="276" r:id="rId28"/>
    <p:sldId id="278"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63" autoAdjust="0"/>
    <p:restoredTop sz="80915" autoAdjust="0"/>
  </p:normalViewPr>
  <p:slideViewPr>
    <p:cSldViewPr snapToGrid="0" snapToObjects="1">
      <p:cViewPr varScale="1">
        <p:scale>
          <a:sx n="64" d="100"/>
          <a:sy n="64" d="100"/>
        </p:scale>
        <p:origin x="19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vee Dandekar" userId="44c31a4991dec95c" providerId="LiveId" clId="{37B2C541-C526-4210-B8E3-350D74B3E7C9}"/>
    <pc:docChg chg="undo custSel addSld delSld modSld sldOrd">
      <pc:chgData name="Manvee Dandekar" userId="44c31a4991dec95c" providerId="LiveId" clId="{37B2C541-C526-4210-B8E3-350D74B3E7C9}" dt="2026-08-12T01:21:24.296" v="1315" actId="20577"/>
      <pc:docMkLst>
        <pc:docMk/>
      </pc:docMkLst>
      <pc:sldChg chg="addSp delSp modSp mod modNotesTx">
        <pc:chgData name="Manvee Dandekar" userId="44c31a4991dec95c" providerId="LiveId" clId="{37B2C541-C526-4210-B8E3-350D74B3E7C9}" dt="2026-08-12T01:18:50.189" v="1289" actId="20577"/>
        <pc:sldMkLst>
          <pc:docMk/>
          <pc:sldMk cId="0" sldId="256"/>
        </pc:sldMkLst>
        <pc:spChg chg="mod">
          <ac:chgData name="Manvee Dandekar" userId="44c31a4991dec95c" providerId="LiveId" clId="{37B2C541-C526-4210-B8E3-350D74B3E7C9}" dt="2026-08-08T08:08:07.309" v="9" actId="20577"/>
          <ac:spMkLst>
            <pc:docMk/>
            <pc:sldMk cId="0" sldId="256"/>
            <ac:spMk id="9" creationId="{00000000-0000-0000-0000-000000000000}"/>
          </ac:spMkLst>
        </pc:spChg>
        <pc:picChg chg="add mod">
          <ac:chgData name="Manvee Dandekar" userId="44c31a4991dec95c" providerId="LiveId" clId="{37B2C541-C526-4210-B8E3-350D74B3E7C9}" dt="2026-08-08T08:14:02.912" v="40" actId="1076"/>
          <ac:picMkLst>
            <pc:docMk/>
            <pc:sldMk cId="0" sldId="256"/>
            <ac:picMk id="23" creationId="{66E7609C-E554-A52C-B222-75F4E97FE77D}"/>
          </ac:picMkLst>
        </pc:picChg>
      </pc:sldChg>
      <pc:sldChg chg="addSp delSp modSp mod modNotesTx">
        <pc:chgData name="Manvee Dandekar" userId="44c31a4991dec95c" providerId="LiveId" clId="{37B2C541-C526-4210-B8E3-350D74B3E7C9}" dt="2026-08-12T01:18:54.823" v="1290" actId="20577"/>
        <pc:sldMkLst>
          <pc:docMk/>
          <pc:sldMk cId="0" sldId="257"/>
        </pc:sldMkLst>
        <pc:spChg chg="mod">
          <ac:chgData name="Manvee Dandekar" userId="44c31a4991dec95c" providerId="LiveId" clId="{37B2C541-C526-4210-B8E3-350D74B3E7C9}" dt="2026-08-08T08:19:49.050" v="45" actId="20577"/>
          <ac:spMkLst>
            <pc:docMk/>
            <pc:sldMk cId="0" sldId="257"/>
            <ac:spMk id="4" creationId="{00000000-0000-0000-0000-000000000000}"/>
          </ac:spMkLst>
        </pc:spChg>
      </pc:sldChg>
      <pc:sldChg chg="modSp mod modNotesTx">
        <pc:chgData name="Manvee Dandekar" userId="44c31a4991dec95c" providerId="LiveId" clId="{37B2C541-C526-4210-B8E3-350D74B3E7C9}" dt="2026-08-12T01:18:59.100" v="1291" actId="20577"/>
        <pc:sldMkLst>
          <pc:docMk/>
          <pc:sldMk cId="0" sldId="258"/>
        </pc:sldMkLst>
        <pc:spChg chg="mod">
          <ac:chgData name="Manvee Dandekar" userId="44c31a4991dec95c" providerId="LiveId" clId="{37B2C541-C526-4210-B8E3-350D74B3E7C9}" dt="2026-08-08T08:09:02.609" v="10"/>
          <ac:spMkLst>
            <pc:docMk/>
            <pc:sldMk cId="0" sldId="258"/>
            <ac:spMk id="6" creationId="{00000000-0000-0000-0000-000000000000}"/>
          </ac:spMkLst>
        </pc:spChg>
        <pc:spChg chg="mod">
          <ac:chgData name="Manvee Dandekar" userId="44c31a4991dec95c" providerId="LiveId" clId="{37B2C541-C526-4210-B8E3-350D74B3E7C9}" dt="2026-08-08T10:32:40.050" v="978" actId="403"/>
          <ac:spMkLst>
            <pc:docMk/>
            <pc:sldMk cId="0" sldId="258"/>
            <ac:spMk id="7" creationId="{00000000-0000-0000-0000-000000000000}"/>
          </ac:spMkLst>
        </pc:spChg>
        <pc:spChg chg="mod">
          <ac:chgData name="Manvee Dandekar" userId="44c31a4991dec95c" providerId="LiveId" clId="{37B2C541-C526-4210-B8E3-350D74B3E7C9}" dt="2026-08-08T10:32:40.050" v="978" actId="403"/>
          <ac:spMkLst>
            <pc:docMk/>
            <pc:sldMk cId="0" sldId="258"/>
            <ac:spMk id="8" creationId="{00000000-0000-0000-0000-000000000000}"/>
          </ac:spMkLst>
        </pc:spChg>
        <pc:spChg chg="mod">
          <ac:chgData name="Manvee Dandekar" userId="44c31a4991dec95c" providerId="LiveId" clId="{37B2C541-C526-4210-B8E3-350D74B3E7C9}" dt="2026-08-08T10:32:40.050" v="978" actId="403"/>
          <ac:spMkLst>
            <pc:docMk/>
            <pc:sldMk cId="0" sldId="258"/>
            <ac:spMk id="9" creationId="{00000000-0000-0000-0000-000000000000}"/>
          </ac:spMkLst>
        </pc:spChg>
        <pc:spChg chg="mod">
          <ac:chgData name="Manvee Dandekar" userId="44c31a4991dec95c" providerId="LiveId" clId="{37B2C541-C526-4210-B8E3-350D74B3E7C9}" dt="2026-08-08T10:32:40.050" v="978" actId="403"/>
          <ac:spMkLst>
            <pc:docMk/>
            <pc:sldMk cId="0" sldId="258"/>
            <ac:spMk id="13" creationId="{00000000-0000-0000-0000-000000000000}"/>
          </ac:spMkLst>
        </pc:spChg>
        <pc:spChg chg="mod">
          <ac:chgData name="Manvee Dandekar" userId="44c31a4991dec95c" providerId="LiveId" clId="{37B2C541-C526-4210-B8E3-350D74B3E7C9}" dt="2026-08-08T10:32:40.050" v="978" actId="403"/>
          <ac:spMkLst>
            <pc:docMk/>
            <pc:sldMk cId="0" sldId="258"/>
            <ac:spMk id="15" creationId="{00000000-0000-0000-0000-000000000000}"/>
          </ac:spMkLst>
        </pc:spChg>
        <pc:spChg chg="mod">
          <ac:chgData name="Manvee Dandekar" userId="44c31a4991dec95c" providerId="LiveId" clId="{37B2C541-C526-4210-B8E3-350D74B3E7C9}" dt="2026-08-08T10:32:40.050" v="978" actId="403"/>
          <ac:spMkLst>
            <pc:docMk/>
            <pc:sldMk cId="0" sldId="258"/>
            <ac:spMk id="16" creationId="{00000000-0000-0000-0000-000000000000}"/>
          </ac:spMkLst>
        </pc:spChg>
        <pc:spChg chg="mod">
          <ac:chgData name="Manvee Dandekar" userId="44c31a4991dec95c" providerId="LiveId" clId="{37B2C541-C526-4210-B8E3-350D74B3E7C9}" dt="2026-08-08T10:32:56.067" v="995" actId="1035"/>
          <ac:spMkLst>
            <pc:docMk/>
            <pc:sldMk cId="0" sldId="258"/>
            <ac:spMk id="17" creationId="{00000000-0000-0000-0000-000000000000}"/>
          </ac:spMkLst>
        </pc:spChg>
        <pc:spChg chg="mod">
          <ac:chgData name="Manvee Dandekar" userId="44c31a4991dec95c" providerId="LiveId" clId="{37B2C541-C526-4210-B8E3-350D74B3E7C9}" dt="2026-08-08T10:32:40.050" v="978" actId="403"/>
          <ac:spMkLst>
            <pc:docMk/>
            <pc:sldMk cId="0" sldId="258"/>
            <ac:spMk id="18" creationId="{00000000-0000-0000-0000-000000000000}"/>
          </ac:spMkLst>
        </pc:spChg>
        <pc:spChg chg="mod">
          <ac:chgData name="Manvee Dandekar" userId="44c31a4991dec95c" providerId="LiveId" clId="{37B2C541-C526-4210-B8E3-350D74B3E7C9}" dt="2026-08-08T10:32:40.050" v="978" actId="403"/>
          <ac:spMkLst>
            <pc:docMk/>
            <pc:sldMk cId="0" sldId="258"/>
            <ac:spMk id="20" creationId="{00000000-0000-0000-0000-000000000000}"/>
          </ac:spMkLst>
        </pc:spChg>
        <pc:spChg chg="mod">
          <ac:chgData name="Manvee Dandekar" userId="44c31a4991dec95c" providerId="LiveId" clId="{37B2C541-C526-4210-B8E3-350D74B3E7C9}" dt="2026-08-08T10:32:40.050" v="978" actId="403"/>
          <ac:spMkLst>
            <pc:docMk/>
            <pc:sldMk cId="0" sldId="258"/>
            <ac:spMk id="21" creationId="{00000000-0000-0000-0000-000000000000}"/>
          </ac:spMkLst>
        </pc:spChg>
      </pc:sldChg>
      <pc:sldChg chg="modSp mod modNotesTx">
        <pc:chgData name="Manvee Dandekar" userId="44c31a4991dec95c" providerId="LiveId" clId="{37B2C541-C526-4210-B8E3-350D74B3E7C9}" dt="2026-08-12T01:19:04.507" v="1292" actId="20577"/>
        <pc:sldMkLst>
          <pc:docMk/>
          <pc:sldMk cId="0" sldId="259"/>
        </pc:sldMkLst>
        <pc:spChg chg="mod">
          <ac:chgData name="Manvee Dandekar" userId="44c31a4991dec95c" providerId="LiveId" clId="{37B2C541-C526-4210-B8E3-350D74B3E7C9}" dt="2026-08-08T08:09:02.609" v="10"/>
          <ac:spMkLst>
            <pc:docMk/>
            <pc:sldMk cId="0" sldId="259"/>
            <ac:spMk id="5" creationId="{00000000-0000-0000-0000-000000000000}"/>
          </ac:spMkLst>
        </pc:spChg>
        <pc:spChg chg="mod">
          <ac:chgData name="Manvee Dandekar" userId="44c31a4991dec95c" providerId="LiveId" clId="{37B2C541-C526-4210-B8E3-350D74B3E7C9}" dt="2026-08-08T10:32:02.958" v="975" actId="403"/>
          <ac:spMkLst>
            <pc:docMk/>
            <pc:sldMk cId="0" sldId="259"/>
            <ac:spMk id="6" creationId="{00000000-0000-0000-0000-000000000000}"/>
          </ac:spMkLst>
        </pc:spChg>
        <pc:spChg chg="mod">
          <ac:chgData name="Manvee Dandekar" userId="44c31a4991dec95c" providerId="LiveId" clId="{37B2C541-C526-4210-B8E3-350D74B3E7C9}" dt="2026-08-08T10:32:22.792" v="977" actId="403"/>
          <ac:spMkLst>
            <pc:docMk/>
            <pc:sldMk cId="0" sldId="259"/>
            <ac:spMk id="9" creationId="{00000000-0000-0000-0000-000000000000}"/>
          </ac:spMkLst>
        </pc:spChg>
        <pc:spChg chg="mod">
          <ac:chgData name="Manvee Dandekar" userId="44c31a4991dec95c" providerId="LiveId" clId="{37B2C541-C526-4210-B8E3-350D74B3E7C9}" dt="2026-08-08T10:32:22.792" v="977" actId="403"/>
          <ac:spMkLst>
            <pc:docMk/>
            <pc:sldMk cId="0" sldId="259"/>
            <ac:spMk id="10" creationId="{00000000-0000-0000-0000-000000000000}"/>
          </ac:spMkLst>
        </pc:spChg>
        <pc:spChg chg="mod">
          <ac:chgData name="Manvee Dandekar" userId="44c31a4991dec95c" providerId="LiveId" clId="{37B2C541-C526-4210-B8E3-350D74B3E7C9}" dt="2026-08-08T10:32:22.792" v="977" actId="403"/>
          <ac:spMkLst>
            <pc:docMk/>
            <pc:sldMk cId="0" sldId="259"/>
            <ac:spMk id="14" creationId="{00000000-0000-0000-0000-000000000000}"/>
          </ac:spMkLst>
        </pc:spChg>
        <pc:spChg chg="mod">
          <ac:chgData name="Manvee Dandekar" userId="44c31a4991dec95c" providerId="LiveId" clId="{37B2C541-C526-4210-B8E3-350D74B3E7C9}" dt="2026-08-08T10:32:22.792" v="977" actId="403"/>
          <ac:spMkLst>
            <pc:docMk/>
            <pc:sldMk cId="0" sldId="259"/>
            <ac:spMk id="15" creationId="{00000000-0000-0000-0000-000000000000}"/>
          </ac:spMkLst>
        </pc:spChg>
        <pc:spChg chg="mod">
          <ac:chgData name="Manvee Dandekar" userId="44c31a4991dec95c" providerId="LiveId" clId="{37B2C541-C526-4210-B8E3-350D74B3E7C9}" dt="2026-08-08T10:32:22.792" v="977" actId="403"/>
          <ac:spMkLst>
            <pc:docMk/>
            <pc:sldMk cId="0" sldId="259"/>
            <ac:spMk id="19" creationId="{00000000-0000-0000-0000-000000000000}"/>
          </ac:spMkLst>
        </pc:spChg>
        <pc:spChg chg="mod">
          <ac:chgData name="Manvee Dandekar" userId="44c31a4991dec95c" providerId="LiveId" clId="{37B2C541-C526-4210-B8E3-350D74B3E7C9}" dt="2026-08-08T10:32:22.792" v="977" actId="403"/>
          <ac:spMkLst>
            <pc:docMk/>
            <pc:sldMk cId="0" sldId="259"/>
            <ac:spMk id="20" creationId="{00000000-0000-0000-0000-000000000000}"/>
          </ac:spMkLst>
        </pc:spChg>
        <pc:spChg chg="mod">
          <ac:chgData name="Manvee Dandekar" userId="44c31a4991dec95c" providerId="LiveId" clId="{37B2C541-C526-4210-B8E3-350D74B3E7C9}" dt="2026-08-08T08:20:26.719" v="59" actId="20577"/>
          <ac:spMkLst>
            <pc:docMk/>
            <pc:sldMk cId="0" sldId="259"/>
            <ac:spMk id="22" creationId="{00000000-0000-0000-0000-000000000000}"/>
          </ac:spMkLst>
        </pc:spChg>
      </pc:sldChg>
      <pc:sldChg chg="addSp delSp modSp mod modNotesTx">
        <pc:chgData name="Manvee Dandekar" userId="44c31a4991dec95c" providerId="LiveId" clId="{37B2C541-C526-4210-B8E3-350D74B3E7C9}" dt="2026-08-12T01:19:17.060" v="1293" actId="20577"/>
        <pc:sldMkLst>
          <pc:docMk/>
          <pc:sldMk cId="0" sldId="260"/>
        </pc:sldMkLst>
        <pc:spChg chg="mod">
          <ac:chgData name="Manvee Dandekar" userId="44c31a4991dec95c" providerId="LiveId" clId="{37B2C541-C526-4210-B8E3-350D74B3E7C9}" dt="2026-08-08T08:09:02.609" v="10"/>
          <ac:spMkLst>
            <pc:docMk/>
            <pc:sldMk cId="0" sldId="260"/>
            <ac:spMk id="6" creationId="{00000000-0000-0000-0000-000000000000}"/>
          </ac:spMkLst>
        </pc:spChg>
        <pc:spChg chg="mod">
          <ac:chgData name="Manvee Dandekar" userId="44c31a4991dec95c" providerId="LiveId" clId="{37B2C541-C526-4210-B8E3-350D74B3E7C9}" dt="2026-08-08T10:33:10.730" v="996" actId="403"/>
          <ac:spMkLst>
            <pc:docMk/>
            <pc:sldMk cId="0" sldId="260"/>
            <ac:spMk id="12" creationId="{00000000-0000-0000-0000-000000000000}"/>
          </ac:spMkLst>
        </pc:spChg>
        <pc:spChg chg="mod">
          <ac:chgData name="Manvee Dandekar" userId="44c31a4991dec95c" providerId="LiveId" clId="{37B2C541-C526-4210-B8E3-350D74B3E7C9}" dt="2026-08-08T10:33:24.763" v="998" actId="403"/>
          <ac:spMkLst>
            <pc:docMk/>
            <pc:sldMk cId="0" sldId="260"/>
            <ac:spMk id="13" creationId="{00000000-0000-0000-0000-000000000000}"/>
          </ac:spMkLst>
        </pc:spChg>
        <pc:spChg chg="mod">
          <ac:chgData name="Manvee Dandekar" userId="44c31a4991dec95c" providerId="LiveId" clId="{37B2C541-C526-4210-B8E3-350D74B3E7C9}" dt="2026-08-08T10:33:24.763" v="998" actId="403"/>
          <ac:spMkLst>
            <pc:docMk/>
            <pc:sldMk cId="0" sldId="260"/>
            <ac:spMk id="14" creationId="{00000000-0000-0000-0000-000000000000}"/>
          </ac:spMkLst>
        </pc:spChg>
        <pc:spChg chg="mod">
          <ac:chgData name="Manvee Dandekar" userId="44c31a4991dec95c" providerId="LiveId" clId="{37B2C541-C526-4210-B8E3-350D74B3E7C9}" dt="2026-08-08T10:33:24.763" v="998" actId="403"/>
          <ac:spMkLst>
            <pc:docMk/>
            <pc:sldMk cId="0" sldId="260"/>
            <ac:spMk id="16" creationId="{00000000-0000-0000-0000-000000000000}"/>
          </ac:spMkLst>
        </pc:spChg>
        <pc:spChg chg="mod">
          <ac:chgData name="Manvee Dandekar" userId="44c31a4991dec95c" providerId="LiveId" clId="{37B2C541-C526-4210-B8E3-350D74B3E7C9}" dt="2026-08-08T10:33:24.763" v="998" actId="403"/>
          <ac:spMkLst>
            <pc:docMk/>
            <pc:sldMk cId="0" sldId="260"/>
            <ac:spMk id="20" creationId="{00000000-0000-0000-0000-000000000000}"/>
          </ac:spMkLst>
        </pc:spChg>
        <pc:spChg chg="mod">
          <ac:chgData name="Manvee Dandekar" userId="44c31a4991dec95c" providerId="LiveId" clId="{37B2C541-C526-4210-B8E3-350D74B3E7C9}" dt="2026-08-08T10:33:24.763" v="998" actId="403"/>
          <ac:spMkLst>
            <pc:docMk/>
            <pc:sldMk cId="0" sldId="260"/>
            <ac:spMk id="21" creationId="{00000000-0000-0000-0000-000000000000}"/>
          </ac:spMkLst>
        </pc:spChg>
        <pc:spChg chg="mod">
          <ac:chgData name="Manvee Dandekar" userId="44c31a4991dec95c" providerId="LiveId" clId="{37B2C541-C526-4210-B8E3-350D74B3E7C9}" dt="2026-08-08T10:33:24.763" v="998" actId="403"/>
          <ac:spMkLst>
            <pc:docMk/>
            <pc:sldMk cId="0" sldId="260"/>
            <ac:spMk id="24" creationId="{00000000-0000-0000-0000-000000000000}"/>
          </ac:spMkLst>
        </pc:spChg>
        <pc:spChg chg="mod">
          <ac:chgData name="Manvee Dandekar" userId="44c31a4991dec95c" providerId="LiveId" clId="{37B2C541-C526-4210-B8E3-350D74B3E7C9}" dt="2026-08-08T10:33:24.763" v="998" actId="403"/>
          <ac:spMkLst>
            <pc:docMk/>
            <pc:sldMk cId="0" sldId="260"/>
            <ac:spMk id="25" creationId="{00000000-0000-0000-0000-000000000000}"/>
          </ac:spMkLst>
        </pc:spChg>
        <pc:spChg chg="mod">
          <ac:chgData name="Manvee Dandekar" userId="44c31a4991dec95c" providerId="LiveId" clId="{37B2C541-C526-4210-B8E3-350D74B3E7C9}" dt="2026-08-08T10:33:24.763" v="998" actId="403"/>
          <ac:spMkLst>
            <pc:docMk/>
            <pc:sldMk cId="0" sldId="260"/>
            <ac:spMk id="30" creationId="{00000000-0000-0000-0000-000000000000}"/>
          </ac:spMkLst>
        </pc:spChg>
        <pc:spChg chg="mod">
          <ac:chgData name="Manvee Dandekar" userId="44c31a4991dec95c" providerId="LiveId" clId="{37B2C541-C526-4210-B8E3-350D74B3E7C9}" dt="2026-08-08T10:33:24.763" v="998" actId="403"/>
          <ac:spMkLst>
            <pc:docMk/>
            <pc:sldMk cId="0" sldId="260"/>
            <ac:spMk id="35" creationId="{00000000-0000-0000-0000-000000000000}"/>
          </ac:spMkLst>
        </pc:spChg>
        <pc:spChg chg="mod">
          <ac:chgData name="Manvee Dandekar" userId="44c31a4991dec95c" providerId="LiveId" clId="{37B2C541-C526-4210-B8E3-350D74B3E7C9}" dt="2026-08-08T08:32:26.932" v="112" actId="113"/>
          <ac:spMkLst>
            <pc:docMk/>
            <pc:sldMk cId="0" sldId="260"/>
            <ac:spMk id="39" creationId="{00000000-0000-0000-0000-000000000000}"/>
          </ac:spMkLst>
        </pc:spChg>
        <pc:spChg chg="mod">
          <ac:chgData name="Manvee Dandekar" userId="44c31a4991dec95c" providerId="LiveId" clId="{37B2C541-C526-4210-B8E3-350D74B3E7C9}" dt="2026-08-08T08:32:23.248" v="111" actId="113"/>
          <ac:spMkLst>
            <pc:docMk/>
            <pc:sldMk cId="0" sldId="260"/>
            <ac:spMk id="40" creationId="{00000000-0000-0000-0000-000000000000}"/>
          </ac:spMkLst>
        </pc:spChg>
        <pc:spChg chg="mod">
          <ac:chgData name="Manvee Dandekar" userId="44c31a4991dec95c" providerId="LiveId" clId="{37B2C541-C526-4210-B8E3-350D74B3E7C9}" dt="2026-08-08T10:33:24.763" v="998" actId="403"/>
          <ac:spMkLst>
            <pc:docMk/>
            <pc:sldMk cId="0" sldId="260"/>
            <ac:spMk id="41" creationId="{00000000-0000-0000-0000-000000000000}"/>
          </ac:spMkLst>
        </pc:spChg>
        <pc:spChg chg="mod">
          <ac:chgData name="Manvee Dandekar" userId="44c31a4991dec95c" providerId="LiveId" clId="{37B2C541-C526-4210-B8E3-350D74B3E7C9}" dt="2026-08-08T08:32:23.248" v="111" actId="113"/>
          <ac:spMkLst>
            <pc:docMk/>
            <pc:sldMk cId="0" sldId="260"/>
            <ac:spMk id="42" creationId="{00000000-0000-0000-0000-000000000000}"/>
          </ac:spMkLst>
        </pc:spChg>
        <pc:spChg chg="add mod ord">
          <ac:chgData name="Manvee Dandekar" userId="44c31a4991dec95c" providerId="LiveId" clId="{37B2C541-C526-4210-B8E3-350D74B3E7C9}" dt="2026-08-08T08:32:23.248" v="111" actId="113"/>
          <ac:spMkLst>
            <pc:docMk/>
            <pc:sldMk cId="0" sldId="260"/>
            <ac:spMk id="44" creationId="{A60DFE46-45F0-873A-0D77-0D86AC0DF03B}"/>
          </ac:spMkLst>
        </pc:spChg>
      </pc:sldChg>
      <pc:sldChg chg="modSp">
        <pc:chgData name="Manvee Dandekar" userId="44c31a4991dec95c" providerId="LiveId" clId="{37B2C541-C526-4210-B8E3-350D74B3E7C9}" dt="2026-08-08T08:09:02.609" v="10"/>
        <pc:sldMkLst>
          <pc:docMk/>
          <pc:sldMk cId="0" sldId="261"/>
        </pc:sldMkLst>
        <pc:spChg chg="mod">
          <ac:chgData name="Manvee Dandekar" userId="44c31a4991dec95c" providerId="LiveId" clId="{37B2C541-C526-4210-B8E3-350D74B3E7C9}" dt="2026-08-08T08:09:02.609" v="10"/>
          <ac:spMkLst>
            <pc:docMk/>
            <pc:sldMk cId="0" sldId="261"/>
            <ac:spMk id="6" creationId="{00000000-0000-0000-0000-000000000000}"/>
          </ac:spMkLst>
        </pc:spChg>
      </pc:sldChg>
      <pc:sldChg chg="modSp mod modNotesTx">
        <pc:chgData name="Manvee Dandekar" userId="44c31a4991dec95c" providerId="LiveId" clId="{37B2C541-C526-4210-B8E3-350D74B3E7C9}" dt="2026-08-12T01:19:26.610" v="1294" actId="20577"/>
        <pc:sldMkLst>
          <pc:docMk/>
          <pc:sldMk cId="0" sldId="262"/>
        </pc:sldMkLst>
        <pc:spChg chg="mod">
          <ac:chgData name="Manvee Dandekar" userId="44c31a4991dec95c" providerId="LiveId" clId="{37B2C541-C526-4210-B8E3-350D74B3E7C9}" dt="2026-08-08T08:09:02.609" v="10"/>
          <ac:spMkLst>
            <pc:docMk/>
            <pc:sldMk cId="0" sldId="262"/>
            <ac:spMk id="6" creationId="{00000000-0000-0000-0000-000000000000}"/>
          </ac:spMkLst>
        </pc:spChg>
        <pc:spChg chg="mod">
          <ac:chgData name="Manvee Dandekar" userId="44c31a4991dec95c" providerId="LiveId" clId="{37B2C541-C526-4210-B8E3-350D74B3E7C9}" dt="2026-08-08T10:36:30.979" v="1005" actId="403"/>
          <ac:spMkLst>
            <pc:docMk/>
            <pc:sldMk cId="0" sldId="262"/>
            <ac:spMk id="29" creationId="{00000000-0000-0000-0000-000000000000}"/>
          </ac:spMkLst>
        </pc:spChg>
        <pc:spChg chg="mod">
          <ac:chgData name="Manvee Dandekar" userId="44c31a4991dec95c" providerId="LiveId" clId="{37B2C541-C526-4210-B8E3-350D74B3E7C9}" dt="2026-08-08T10:36:30.979" v="1005" actId="403"/>
          <ac:spMkLst>
            <pc:docMk/>
            <pc:sldMk cId="0" sldId="262"/>
            <ac:spMk id="31" creationId="{00000000-0000-0000-0000-000000000000}"/>
          </ac:spMkLst>
        </pc:spChg>
        <pc:spChg chg="mod">
          <ac:chgData name="Manvee Dandekar" userId="44c31a4991dec95c" providerId="LiveId" clId="{37B2C541-C526-4210-B8E3-350D74B3E7C9}" dt="2026-08-08T10:36:30.979" v="1005" actId="403"/>
          <ac:spMkLst>
            <pc:docMk/>
            <pc:sldMk cId="0" sldId="262"/>
            <ac:spMk id="33" creationId="{00000000-0000-0000-0000-000000000000}"/>
          </ac:spMkLst>
        </pc:spChg>
        <pc:spChg chg="mod">
          <ac:chgData name="Manvee Dandekar" userId="44c31a4991dec95c" providerId="LiveId" clId="{37B2C541-C526-4210-B8E3-350D74B3E7C9}" dt="2026-08-08T10:36:30.979" v="1005" actId="403"/>
          <ac:spMkLst>
            <pc:docMk/>
            <pc:sldMk cId="0" sldId="262"/>
            <ac:spMk id="35" creationId="{00000000-0000-0000-0000-000000000000}"/>
          </ac:spMkLst>
        </pc:spChg>
        <pc:spChg chg="mod">
          <ac:chgData name="Manvee Dandekar" userId="44c31a4991dec95c" providerId="LiveId" clId="{37B2C541-C526-4210-B8E3-350D74B3E7C9}" dt="2026-08-08T10:36:30.979" v="1005" actId="403"/>
          <ac:spMkLst>
            <pc:docMk/>
            <pc:sldMk cId="0" sldId="262"/>
            <ac:spMk id="37" creationId="{00000000-0000-0000-0000-000000000000}"/>
          </ac:spMkLst>
        </pc:spChg>
        <pc:spChg chg="mod">
          <ac:chgData name="Manvee Dandekar" userId="44c31a4991dec95c" providerId="LiveId" clId="{37B2C541-C526-4210-B8E3-350D74B3E7C9}" dt="2026-08-08T10:36:37.587" v="1013" actId="1035"/>
          <ac:spMkLst>
            <pc:docMk/>
            <pc:sldMk cId="0" sldId="262"/>
            <ac:spMk id="38" creationId="{00000000-0000-0000-0000-000000000000}"/>
          </ac:spMkLst>
        </pc:spChg>
        <pc:spChg chg="mod">
          <ac:chgData name="Manvee Dandekar" userId="44c31a4991dec95c" providerId="LiveId" clId="{37B2C541-C526-4210-B8E3-350D74B3E7C9}" dt="2026-08-08T10:36:46.490" v="1016" actId="403"/>
          <ac:spMkLst>
            <pc:docMk/>
            <pc:sldMk cId="0" sldId="262"/>
            <ac:spMk id="39" creationId="{00000000-0000-0000-0000-000000000000}"/>
          </ac:spMkLst>
        </pc:spChg>
        <pc:spChg chg="mod">
          <ac:chgData name="Manvee Dandekar" userId="44c31a4991dec95c" providerId="LiveId" clId="{37B2C541-C526-4210-B8E3-350D74B3E7C9}" dt="2026-08-08T10:36:59.907" v="1019" actId="403"/>
          <ac:spMkLst>
            <pc:docMk/>
            <pc:sldMk cId="0" sldId="262"/>
            <ac:spMk id="41" creationId="{00000000-0000-0000-0000-000000000000}"/>
          </ac:spMkLst>
        </pc:spChg>
        <pc:spChg chg="mod">
          <ac:chgData name="Manvee Dandekar" userId="44c31a4991dec95c" providerId="LiveId" clId="{37B2C541-C526-4210-B8E3-350D74B3E7C9}" dt="2026-08-08T10:36:59.907" v="1019" actId="403"/>
          <ac:spMkLst>
            <pc:docMk/>
            <pc:sldMk cId="0" sldId="262"/>
            <ac:spMk id="42" creationId="{00000000-0000-0000-0000-000000000000}"/>
          </ac:spMkLst>
        </pc:spChg>
        <pc:spChg chg="mod">
          <ac:chgData name="Manvee Dandekar" userId="44c31a4991dec95c" providerId="LiveId" clId="{37B2C541-C526-4210-B8E3-350D74B3E7C9}" dt="2026-08-08T10:36:59.907" v="1019" actId="403"/>
          <ac:spMkLst>
            <pc:docMk/>
            <pc:sldMk cId="0" sldId="262"/>
            <ac:spMk id="43" creationId="{00000000-0000-0000-0000-000000000000}"/>
          </ac:spMkLst>
        </pc:spChg>
        <pc:spChg chg="mod">
          <ac:chgData name="Manvee Dandekar" userId="44c31a4991dec95c" providerId="LiveId" clId="{37B2C541-C526-4210-B8E3-350D74B3E7C9}" dt="2026-08-08T10:36:59.907" v="1019" actId="403"/>
          <ac:spMkLst>
            <pc:docMk/>
            <pc:sldMk cId="0" sldId="262"/>
            <ac:spMk id="44" creationId="{00000000-0000-0000-0000-000000000000}"/>
          </ac:spMkLst>
        </pc:spChg>
        <pc:spChg chg="mod">
          <ac:chgData name="Manvee Dandekar" userId="44c31a4991dec95c" providerId="LiveId" clId="{37B2C541-C526-4210-B8E3-350D74B3E7C9}" dt="2026-08-08T10:36:59.907" v="1019" actId="403"/>
          <ac:spMkLst>
            <pc:docMk/>
            <pc:sldMk cId="0" sldId="262"/>
            <ac:spMk id="45" creationId="{00000000-0000-0000-0000-000000000000}"/>
          </ac:spMkLst>
        </pc:spChg>
        <pc:spChg chg="mod">
          <ac:chgData name="Manvee Dandekar" userId="44c31a4991dec95c" providerId="LiveId" clId="{37B2C541-C526-4210-B8E3-350D74B3E7C9}" dt="2026-08-08T10:36:59.907" v="1019" actId="403"/>
          <ac:spMkLst>
            <pc:docMk/>
            <pc:sldMk cId="0" sldId="262"/>
            <ac:spMk id="46" creationId="{00000000-0000-0000-0000-000000000000}"/>
          </ac:spMkLst>
        </pc:spChg>
        <pc:spChg chg="mod">
          <ac:chgData name="Manvee Dandekar" userId="44c31a4991dec95c" providerId="LiveId" clId="{37B2C541-C526-4210-B8E3-350D74B3E7C9}" dt="2026-08-08T10:37:16.354" v="1021" actId="403"/>
          <ac:spMkLst>
            <pc:docMk/>
            <pc:sldMk cId="0" sldId="262"/>
            <ac:spMk id="47" creationId="{00000000-0000-0000-0000-000000000000}"/>
          </ac:spMkLst>
        </pc:spChg>
        <pc:spChg chg="mod">
          <ac:chgData name="Manvee Dandekar" userId="44c31a4991dec95c" providerId="LiveId" clId="{37B2C541-C526-4210-B8E3-350D74B3E7C9}" dt="2026-08-08T10:37:16.354" v="1021" actId="403"/>
          <ac:spMkLst>
            <pc:docMk/>
            <pc:sldMk cId="0" sldId="262"/>
            <ac:spMk id="48" creationId="{00000000-0000-0000-0000-000000000000}"/>
          </ac:spMkLst>
        </pc:spChg>
        <pc:spChg chg="mod">
          <ac:chgData name="Manvee Dandekar" userId="44c31a4991dec95c" providerId="LiveId" clId="{37B2C541-C526-4210-B8E3-350D74B3E7C9}" dt="2026-08-08T10:37:16.354" v="1021" actId="403"/>
          <ac:spMkLst>
            <pc:docMk/>
            <pc:sldMk cId="0" sldId="262"/>
            <ac:spMk id="49" creationId="{00000000-0000-0000-0000-000000000000}"/>
          </ac:spMkLst>
        </pc:spChg>
        <pc:spChg chg="mod">
          <ac:chgData name="Manvee Dandekar" userId="44c31a4991dec95c" providerId="LiveId" clId="{37B2C541-C526-4210-B8E3-350D74B3E7C9}" dt="2026-08-08T10:37:16.354" v="1021" actId="403"/>
          <ac:spMkLst>
            <pc:docMk/>
            <pc:sldMk cId="0" sldId="262"/>
            <ac:spMk id="50" creationId="{00000000-0000-0000-0000-000000000000}"/>
          </ac:spMkLst>
        </pc:spChg>
        <pc:spChg chg="mod">
          <ac:chgData name="Manvee Dandekar" userId="44c31a4991dec95c" providerId="LiveId" clId="{37B2C541-C526-4210-B8E3-350D74B3E7C9}" dt="2026-08-08T10:37:16.354" v="1021" actId="403"/>
          <ac:spMkLst>
            <pc:docMk/>
            <pc:sldMk cId="0" sldId="262"/>
            <ac:spMk id="51" creationId="{00000000-0000-0000-0000-000000000000}"/>
          </ac:spMkLst>
        </pc:spChg>
        <pc:spChg chg="mod">
          <ac:chgData name="Manvee Dandekar" userId="44c31a4991dec95c" providerId="LiveId" clId="{37B2C541-C526-4210-B8E3-350D74B3E7C9}" dt="2026-08-08T10:37:16.354" v="1021" actId="403"/>
          <ac:spMkLst>
            <pc:docMk/>
            <pc:sldMk cId="0" sldId="262"/>
            <ac:spMk id="52" creationId="{00000000-0000-0000-0000-000000000000}"/>
          </ac:spMkLst>
        </pc:spChg>
      </pc:sldChg>
      <pc:sldChg chg="modSp mod modNotesTx">
        <pc:chgData name="Manvee Dandekar" userId="44c31a4991dec95c" providerId="LiveId" clId="{37B2C541-C526-4210-B8E3-350D74B3E7C9}" dt="2026-08-12T01:19:33.565" v="1295" actId="20577"/>
        <pc:sldMkLst>
          <pc:docMk/>
          <pc:sldMk cId="0" sldId="263"/>
        </pc:sldMkLst>
        <pc:spChg chg="mod">
          <ac:chgData name="Manvee Dandekar" userId="44c31a4991dec95c" providerId="LiveId" clId="{37B2C541-C526-4210-B8E3-350D74B3E7C9}" dt="2026-08-08T08:09:02.609" v="10"/>
          <ac:spMkLst>
            <pc:docMk/>
            <pc:sldMk cId="0" sldId="263"/>
            <ac:spMk id="6" creationId="{00000000-0000-0000-0000-000000000000}"/>
          </ac:spMkLst>
        </pc:spChg>
        <pc:spChg chg="mod">
          <ac:chgData name="Manvee Dandekar" userId="44c31a4991dec95c" providerId="LiveId" clId="{37B2C541-C526-4210-B8E3-350D74B3E7C9}" dt="2026-08-08T10:37:37.747" v="1023" actId="403"/>
          <ac:spMkLst>
            <pc:docMk/>
            <pc:sldMk cId="0" sldId="263"/>
            <ac:spMk id="7" creationId="{00000000-0000-0000-0000-000000000000}"/>
          </ac:spMkLst>
        </pc:spChg>
        <pc:spChg chg="mod">
          <ac:chgData name="Manvee Dandekar" userId="44c31a4991dec95c" providerId="LiveId" clId="{37B2C541-C526-4210-B8E3-350D74B3E7C9}" dt="2026-08-08T10:37:37.747" v="1023" actId="403"/>
          <ac:spMkLst>
            <pc:docMk/>
            <pc:sldMk cId="0" sldId="263"/>
            <ac:spMk id="12" creationId="{00000000-0000-0000-0000-000000000000}"/>
          </ac:spMkLst>
        </pc:spChg>
        <pc:spChg chg="mod">
          <ac:chgData name="Manvee Dandekar" userId="44c31a4991dec95c" providerId="LiveId" clId="{37B2C541-C526-4210-B8E3-350D74B3E7C9}" dt="2026-08-08T10:37:37.747" v="1023" actId="403"/>
          <ac:spMkLst>
            <pc:docMk/>
            <pc:sldMk cId="0" sldId="263"/>
            <ac:spMk id="17" creationId="{00000000-0000-0000-0000-000000000000}"/>
          </ac:spMkLst>
        </pc:spChg>
        <pc:spChg chg="mod">
          <ac:chgData name="Manvee Dandekar" userId="44c31a4991dec95c" providerId="LiveId" clId="{37B2C541-C526-4210-B8E3-350D74B3E7C9}" dt="2026-08-08T10:37:37.747" v="1023" actId="403"/>
          <ac:spMkLst>
            <pc:docMk/>
            <pc:sldMk cId="0" sldId="263"/>
            <ac:spMk id="20" creationId="{00000000-0000-0000-0000-000000000000}"/>
          </ac:spMkLst>
        </pc:spChg>
        <pc:spChg chg="mod">
          <ac:chgData name="Manvee Dandekar" userId="44c31a4991dec95c" providerId="LiveId" clId="{37B2C541-C526-4210-B8E3-350D74B3E7C9}" dt="2026-08-08T10:37:37.747" v="1023" actId="403"/>
          <ac:spMkLst>
            <pc:docMk/>
            <pc:sldMk cId="0" sldId="263"/>
            <ac:spMk id="28" creationId="{00000000-0000-0000-0000-000000000000}"/>
          </ac:spMkLst>
        </pc:spChg>
        <pc:spChg chg="mod">
          <ac:chgData name="Manvee Dandekar" userId="44c31a4991dec95c" providerId="LiveId" clId="{37B2C541-C526-4210-B8E3-350D74B3E7C9}" dt="2026-08-08T10:38:11.061" v="1038" actId="1035"/>
          <ac:spMkLst>
            <pc:docMk/>
            <pc:sldMk cId="0" sldId="263"/>
            <ac:spMk id="32" creationId="{00000000-0000-0000-0000-000000000000}"/>
          </ac:spMkLst>
        </pc:spChg>
        <pc:spChg chg="mod">
          <ac:chgData name="Manvee Dandekar" userId="44c31a4991dec95c" providerId="LiveId" clId="{37B2C541-C526-4210-B8E3-350D74B3E7C9}" dt="2026-08-08T10:37:37.747" v="1023" actId="403"/>
          <ac:spMkLst>
            <pc:docMk/>
            <pc:sldMk cId="0" sldId="263"/>
            <ac:spMk id="33" creationId="{00000000-0000-0000-0000-000000000000}"/>
          </ac:spMkLst>
        </pc:spChg>
        <pc:spChg chg="mod">
          <ac:chgData name="Manvee Dandekar" userId="44c31a4991dec95c" providerId="LiveId" clId="{37B2C541-C526-4210-B8E3-350D74B3E7C9}" dt="2026-08-08T10:37:37.747" v="1023" actId="403"/>
          <ac:spMkLst>
            <pc:docMk/>
            <pc:sldMk cId="0" sldId="263"/>
            <ac:spMk id="34" creationId="{00000000-0000-0000-0000-000000000000}"/>
          </ac:spMkLst>
        </pc:spChg>
        <pc:spChg chg="mod">
          <ac:chgData name="Manvee Dandekar" userId="44c31a4991dec95c" providerId="LiveId" clId="{37B2C541-C526-4210-B8E3-350D74B3E7C9}" dt="2026-08-08T10:37:49.221" v="1024" actId="403"/>
          <ac:spMkLst>
            <pc:docMk/>
            <pc:sldMk cId="0" sldId="263"/>
            <ac:spMk id="35" creationId="{00000000-0000-0000-0000-000000000000}"/>
          </ac:spMkLst>
        </pc:spChg>
        <pc:spChg chg="mod">
          <ac:chgData name="Manvee Dandekar" userId="44c31a4991dec95c" providerId="LiveId" clId="{37B2C541-C526-4210-B8E3-350D74B3E7C9}" dt="2026-08-08T10:37:54.437" v="1025" actId="403"/>
          <ac:spMkLst>
            <pc:docMk/>
            <pc:sldMk cId="0" sldId="263"/>
            <ac:spMk id="37" creationId="{00000000-0000-0000-0000-000000000000}"/>
          </ac:spMkLst>
        </pc:spChg>
      </pc:sldChg>
      <pc:sldChg chg="modSp mod ord modNotesTx">
        <pc:chgData name="Manvee Dandekar" userId="44c31a4991dec95c" providerId="LiveId" clId="{37B2C541-C526-4210-B8E3-350D74B3E7C9}" dt="2026-08-12T01:19:45.743" v="1296" actId="20577"/>
        <pc:sldMkLst>
          <pc:docMk/>
          <pc:sldMk cId="0" sldId="264"/>
        </pc:sldMkLst>
        <pc:spChg chg="mod">
          <ac:chgData name="Manvee Dandekar" userId="44c31a4991dec95c" providerId="LiveId" clId="{37B2C541-C526-4210-B8E3-350D74B3E7C9}" dt="2026-08-08T08:09:02.609" v="10"/>
          <ac:spMkLst>
            <pc:docMk/>
            <pc:sldMk cId="0" sldId="264"/>
            <ac:spMk id="6" creationId="{00000000-0000-0000-0000-000000000000}"/>
          </ac:spMkLst>
        </pc:spChg>
        <pc:spChg chg="mod">
          <ac:chgData name="Manvee Dandekar" userId="44c31a4991dec95c" providerId="LiveId" clId="{37B2C541-C526-4210-B8E3-350D74B3E7C9}" dt="2026-08-08T10:38:33.434" v="1040" actId="403"/>
          <ac:spMkLst>
            <pc:docMk/>
            <pc:sldMk cId="0" sldId="264"/>
            <ac:spMk id="8" creationId="{00000000-0000-0000-0000-000000000000}"/>
          </ac:spMkLst>
        </pc:spChg>
        <pc:spChg chg="mod">
          <ac:chgData name="Manvee Dandekar" userId="44c31a4991dec95c" providerId="LiveId" clId="{37B2C541-C526-4210-B8E3-350D74B3E7C9}" dt="2026-08-08T10:38:33.434" v="1040" actId="403"/>
          <ac:spMkLst>
            <pc:docMk/>
            <pc:sldMk cId="0" sldId="264"/>
            <ac:spMk id="9" creationId="{00000000-0000-0000-0000-000000000000}"/>
          </ac:spMkLst>
        </pc:spChg>
        <pc:spChg chg="mod">
          <ac:chgData name="Manvee Dandekar" userId="44c31a4991dec95c" providerId="LiveId" clId="{37B2C541-C526-4210-B8E3-350D74B3E7C9}" dt="2026-08-08T10:38:33.434" v="1040" actId="403"/>
          <ac:spMkLst>
            <pc:docMk/>
            <pc:sldMk cId="0" sldId="264"/>
            <ac:spMk id="10" creationId="{00000000-0000-0000-0000-000000000000}"/>
          </ac:spMkLst>
        </pc:spChg>
        <pc:spChg chg="mod">
          <ac:chgData name="Manvee Dandekar" userId="44c31a4991dec95c" providerId="LiveId" clId="{37B2C541-C526-4210-B8E3-350D74B3E7C9}" dt="2026-08-08T10:38:33.434" v="1040" actId="403"/>
          <ac:spMkLst>
            <pc:docMk/>
            <pc:sldMk cId="0" sldId="264"/>
            <ac:spMk id="11" creationId="{00000000-0000-0000-0000-000000000000}"/>
          </ac:spMkLst>
        </pc:spChg>
        <pc:spChg chg="mod">
          <ac:chgData name="Manvee Dandekar" userId="44c31a4991dec95c" providerId="LiveId" clId="{37B2C541-C526-4210-B8E3-350D74B3E7C9}" dt="2026-08-08T10:38:33.434" v="1040" actId="403"/>
          <ac:spMkLst>
            <pc:docMk/>
            <pc:sldMk cId="0" sldId="264"/>
            <ac:spMk id="12" creationId="{00000000-0000-0000-0000-000000000000}"/>
          </ac:spMkLst>
        </pc:spChg>
        <pc:spChg chg="mod">
          <ac:chgData name="Manvee Dandekar" userId="44c31a4991dec95c" providerId="LiveId" clId="{37B2C541-C526-4210-B8E3-350D74B3E7C9}" dt="2026-08-08T10:38:33.434" v="1040" actId="403"/>
          <ac:spMkLst>
            <pc:docMk/>
            <pc:sldMk cId="0" sldId="264"/>
            <ac:spMk id="13" creationId="{00000000-0000-0000-0000-000000000000}"/>
          </ac:spMkLst>
        </pc:spChg>
        <pc:spChg chg="mod">
          <ac:chgData name="Manvee Dandekar" userId="44c31a4991dec95c" providerId="LiveId" clId="{37B2C541-C526-4210-B8E3-350D74B3E7C9}" dt="2026-08-08T10:38:33.434" v="1040" actId="403"/>
          <ac:spMkLst>
            <pc:docMk/>
            <pc:sldMk cId="0" sldId="264"/>
            <ac:spMk id="15" creationId="{00000000-0000-0000-0000-000000000000}"/>
          </ac:spMkLst>
        </pc:spChg>
        <pc:spChg chg="mod">
          <ac:chgData name="Manvee Dandekar" userId="44c31a4991dec95c" providerId="LiveId" clId="{37B2C541-C526-4210-B8E3-350D74B3E7C9}" dt="2026-08-08T10:38:33.434" v="1040" actId="403"/>
          <ac:spMkLst>
            <pc:docMk/>
            <pc:sldMk cId="0" sldId="264"/>
            <ac:spMk id="16" creationId="{00000000-0000-0000-0000-000000000000}"/>
          </ac:spMkLst>
        </pc:spChg>
        <pc:spChg chg="mod">
          <ac:chgData name="Manvee Dandekar" userId="44c31a4991dec95c" providerId="LiveId" clId="{37B2C541-C526-4210-B8E3-350D74B3E7C9}" dt="2026-08-08T10:38:33.434" v="1040" actId="403"/>
          <ac:spMkLst>
            <pc:docMk/>
            <pc:sldMk cId="0" sldId="264"/>
            <ac:spMk id="17" creationId="{00000000-0000-0000-0000-000000000000}"/>
          </ac:spMkLst>
        </pc:spChg>
        <pc:spChg chg="mod">
          <ac:chgData name="Manvee Dandekar" userId="44c31a4991dec95c" providerId="LiveId" clId="{37B2C541-C526-4210-B8E3-350D74B3E7C9}" dt="2026-08-08T10:38:33.434" v="1040" actId="403"/>
          <ac:spMkLst>
            <pc:docMk/>
            <pc:sldMk cId="0" sldId="264"/>
            <ac:spMk id="18" creationId="{00000000-0000-0000-0000-000000000000}"/>
          </ac:spMkLst>
        </pc:spChg>
      </pc:sldChg>
      <pc:sldChg chg="modSp mod modNotesTx">
        <pc:chgData name="Manvee Dandekar" userId="44c31a4991dec95c" providerId="LiveId" clId="{37B2C541-C526-4210-B8E3-350D74B3E7C9}" dt="2026-08-12T01:19:50.090" v="1297" actId="20577"/>
        <pc:sldMkLst>
          <pc:docMk/>
          <pc:sldMk cId="0" sldId="265"/>
        </pc:sldMkLst>
        <pc:spChg chg="mod">
          <ac:chgData name="Manvee Dandekar" userId="44c31a4991dec95c" providerId="LiveId" clId="{37B2C541-C526-4210-B8E3-350D74B3E7C9}" dt="2026-08-08T08:09:02.609" v="10"/>
          <ac:spMkLst>
            <pc:docMk/>
            <pc:sldMk cId="0" sldId="265"/>
            <ac:spMk id="6" creationId="{00000000-0000-0000-0000-000000000000}"/>
          </ac:spMkLst>
        </pc:spChg>
        <pc:spChg chg="mod">
          <ac:chgData name="Manvee Dandekar" userId="44c31a4991dec95c" providerId="LiveId" clId="{37B2C541-C526-4210-B8E3-350D74B3E7C9}" dt="2026-08-08T10:38:51.254" v="1042" actId="403"/>
          <ac:spMkLst>
            <pc:docMk/>
            <pc:sldMk cId="0" sldId="265"/>
            <ac:spMk id="12" creationId="{00000000-0000-0000-0000-000000000000}"/>
          </ac:spMkLst>
        </pc:spChg>
        <pc:spChg chg="mod">
          <ac:chgData name="Manvee Dandekar" userId="44c31a4991dec95c" providerId="LiveId" clId="{37B2C541-C526-4210-B8E3-350D74B3E7C9}" dt="2026-08-08T10:38:51.254" v="1042" actId="403"/>
          <ac:spMkLst>
            <pc:docMk/>
            <pc:sldMk cId="0" sldId="265"/>
            <ac:spMk id="23" creationId="{00000000-0000-0000-0000-000000000000}"/>
          </ac:spMkLst>
        </pc:spChg>
        <pc:spChg chg="mod">
          <ac:chgData name="Manvee Dandekar" userId="44c31a4991dec95c" providerId="LiveId" clId="{37B2C541-C526-4210-B8E3-350D74B3E7C9}" dt="2026-08-08T10:38:51.254" v="1042" actId="403"/>
          <ac:spMkLst>
            <pc:docMk/>
            <pc:sldMk cId="0" sldId="265"/>
            <ac:spMk id="28" creationId="{00000000-0000-0000-0000-000000000000}"/>
          </ac:spMkLst>
        </pc:spChg>
        <pc:spChg chg="mod">
          <ac:chgData name="Manvee Dandekar" userId="44c31a4991dec95c" providerId="LiveId" clId="{37B2C541-C526-4210-B8E3-350D74B3E7C9}" dt="2026-08-08T10:38:51.254" v="1042" actId="403"/>
          <ac:spMkLst>
            <pc:docMk/>
            <pc:sldMk cId="0" sldId="265"/>
            <ac:spMk id="32" creationId="{00000000-0000-0000-0000-000000000000}"/>
          </ac:spMkLst>
        </pc:spChg>
        <pc:spChg chg="mod">
          <ac:chgData name="Manvee Dandekar" userId="44c31a4991dec95c" providerId="LiveId" clId="{37B2C541-C526-4210-B8E3-350D74B3E7C9}" dt="2026-08-08T10:38:51.254" v="1042" actId="403"/>
          <ac:spMkLst>
            <pc:docMk/>
            <pc:sldMk cId="0" sldId="265"/>
            <ac:spMk id="39" creationId="{00000000-0000-0000-0000-000000000000}"/>
          </ac:spMkLst>
        </pc:spChg>
        <pc:spChg chg="mod">
          <ac:chgData name="Manvee Dandekar" userId="44c31a4991dec95c" providerId="LiveId" clId="{37B2C541-C526-4210-B8E3-350D74B3E7C9}" dt="2026-08-08T10:38:51.254" v="1042" actId="403"/>
          <ac:spMkLst>
            <pc:docMk/>
            <pc:sldMk cId="0" sldId="265"/>
            <ac:spMk id="45" creationId="{00000000-0000-0000-0000-000000000000}"/>
          </ac:spMkLst>
        </pc:spChg>
        <pc:spChg chg="mod">
          <ac:chgData name="Manvee Dandekar" userId="44c31a4991dec95c" providerId="LiveId" clId="{37B2C541-C526-4210-B8E3-350D74B3E7C9}" dt="2026-08-08T10:38:51.254" v="1042" actId="403"/>
          <ac:spMkLst>
            <pc:docMk/>
            <pc:sldMk cId="0" sldId="265"/>
            <ac:spMk id="68" creationId="{00000000-0000-0000-0000-000000000000}"/>
          </ac:spMkLst>
        </pc:spChg>
        <pc:spChg chg="mod">
          <ac:chgData name="Manvee Dandekar" userId="44c31a4991dec95c" providerId="LiveId" clId="{37B2C541-C526-4210-B8E3-350D74B3E7C9}" dt="2026-08-08T10:38:51.254" v="1042" actId="403"/>
          <ac:spMkLst>
            <pc:docMk/>
            <pc:sldMk cId="0" sldId="265"/>
            <ac:spMk id="69" creationId="{00000000-0000-0000-0000-000000000000}"/>
          </ac:spMkLst>
        </pc:spChg>
        <pc:spChg chg="mod">
          <ac:chgData name="Manvee Dandekar" userId="44c31a4991dec95c" providerId="LiveId" clId="{37B2C541-C526-4210-B8E3-350D74B3E7C9}" dt="2026-08-08T10:38:51.254" v="1042" actId="403"/>
          <ac:spMkLst>
            <pc:docMk/>
            <pc:sldMk cId="0" sldId="265"/>
            <ac:spMk id="71" creationId="{00000000-0000-0000-0000-000000000000}"/>
          </ac:spMkLst>
        </pc:spChg>
        <pc:spChg chg="mod">
          <ac:chgData name="Manvee Dandekar" userId="44c31a4991dec95c" providerId="LiveId" clId="{37B2C541-C526-4210-B8E3-350D74B3E7C9}" dt="2026-08-08T10:38:51.254" v="1042" actId="403"/>
          <ac:spMkLst>
            <pc:docMk/>
            <pc:sldMk cId="0" sldId="265"/>
            <ac:spMk id="75" creationId="{00000000-0000-0000-0000-000000000000}"/>
          </ac:spMkLst>
        </pc:spChg>
      </pc:sldChg>
      <pc:sldChg chg="addSp delSp modSp add del mod modNotesTx">
        <pc:chgData name="Manvee Dandekar" userId="44c31a4991dec95c" providerId="LiveId" clId="{37B2C541-C526-4210-B8E3-350D74B3E7C9}" dt="2026-08-12T01:19:56.412" v="1298" actId="20577"/>
        <pc:sldMkLst>
          <pc:docMk/>
          <pc:sldMk cId="0" sldId="266"/>
        </pc:sldMkLst>
        <pc:spChg chg="mod">
          <ac:chgData name="Manvee Dandekar" userId="44c31a4991dec95c" providerId="LiveId" clId="{37B2C541-C526-4210-B8E3-350D74B3E7C9}" dt="2026-08-08T11:38:51.474" v="1244" actId="20577"/>
          <ac:spMkLst>
            <pc:docMk/>
            <pc:sldMk cId="0" sldId="266"/>
            <ac:spMk id="4" creationId="{00000000-0000-0000-0000-000000000000}"/>
          </ac:spMkLst>
        </pc:spChg>
        <pc:spChg chg="add">
          <ac:chgData name="Manvee Dandekar" userId="44c31a4991dec95c" providerId="LiveId" clId="{37B2C541-C526-4210-B8E3-350D74B3E7C9}" dt="2026-08-08T11:39:27.314" v="1248" actId="22"/>
          <ac:spMkLst>
            <pc:docMk/>
            <pc:sldMk cId="0" sldId="266"/>
            <ac:spMk id="113" creationId="{F4E3A70B-8D24-139C-1A49-9D0CCDBAFE8C}"/>
          </ac:spMkLst>
        </pc:spChg>
        <pc:spChg chg="add">
          <ac:chgData name="Manvee Dandekar" userId="44c31a4991dec95c" providerId="LiveId" clId="{37B2C541-C526-4210-B8E3-350D74B3E7C9}" dt="2026-08-08T11:39:27.314" v="1248" actId="22"/>
          <ac:spMkLst>
            <pc:docMk/>
            <pc:sldMk cId="0" sldId="266"/>
            <ac:spMk id="129" creationId="{43933ECD-B7AE-5DD6-2A34-AC38A3C282AA}"/>
          </ac:spMkLst>
        </pc:spChg>
        <pc:spChg chg="add">
          <ac:chgData name="Manvee Dandekar" userId="44c31a4991dec95c" providerId="LiveId" clId="{37B2C541-C526-4210-B8E3-350D74B3E7C9}" dt="2026-08-08T11:39:27.314" v="1248" actId="22"/>
          <ac:spMkLst>
            <pc:docMk/>
            <pc:sldMk cId="0" sldId="266"/>
            <ac:spMk id="133" creationId="{74BA2B9E-1E93-056A-91D7-4E2511C7AEEE}"/>
          </ac:spMkLst>
        </pc:spChg>
        <pc:spChg chg="add">
          <ac:chgData name="Manvee Dandekar" userId="44c31a4991dec95c" providerId="LiveId" clId="{37B2C541-C526-4210-B8E3-350D74B3E7C9}" dt="2026-08-08T11:39:27.314" v="1248" actId="22"/>
          <ac:spMkLst>
            <pc:docMk/>
            <pc:sldMk cId="0" sldId="266"/>
            <ac:spMk id="151" creationId="{2105EBBC-6349-5302-CF21-21956B46761F}"/>
          </ac:spMkLst>
        </pc:spChg>
        <pc:spChg chg="add">
          <ac:chgData name="Manvee Dandekar" userId="44c31a4991dec95c" providerId="LiveId" clId="{37B2C541-C526-4210-B8E3-350D74B3E7C9}" dt="2026-08-08T11:39:27.314" v="1248" actId="22"/>
          <ac:spMkLst>
            <pc:docMk/>
            <pc:sldMk cId="0" sldId="266"/>
            <ac:spMk id="173" creationId="{871115C1-704D-D5CD-E1A3-AA1F3666DD26}"/>
          </ac:spMkLst>
        </pc:spChg>
        <pc:spChg chg="add">
          <ac:chgData name="Manvee Dandekar" userId="44c31a4991dec95c" providerId="LiveId" clId="{37B2C541-C526-4210-B8E3-350D74B3E7C9}" dt="2026-08-08T11:39:27.314" v="1248" actId="22"/>
          <ac:spMkLst>
            <pc:docMk/>
            <pc:sldMk cId="0" sldId="266"/>
            <ac:spMk id="177" creationId="{2D859BD2-900C-3FF9-1A26-689342BA189A}"/>
          </ac:spMkLst>
        </pc:spChg>
        <pc:spChg chg="add">
          <ac:chgData name="Manvee Dandekar" userId="44c31a4991dec95c" providerId="LiveId" clId="{37B2C541-C526-4210-B8E3-350D74B3E7C9}" dt="2026-08-08T11:39:27.314" v="1248" actId="22"/>
          <ac:spMkLst>
            <pc:docMk/>
            <pc:sldMk cId="0" sldId="266"/>
            <ac:spMk id="243" creationId="{67B66C52-FDA5-34B6-1C6F-F96097182D2E}"/>
          </ac:spMkLst>
        </pc:spChg>
        <pc:spChg chg="add">
          <ac:chgData name="Manvee Dandekar" userId="44c31a4991dec95c" providerId="LiveId" clId="{37B2C541-C526-4210-B8E3-350D74B3E7C9}" dt="2026-08-08T11:39:27.314" v="1248" actId="22"/>
          <ac:spMkLst>
            <pc:docMk/>
            <pc:sldMk cId="0" sldId="266"/>
            <ac:spMk id="255" creationId="{7B96C6E8-1D85-77C4-5D24-D438124C1154}"/>
          </ac:spMkLst>
        </pc:spChg>
        <pc:spChg chg="add">
          <ac:chgData name="Manvee Dandekar" userId="44c31a4991dec95c" providerId="LiveId" clId="{37B2C541-C526-4210-B8E3-350D74B3E7C9}" dt="2026-08-08T11:39:27.314" v="1248" actId="22"/>
          <ac:spMkLst>
            <pc:docMk/>
            <pc:sldMk cId="0" sldId="266"/>
            <ac:spMk id="257" creationId="{7FF038C5-01D4-E0C6-B66C-6DF253269529}"/>
          </ac:spMkLst>
        </pc:spChg>
        <pc:spChg chg="add">
          <ac:chgData name="Manvee Dandekar" userId="44c31a4991dec95c" providerId="LiveId" clId="{37B2C541-C526-4210-B8E3-350D74B3E7C9}" dt="2026-08-08T11:39:27.314" v="1248" actId="22"/>
          <ac:spMkLst>
            <pc:docMk/>
            <pc:sldMk cId="0" sldId="266"/>
            <ac:spMk id="261" creationId="{2BB8F599-0463-3AFD-22B6-842F3FEF669B}"/>
          </ac:spMkLst>
        </pc:spChg>
      </pc:sldChg>
      <pc:sldChg chg="addSp delSp modSp mod modNotesTx">
        <pc:chgData name="Manvee Dandekar" userId="44c31a4991dec95c" providerId="LiveId" clId="{37B2C541-C526-4210-B8E3-350D74B3E7C9}" dt="2026-08-12T01:20:29.162" v="1303" actId="20577"/>
        <pc:sldMkLst>
          <pc:docMk/>
          <pc:sldMk cId="0" sldId="267"/>
        </pc:sldMkLst>
        <pc:spChg chg="mod">
          <ac:chgData name="Manvee Dandekar" userId="44c31a4991dec95c" providerId="LiveId" clId="{37B2C541-C526-4210-B8E3-350D74B3E7C9}" dt="2026-08-08T08:09:02.609" v="10"/>
          <ac:spMkLst>
            <pc:docMk/>
            <pc:sldMk cId="0" sldId="267"/>
            <ac:spMk id="6" creationId="{00000000-0000-0000-0000-000000000000}"/>
          </ac:spMkLst>
        </pc:spChg>
        <pc:spChg chg="mod">
          <ac:chgData name="Manvee Dandekar" userId="44c31a4991dec95c" providerId="LiveId" clId="{37B2C541-C526-4210-B8E3-350D74B3E7C9}" dt="2026-08-08T10:40:03.707" v="1048" actId="403"/>
          <ac:spMkLst>
            <pc:docMk/>
            <pc:sldMk cId="0" sldId="267"/>
            <ac:spMk id="8" creationId="{00000000-0000-0000-0000-000000000000}"/>
          </ac:spMkLst>
        </pc:spChg>
        <pc:spChg chg="mod">
          <ac:chgData name="Manvee Dandekar" userId="44c31a4991dec95c" providerId="LiveId" clId="{37B2C541-C526-4210-B8E3-350D74B3E7C9}" dt="2026-08-08T10:40:03.707" v="1048" actId="403"/>
          <ac:spMkLst>
            <pc:docMk/>
            <pc:sldMk cId="0" sldId="267"/>
            <ac:spMk id="9" creationId="{00000000-0000-0000-0000-000000000000}"/>
          </ac:spMkLst>
        </pc:spChg>
        <pc:spChg chg="mod">
          <ac:chgData name="Manvee Dandekar" userId="44c31a4991dec95c" providerId="LiveId" clId="{37B2C541-C526-4210-B8E3-350D74B3E7C9}" dt="2026-08-08T11:17:31.813" v="1224" actId="6549"/>
          <ac:spMkLst>
            <pc:docMk/>
            <pc:sldMk cId="0" sldId="267"/>
            <ac:spMk id="10" creationId="{00000000-0000-0000-0000-000000000000}"/>
          </ac:spMkLst>
        </pc:spChg>
        <pc:spChg chg="mod">
          <ac:chgData name="Manvee Dandekar" userId="44c31a4991dec95c" providerId="LiveId" clId="{37B2C541-C526-4210-B8E3-350D74B3E7C9}" dt="2026-08-08T10:40:03.707" v="1048" actId="403"/>
          <ac:spMkLst>
            <pc:docMk/>
            <pc:sldMk cId="0" sldId="267"/>
            <ac:spMk id="11" creationId="{00000000-0000-0000-0000-000000000000}"/>
          </ac:spMkLst>
        </pc:spChg>
        <pc:spChg chg="mod">
          <ac:chgData name="Manvee Dandekar" userId="44c31a4991dec95c" providerId="LiveId" clId="{37B2C541-C526-4210-B8E3-350D74B3E7C9}" dt="2026-08-08T10:40:03.707" v="1048" actId="403"/>
          <ac:spMkLst>
            <pc:docMk/>
            <pc:sldMk cId="0" sldId="267"/>
            <ac:spMk id="12" creationId="{00000000-0000-0000-0000-000000000000}"/>
          </ac:spMkLst>
        </pc:spChg>
        <pc:spChg chg="mod">
          <ac:chgData name="Manvee Dandekar" userId="44c31a4991dec95c" providerId="LiveId" clId="{37B2C541-C526-4210-B8E3-350D74B3E7C9}" dt="2026-08-08T10:40:03.707" v="1048" actId="403"/>
          <ac:spMkLst>
            <pc:docMk/>
            <pc:sldMk cId="0" sldId="267"/>
            <ac:spMk id="13" creationId="{00000000-0000-0000-0000-000000000000}"/>
          </ac:spMkLst>
        </pc:spChg>
        <pc:graphicFrameChg chg="add mod">
          <ac:chgData name="Manvee Dandekar" userId="44c31a4991dec95c" providerId="LiveId" clId="{37B2C541-C526-4210-B8E3-350D74B3E7C9}" dt="2026-08-08T10:40:03.707" v="1048" actId="403"/>
          <ac:graphicFrameMkLst>
            <pc:docMk/>
            <pc:sldMk cId="0" sldId="267"/>
            <ac:graphicFrameMk id="15" creationId="{46DB2DD3-6A9B-E08A-25B8-051EB2E82527}"/>
          </ac:graphicFrameMkLst>
        </pc:graphicFrameChg>
      </pc:sldChg>
      <pc:sldChg chg="addSp delSp modSp mod modNotesTx">
        <pc:chgData name="Manvee Dandekar" userId="44c31a4991dec95c" providerId="LiveId" clId="{37B2C541-C526-4210-B8E3-350D74B3E7C9}" dt="2026-08-12T01:20:33.046" v="1304" actId="20577"/>
        <pc:sldMkLst>
          <pc:docMk/>
          <pc:sldMk cId="0" sldId="268"/>
        </pc:sldMkLst>
        <pc:spChg chg="mod">
          <ac:chgData name="Manvee Dandekar" userId="44c31a4991dec95c" providerId="LiveId" clId="{37B2C541-C526-4210-B8E3-350D74B3E7C9}" dt="2026-08-08T08:50:53.560" v="293"/>
          <ac:spMkLst>
            <pc:docMk/>
            <pc:sldMk cId="0" sldId="268"/>
            <ac:spMk id="4" creationId="{00000000-0000-0000-0000-000000000000}"/>
          </ac:spMkLst>
        </pc:spChg>
        <pc:spChg chg="mod">
          <ac:chgData name="Manvee Dandekar" userId="44c31a4991dec95c" providerId="LiveId" clId="{37B2C541-C526-4210-B8E3-350D74B3E7C9}" dt="2026-08-08T08:51:28.484" v="296"/>
          <ac:spMkLst>
            <pc:docMk/>
            <pc:sldMk cId="0" sldId="268"/>
            <ac:spMk id="5" creationId="{00000000-0000-0000-0000-000000000000}"/>
          </ac:spMkLst>
        </pc:spChg>
        <pc:spChg chg="mod">
          <ac:chgData name="Manvee Dandekar" userId="44c31a4991dec95c" providerId="LiveId" clId="{37B2C541-C526-4210-B8E3-350D74B3E7C9}" dt="2026-08-08T08:09:02.609" v="10"/>
          <ac:spMkLst>
            <pc:docMk/>
            <pc:sldMk cId="0" sldId="268"/>
            <ac:spMk id="6" creationId="{00000000-0000-0000-0000-000000000000}"/>
          </ac:spMkLst>
        </pc:spChg>
        <pc:spChg chg="add mod">
          <ac:chgData name="Manvee Dandekar" userId="44c31a4991dec95c" providerId="LiveId" clId="{37B2C541-C526-4210-B8E3-350D74B3E7C9}" dt="2026-08-08T10:40:17.652" v="1051" actId="403"/>
          <ac:spMkLst>
            <pc:docMk/>
            <pc:sldMk cId="0" sldId="268"/>
            <ac:spMk id="27" creationId="{EDE46FD5-EB53-F468-E910-57341DB9E3E5}"/>
          </ac:spMkLst>
        </pc:spChg>
        <pc:spChg chg="add mod">
          <ac:chgData name="Manvee Dandekar" userId="44c31a4991dec95c" providerId="LiveId" clId="{37B2C541-C526-4210-B8E3-350D74B3E7C9}" dt="2026-08-08T10:40:17.652" v="1051" actId="403"/>
          <ac:spMkLst>
            <pc:docMk/>
            <pc:sldMk cId="0" sldId="268"/>
            <ac:spMk id="29" creationId="{8A3077EC-7F56-8E82-A137-9435E486D393}"/>
          </ac:spMkLst>
        </pc:spChg>
        <pc:spChg chg="add mod">
          <ac:chgData name="Manvee Dandekar" userId="44c31a4991dec95c" providerId="LiveId" clId="{37B2C541-C526-4210-B8E3-350D74B3E7C9}" dt="2026-08-08T10:40:17.652" v="1051" actId="403"/>
          <ac:spMkLst>
            <pc:docMk/>
            <pc:sldMk cId="0" sldId="268"/>
            <ac:spMk id="31" creationId="{1B98C648-40D6-6745-FE65-1C3B0CA0CC02}"/>
          </ac:spMkLst>
        </pc:spChg>
        <pc:spChg chg="add mod">
          <ac:chgData name="Manvee Dandekar" userId="44c31a4991dec95c" providerId="LiveId" clId="{37B2C541-C526-4210-B8E3-350D74B3E7C9}" dt="2026-08-08T10:40:17.652" v="1051" actId="403"/>
          <ac:spMkLst>
            <pc:docMk/>
            <pc:sldMk cId="0" sldId="268"/>
            <ac:spMk id="33" creationId="{22276EC8-E32B-37B4-8C5E-CCF78EC1EF67}"/>
          </ac:spMkLst>
        </pc:spChg>
        <pc:graphicFrameChg chg="add mod">
          <ac:chgData name="Manvee Dandekar" userId="44c31a4991dec95c" providerId="LiveId" clId="{37B2C541-C526-4210-B8E3-350D74B3E7C9}" dt="2026-08-08T10:40:17.652" v="1051" actId="403"/>
          <ac:graphicFrameMkLst>
            <pc:docMk/>
            <pc:sldMk cId="0" sldId="268"/>
            <ac:graphicFrameMk id="25" creationId="{32F913B0-B926-2DBF-0122-E6D687E40564}"/>
          </ac:graphicFrameMkLst>
        </pc:graphicFrameChg>
      </pc:sldChg>
      <pc:sldChg chg="delSp modSp mod modNotesTx">
        <pc:chgData name="Manvee Dandekar" userId="44c31a4991dec95c" providerId="LiveId" clId="{37B2C541-C526-4210-B8E3-350D74B3E7C9}" dt="2026-08-12T01:20:46.537" v="1306" actId="20577"/>
        <pc:sldMkLst>
          <pc:docMk/>
          <pc:sldMk cId="0" sldId="269"/>
        </pc:sldMkLst>
        <pc:spChg chg="mod">
          <ac:chgData name="Manvee Dandekar" userId="44c31a4991dec95c" providerId="LiveId" clId="{37B2C541-C526-4210-B8E3-350D74B3E7C9}" dt="2026-08-08T08:13:09.839" v="35" actId="14100"/>
          <ac:spMkLst>
            <pc:docMk/>
            <pc:sldMk cId="0" sldId="269"/>
            <ac:spMk id="12" creationId="{00000000-0000-0000-0000-000000000000}"/>
          </ac:spMkLst>
        </pc:spChg>
        <pc:spChg chg="mod">
          <ac:chgData name="Manvee Dandekar" userId="44c31a4991dec95c" providerId="LiveId" clId="{37B2C541-C526-4210-B8E3-350D74B3E7C9}" dt="2026-08-08T08:13:16.038" v="36" actId="14100"/>
          <ac:spMkLst>
            <pc:docMk/>
            <pc:sldMk cId="0" sldId="269"/>
            <ac:spMk id="13" creationId="{00000000-0000-0000-0000-000000000000}"/>
          </ac:spMkLst>
        </pc:spChg>
      </pc:sldChg>
      <pc:sldChg chg="modSp mod ord modNotesTx">
        <pc:chgData name="Manvee Dandekar" userId="44c31a4991dec95c" providerId="LiveId" clId="{37B2C541-C526-4210-B8E3-350D74B3E7C9}" dt="2026-08-12T01:20:51.382" v="1307" actId="20577"/>
        <pc:sldMkLst>
          <pc:docMk/>
          <pc:sldMk cId="0" sldId="270"/>
        </pc:sldMkLst>
        <pc:spChg chg="mod">
          <ac:chgData name="Manvee Dandekar" userId="44c31a4991dec95c" providerId="LiveId" clId="{37B2C541-C526-4210-B8E3-350D74B3E7C9}" dt="2026-08-08T08:09:02.609" v="10"/>
          <ac:spMkLst>
            <pc:docMk/>
            <pc:sldMk cId="0" sldId="270"/>
            <ac:spMk id="6" creationId="{00000000-0000-0000-0000-000000000000}"/>
          </ac:spMkLst>
        </pc:spChg>
        <pc:spChg chg="mod">
          <ac:chgData name="Manvee Dandekar" userId="44c31a4991dec95c" providerId="LiveId" clId="{37B2C541-C526-4210-B8E3-350D74B3E7C9}" dt="2026-08-08T10:40:45.639" v="1055" actId="403"/>
          <ac:spMkLst>
            <pc:docMk/>
            <pc:sldMk cId="0" sldId="270"/>
            <ac:spMk id="7" creationId="{00000000-0000-0000-0000-000000000000}"/>
          </ac:spMkLst>
        </pc:spChg>
        <pc:spChg chg="mod">
          <ac:chgData name="Manvee Dandekar" userId="44c31a4991dec95c" providerId="LiveId" clId="{37B2C541-C526-4210-B8E3-350D74B3E7C9}" dt="2026-08-08T10:40:45.639" v="1055" actId="403"/>
          <ac:spMkLst>
            <pc:docMk/>
            <pc:sldMk cId="0" sldId="270"/>
            <ac:spMk id="12" creationId="{00000000-0000-0000-0000-000000000000}"/>
          </ac:spMkLst>
        </pc:spChg>
        <pc:spChg chg="mod">
          <ac:chgData name="Manvee Dandekar" userId="44c31a4991dec95c" providerId="LiveId" clId="{37B2C541-C526-4210-B8E3-350D74B3E7C9}" dt="2026-08-08T10:40:45.639" v="1055" actId="403"/>
          <ac:spMkLst>
            <pc:docMk/>
            <pc:sldMk cId="0" sldId="270"/>
            <ac:spMk id="15" creationId="{00000000-0000-0000-0000-000000000000}"/>
          </ac:spMkLst>
        </pc:spChg>
        <pc:spChg chg="mod">
          <ac:chgData name="Manvee Dandekar" userId="44c31a4991dec95c" providerId="LiveId" clId="{37B2C541-C526-4210-B8E3-350D74B3E7C9}" dt="2026-08-08T10:40:45.639" v="1055" actId="403"/>
          <ac:spMkLst>
            <pc:docMk/>
            <pc:sldMk cId="0" sldId="270"/>
            <ac:spMk id="16" creationId="{00000000-0000-0000-0000-000000000000}"/>
          </ac:spMkLst>
        </pc:spChg>
        <pc:spChg chg="mod">
          <ac:chgData name="Manvee Dandekar" userId="44c31a4991dec95c" providerId="LiveId" clId="{37B2C541-C526-4210-B8E3-350D74B3E7C9}" dt="2026-08-08T10:40:45.639" v="1055" actId="403"/>
          <ac:spMkLst>
            <pc:docMk/>
            <pc:sldMk cId="0" sldId="270"/>
            <ac:spMk id="17" creationId="{00000000-0000-0000-0000-000000000000}"/>
          </ac:spMkLst>
        </pc:spChg>
        <pc:spChg chg="mod">
          <ac:chgData name="Manvee Dandekar" userId="44c31a4991dec95c" providerId="LiveId" clId="{37B2C541-C526-4210-B8E3-350D74B3E7C9}" dt="2026-08-08T10:40:45.639" v="1055" actId="403"/>
          <ac:spMkLst>
            <pc:docMk/>
            <pc:sldMk cId="0" sldId="270"/>
            <ac:spMk id="19" creationId="{00000000-0000-0000-0000-000000000000}"/>
          </ac:spMkLst>
        </pc:spChg>
        <pc:spChg chg="mod">
          <ac:chgData name="Manvee Dandekar" userId="44c31a4991dec95c" providerId="LiveId" clId="{37B2C541-C526-4210-B8E3-350D74B3E7C9}" dt="2026-08-08T10:40:45.639" v="1055" actId="403"/>
          <ac:spMkLst>
            <pc:docMk/>
            <pc:sldMk cId="0" sldId="270"/>
            <ac:spMk id="20" creationId="{00000000-0000-0000-0000-000000000000}"/>
          </ac:spMkLst>
        </pc:spChg>
        <pc:spChg chg="mod">
          <ac:chgData name="Manvee Dandekar" userId="44c31a4991dec95c" providerId="LiveId" clId="{37B2C541-C526-4210-B8E3-350D74B3E7C9}" dt="2026-08-08T10:40:45.639" v="1055" actId="403"/>
          <ac:spMkLst>
            <pc:docMk/>
            <pc:sldMk cId="0" sldId="270"/>
            <ac:spMk id="25" creationId="{00000000-0000-0000-0000-000000000000}"/>
          </ac:spMkLst>
        </pc:spChg>
        <pc:spChg chg="mod">
          <ac:chgData name="Manvee Dandekar" userId="44c31a4991dec95c" providerId="LiveId" clId="{37B2C541-C526-4210-B8E3-350D74B3E7C9}" dt="2026-08-08T10:40:45.639" v="1055" actId="403"/>
          <ac:spMkLst>
            <pc:docMk/>
            <pc:sldMk cId="0" sldId="270"/>
            <ac:spMk id="27" creationId="{00000000-0000-0000-0000-000000000000}"/>
          </ac:spMkLst>
        </pc:spChg>
        <pc:spChg chg="mod">
          <ac:chgData name="Manvee Dandekar" userId="44c31a4991dec95c" providerId="LiveId" clId="{37B2C541-C526-4210-B8E3-350D74B3E7C9}" dt="2026-08-08T10:40:45.639" v="1055" actId="403"/>
          <ac:spMkLst>
            <pc:docMk/>
            <pc:sldMk cId="0" sldId="270"/>
            <ac:spMk id="33" creationId="{00000000-0000-0000-0000-000000000000}"/>
          </ac:spMkLst>
        </pc:spChg>
        <pc:spChg chg="mod">
          <ac:chgData name="Manvee Dandekar" userId="44c31a4991dec95c" providerId="LiveId" clId="{37B2C541-C526-4210-B8E3-350D74B3E7C9}" dt="2026-08-08T09:07:01.531" v="339" actId="20577"/>
          <ac:spMkLst>
            <pc:docMk/>
            <pc:sldMk cId="0" sldId="270"/>
            <ac:spMk id="34" creationId="{00000000-0000-0000-0000-000000000000}"/>
          </ac:spMkLst>
        </pc:spChg>
        <pc:spChg chg="mod">
          <ac:chgData name="Manvee Dandekar" userId="44c31a4991dec95c" providerId="LiveId" clId="{37B2C541-C526-4210-B8E3-350D74B3E7C9}" dt="2026-08-08T09:03:16.390" v="324" actId="20577"/>
          <ac:spMkLst>
            <pc:docMk/>
            <pc:sldMk cId="0" sldId="270"/>
            <ac:spMk id="36" creationId="{00000000-0000-0000-0000-000000000000}"/>
          </ac:spMkLst>
        </pc:spChg>
      </pc:sldChg>
      <pc:sldChg chg="modSp mod modNotesTx">
        <pc:chgData name="Manvee Dandekar" userId="44c31a4991dec95c" providerId="LiveId" clId="{37B2C541-C526-4210-B8E3-350D74B3E7C9}" dt="2026-08-12T01:21:08.177" v="1310" actId="20577"/>
        <pc:sldMkLst>
          <pc:docMk/>
          <pc:sldMk cId="0" sldId="273"/>
        </pc:sldMkLst>
        <pc:spChg chg="mod">
          <ac:chgData name="Manvee Dandekar" userId="44c31a4991dec95c" providerId="LiveId" clId="{37B2C541-C526-4210-B8E3-350D74B3E7C9}" dt="2026-08-08T08:09:02.609" v="10"/>
          <ac:spMkLst>
            <pc:docMk/>
            <pc:sldMk cId="0" sldId="273"/>
            <ac:spMk id="6" creationId="{00000000-0000-0000-0000-000000000000}"/>
          </ac:spMkLst>
        </pc:spChg>
        <pc:spChg chg="mod">
          <ac:chgData name="Manvee Dandekar" userId="44c31a4991dec95c" providerId="LiveId" clId="{37B2C541-C526-4210-B8E3-350D74B3E7C9}" dt="2026-08-08T10:40:59.958" v="1057" actId="403"/>
          <ac:spMkLst>
            <pc:docMk/>
            <pc:sldMk cId="0" sldId="273"/>
            <ac:spMk id="12" creationId="{00000000-0000-0000-0000-000000000000}"/>
          </ac:spMkLst>
        </pc:spChg>
        <pc:spChg chg="mod">
          <ac:chgData name="Manvee Dandekar" userId="44c31a4991dec95c" providerId="LiveId" clId="{37B2C541-C526-4210-B8E3-350D74B3E7C9}" dt="2026-08-08T10:40:59.958" v="1057" actId="403"/>
          <ac:spMkLst>
            <pc:docMk/>
            <pc:sldMk cId="0" sldId="273"/>
            <ac:spMk id="19" creationId="{00000000-0000-0000-0000-000000000000}"/>
          </ac:spMkLst>
        </pc:spChg>
        <pc:spChg chg="mod">
          <ac:chgData name="Manvee Dandekar" userId="44c31a4991dec95c" providerId="LiveId" clId="{37B2C541-C526-4210-B8E3-350D74B3E7C9}" dt="2026-08-08T10:40:59.958" v="1057" actId="403"/>
          <ac:spMkLst>
            <pc:docMk/>
            <pc:sldMk cId="0" sldId="273"/>
            <ac:spMk id="20" creationId="{00000000-0000-0000-0000-000000000000}"/>
          </ac:spMkLst>
        </pc:spChg>
        <pc:spChg chg="mod">
          <ac:chgData name="Manvee Dandekar" userId="44c31a4991dec95c" providerId="LiveId" clId="{37B2C541-C526-4210-B8E3-350D74B3E7C9}" dt="2026-08-08T10:40:59.958" v="1057" actId="403"/>
          <ac:spMkLst>
            <pc:docMk/>
            <pc:sldMk cId="0" sldId="273"/>
            <ac:spMk id="21" creationId="{00000000-0000-0000-0000-000000000000}"/>
          </ac:spMkLst>
        </pc:spChg>
        <pc:spChg chg="mod">
          <ac:chgData name="Manvee Dandekar" userId="44c31a4991dec95c" providerId="LiveId" clId="{37B2C541-C526-4210-B8E3-350D74B3E7C9}" dt="2026-08-08T10:40:59.958" v="1057" actId="403"/>
          <ac:spMkLst>
            <pc:docMk/>
            <pc:sldMk cId="0" sldId="273"/>
            <ac:spMk id="23" creationId="{00000000-0000-0000-0000-000000000000}"/>
          </ac:spMkLst>
        </pc:spChg>
        <pc:spChg chg="mod">
          <ac:chgData name="Manvee Dandekar" userId="44c31a4991dec95c" providerId="LiveId" clId="{37B2C541-C526-4210-B8E3-350D74B3E7C9}" dt="2026-08-08T10:40:59.958" v="1057" actId="403"/>
          <ac:spMkLst>
            <pc:docMk/>
            <pc:sldMk cId="0" sldId="273"/>
            <ac:spMk id="28" creationId="{00000000-0000-0000-0000-000000000000}"/>
          </ac:spMkLst>
        </pc:spChg>
        <pc:spChg chg="mod">
          <ac:chgData name="Manvee Dandekar" userId="44c31a4991dec95c" providerId="LiveId" clId="{37B2C541-C526-4210-B8E3-350D74B3E7C9}" dt="2026-08-08T10:40:59.958" v="1057" actId="403"/>
          <ac:spMkLst>
            <pc:docMk/>
            <pc:sldMk cId="0" sldId="273"/>
            <ac:spMk id="32" creationId="{00000000-0000-0000-0000-000000000000}"/>
          </ac:spMkLst>
        </pc:spChg>
        <pc:spChg chg="mod">
          <ac:chgData name="Manvee Dandekar" userId="44c31a4991dec95c" providerId="LiveId" clId="{37B2C541-C526-4210-B8E3-350D74B3E7C9}" dt="2026-08-08T10:40:59.958" v="1057" actId="403"/>
          <ac:spMkLst>
            <pc:docMk/>
            <pc:sldMk cId="0" sldId="273"/>
            <ac:spMk id="47" creationId="{00000000-0000-0000-0000-000000000000}"/>
          </ac:spMkLst>
        </pc:spChg>
        <pc:spChg chg="mod">
          <ac:chgData name="Manvee Dandekar" userId="44c31a4991dec95c" providerId="LiveId" clId="{37B2C541-C526-4210-B8E3-350D74B3E7C9}" dt="2026-08-08T10:40:59.958" v="1057" actId="403"/>
          <ac:spMkLst>
            <pc:docMk/>
            <pc:sldMk cId="0" sldId="273"/>
            <ac:spMk id="51" creationId="{00000000-0000-0000-0000-000000000000}"/>
          </ac:spMkLst>
        </pc:spChg>
        <pc:spChg chg="mod">
          <ac:chgData name="Manvee Dandekar" userId="44c31a4991dec95c" providerId="LiveId" clId="{37B2C541-C526-4210-B8E3-350D74B3E7C9}" dt="2026-08-08T10:40:59.958" v="1057" actId="403"/>
          <ac:spMkLst>
            <pc:docMk/>
            <pc:sldMk cId="0" sldId="273"/>
            <ac:spMk id="53" creationId="{00000000-0000-0000-0000-000000000000}"/>
          </ac:spMkLst>
        </pc:spChg>
      </pc:sldChg>
      <pc:sldChg chg="modSp mod modNotesTx">
        <pc:chgData name="Manvee Dandekar" userId="44c31a4991dec95c" providerId="LiveId" clId="{37B2C541-C526-4210-B8E3-350D74B3E7C9}" dt="2026-08-12T01:21:11.216" v="1311" actId="20577"/>
        <pc:sldMkLst>
          <pc:docMk/>
          <pc:sldMk cId="0" sldId="274"/>
        </pc:sldMkLst>
        <pc:spChg chg="mod">
          <ac:chgData name="Manvee Dandekar" userId="44c31a4991dec95c" providerId="LiveId" clId="{37B2C541-C526-4210-B8E3-350D74B3E7C9}" dt="2026-08-08T08:09:02.609" v="10"/>
          <ac:spMkLst>
            <pc:docMk/>
            <pc:sldMk cId="0" sldId="274"/>
            <ac:spMk id="6" creationId="{00000000-0000-0000-0000-000000000000}"/>
          </ac:spMkLst>
        </pc:spChg>
        <pc:spChg chg="mod">
          <ac:chgData name="Manvee Dandekar" userId="44c31a4991dec95c" providerId="LiveId" clId="{37B2C541-C526-4210-B8E3-350D74B3E7C9}" dt="2026-08-08T10:41:12.351" v="1060" actId="403"/>
          <ac:spMkLst>
            <pc:docMk/>
            <pc:sldMk cId="0" sldId="274"/>
            <ac:spMk id="12" creationId="{00000000-0000-0000-0000-000000000000}"/>
          </ac:spMkLst>
        </pc:spChg>
        <pc:spChg chg="mod">
          <ac:chgData name="Manvee Dandekar" userId="44c31a4991dec95c" providerId="LiveId" clId="{37B2C541-C526-4210-B8E3-350D74B3E7C9}" dt="2026-08-08T10:41:12.351" v="1060" actId="403"/>
          <ac:spMkLst>
            <pc:docMk/>
            <pc:sldMk cId="0" sldId="274"/>
            <ac:spMk id="13" creationId="{00000000-0000-0000-0000-000000000000}"/>
          </ac:spMkLst>
        </pc:spChg>
        <pc:spChg chg="mod">
          <ac:chgData name="Manvee Dandekar" userId="44c31a4991dec95c" providerId="LiveId" clId="{37B2C541-C526-4210-B8E3-350D74B3E7C9}" dt="2026-08-08T10:41:12.351" v="1060" actId="403"/>
          <ac:spMkLst>
            <pc:docMk/>
            <pc:sldMk cId="0" sldId="274"/>
            <ac:spMk id="19" creationId="{00000000-0000-0000-0000-000000000000}"/>
          </ac:spMkLst>
        </pc:spChg>
        <pc:spChg chg="mod">
          <ac:chgData name="Manvee Dandekar" userId="44c31a4991dec95c" providerId="LiveId" clId="{37B2C541-C526-4210-B8E3-350D74B3E7C9}" dt="2026-08-08T10:41:12.351" v="1060" actId="403"/>
          <ac:spMkLst>
            <pc:docMk/>
            <pc:sldMk cId="0" sldId="274"/>
            <ac:spMk id="26" creationId="{00000000-0000-0000-0000-000000000000}"/>
          </ac:spMkLst>
        </pc:spChg>
        <pc:spChg chg="mod">
          <ac:chgData name="Manvee Dandekar" userId="44c31a4991dec95c" providerId="LiveId" clId="{37B2C541-C526-4210-B8E3-350D74B3E7C9}" dt="2026-08-08T10:41:12.351" v="1060" actId="403"/>
          <ac:spMkLst>
            <pc:docMk/>
            <pc:sldMk cId="0" sldId="274"/>
            <ac:spMk id="47" creationId="{00000000-0000-0000-0000-000000000000}"/>
          </ac:spMkLst>
        </pc:spChg>
        <pc:spChg chg="mod">
          <ac:chgData name="Manvee Dandekar" userId="44c31a4991dec95c" providerId="LiveId" clId="{37B2C541-C526-4210-B8E3-350D74B3E7C9}" dt="2026-08-08T10:41:12.351" v="1060" actId="403"/>
          <ac:spMkLst>
            <pc:docMk/>
            <pc:sldMk cId="0" sldId="274"/>
            <ac:spMk id="48" creationId="{00000000-0000-0000-0000-000000000000}"/>
          </ac:spMkLst>
        </pc:spChg>
        <pc:spChg chg="mod">
          <ac:chgData name="Manvee Dandekar" userId="44c31a4991dec95c" providerId="LiveId" clId="{37B2C541-C526-4210-B8E3-350D74B3E7C9}" dt="2026-08-08T10:41:12.351" v="1060" actId="403"/>
          <ac:spMkLst>
            <pc:docMk/>
            <pc:sldMk cId="0" sldId="274"/>
            <ac:spMk id="49" creationId="{00000000-0000-0000-0000-000000000000}"/>
          </ac:spMkLst>
        </pc:spChg>
        <pc:spChg chg="mod">
          <ac:chgData name="Manvee Dandekar" userId="44c31a4991dec95c" providerId="LiveId" clId="{37B2C541-C526-4210-B8E3-350D74B3E7C9}" dt="2026-08-08T10:41:12.351" v="1060" actId="403"/>
          <ac:spMkLst>
            <pc:docMk/>
            <pc:sldMk cId="0" sldId="274"/>
            <ac:spMk id="52" creationId="{00000000-0000-0000-0000-000000000000}"/>
          </ac:spMkLst>
        </pc:spChg>
        <pc:spChg chg="mod">
          <ac:chgData name="Manvee Dandekar" userId="44c31a4991dec95c" providerId="LiveId" clId="{37B2C541-C526-4210-B8E3-350D74B3E7C9}" dt="2026-08-08T10:41:12.351" v="1060" actId="403"/>
          <ac:spMkLst>
            <pc:docMk/>
            <pc:sldMk cId="0" sldId="274"/>
            <ac:spMk id="53" creationId="{00000000-0000-0000-0000-000000000000}"/>
          </ac:spMkLst>
        </pc:spChg>
        <pc:spChg chg="mod">
          <ac:chgData name="Manvee Dandekar" userId="44c31a4991dec95c" providerId="LiveId" clId="{37B2C541-C526-4210-B8E3-350D74B3E7C9}" dt="2026-08-08T10:41:12.351" v="1060" actId="403"/>
          <ac:spMkLst>
            <pc:docMk/>
            <pc:sldMk cId="0" sldId="274"/>
            <ac:spMk id="58" creationId="{00000000-0000-0000-0000-000000000000}"/>
          </ac:spMkLst>
        </pc:spChg>
      </pc:sldChg>
      <pc:sldChg chg="modSp mod modNotesTx">
        <pc:chgData name="Manvee Dandekar" userId="44c31a4991dec95c" providerId="LiveId" clId="{37B2C541-C526-4210-B8E3-350D74B3E7C9}" dt="2026-08-12T01:21:14.252" v="1312" actId="20577"/>
        <pc:sldMkLst>
          <pc:docMk/>
          <pc:sldMk cId="0" sldId="275"/>
        </pc:sldMkLst>
        <pc:spChg chg="mod">
          <ac:chgData name="Manvee Dandekar" userId="44c31a4991dec95c" providerId="LiveId" clId="{37B2C541-C526-4210-B8E3-350D74B3E7C9}" dt="2026-08-08T08:09:02.609" v="10"/>
          <ac:spMkLst>
            <pc:docMk/>
            <pc:sldMk cId="0" sldId="275"/>
            <ac:spMk id="6" creationId="{00000000-0000-0000-0000-000000000000}"/>
          </ac:spMkLst>
        </pc:spChg>
        <pc:spChg chg="mod">
          <ac:chgData name="Manvee Dandekar" userId="44c31a4991dec95c" providerId="LiveId" clId="{37B2C541-C526-4210-B8E3-350D74B3E7C9}" dt="2026-08-08T10:41:23.007" v="1063" actId="403"/>
          <ac:spMkLst>
            <pc:docMk/>
            <pc:sldMk cId="0" sldId="275"/>
            <ac:spMk id="8" creationId="{00000000-0000-0000-0000-000000000000}"/>
          </ac:spMkLst>
        </pc:spChg>
        <pc:spChg chg="mod">
          <ac:chgData name="Manvee Dandekar" userId="44c31a4991dec95c" providerId="LiveId" clId="{37B2C541-C526-4210-B8E3-350D74B3E7C9}" dt="2026-08-08T10:41:23.007" v="1063" actId="403"/>
          <ac:spMkLst>
            <pc:docMk/>
            <pc:sldMk cId="0" sldId="275"/>
            <ac:spMk id="9" creationId="{00000000-0000-0000-0000-000000000000}"/>
          </ac:spMkLst>
        </pc:spChg>
        <pc:spChg chg="mod">
          <ac:chgData name="Manvee Dandekar" userId="44c31a4991dec95c" providerId="LiveId" clId="{37B2C541-C526-4210-B8E3-350D74B3E7C9}" dt="2026-08-08T10:41:23.007" v="1063" actId="403"/>
          <ac:spMkLst>
            <pc:docMk/>
            <pc:sldMk cId="0" sldId="275"/>
            <ac:spMk id="13" creationId="{00000000-0000-0000-0000-000000000000}"/>
          </ac:spMkLst>
        </pc:spChg>
        <pc:spChg chg="mod">
          <ac:chgData name="Manvee Dandekar" userId="44c31a4991dec95c" providerId="LiveId" clId="{37B2C541-C526-4210-B8E3-350D74B3E7C9}" dt="2026-08-08T10:41:23.007" v="1063" actId="403"/>
          <ac:spMkLst>
            <pc:docMk/>
            <pc:sldMk cId="0" sldId="275"/>
            <ac:spMk id="16" creationId="{00000000-0000-0000-0000-000000000000}"/>
          </ac:spMkLst>
        </pc:spChg>
        <pc:spChg chg="mod">
          <ac:chgData name="Manvee Dandekar" userId="44c31a4991dec95c" providerId="LiveId" clId="{37B2C541-C526-4210-B8E3-350D74B3E7C9}" dt="2026-08-08T10:41:23.007" v="1063" actId="403"/>
          <ac:spMkLst>
            <pc:docMk/>
            <pc:sldMk cId="0" sldId="275"/>
            <ac:spMk id="17" creationId="{00000000-0000-0000-0000-000000000000}"/>
          </ac:spMkLst>
        </pc:spChg>
        <pc:spChg chg="mod">
          <ac:chgData name="Manvee Dandekar" userId="44c31a4991dec95c" providerId="LiveId" clId="{37B2C541-C526-4210-B8E3-350D74B3E7C9}" dt="2026-08-08T10:41:23.007" v="1063" actId="403"/>
          <ac:spMkLst>
            <pc:docMk/>
            <pc:sldMk cId="0" sldId="275"/>
            <ac:spMk id="19" creationId="{00000000-0000-0000-0000-000000000000}"/>
          </ac:spMkLst>
        </pc:spChg>
        <pc:spChg chg="mod">
          <ac:chgData name="Manvee Dandekar" userId="44c31a4991dec95c" providerId="LiveId" clId="{37B2C541-C526-4210-B8E3-350D74B3E7C9}" dt="2026-08-08T10:41:23.007" v="1063" actId="403"/>
          <ac:spMkLst>
            <pc:docMk/>
            <pc:sldMk cId="0" sldId="275"/>
            <ac:spMk id="20" creationId="{00000000-0000-0000-0000-000000000000}"/>
          </ac:spMkLst>
        </pc:spChg>
        <pc:spChg chg="mod">
          <ac:chgData name="Manvee Dandekar" userId="44c31a4991dec95c" providerId="LiveId" clId="{37B2C541-C526-4210-B8E3-350D74B3E7C9}" dt="2026-08-08T10:41:23.007" v="1063" actId="403"/>
          <ac:spMkLst>
            <pc:docMk/>
            <pc:sldMk cId="0" sldId="275"/>
            <ac:spMk id="22" creationId="{00000000-0000-0000-0000-000000000000}"/>
          </ac:spMkLst>
        </pc:spChg>
        <pc:spChg chg="mod">
          <ac:chgData name="Manvee Dandekar" userId="44c31a4991dec95c" providerId="LiveId" clId="{37B2C541-C526-4210-B8E3-350D74B3E7C9}" dt="2026-08-08T10:41:23.007" v="1063" actId="403"/>
          <ac:spMkLst>
            <pc:docMk/>
            <pc:sldMk cId="0" sldId="275"/>
            <ac:spMk id="26" creationId="{00000000-0000-0000-0000-000000000000}"/>
          </ac:spMkLst>
        </pc:spChg>
        <pc:spChg chg="mod">
          <ac:chgData name="Manvee Dandekar" userId="44c31a4991dec95c" providerId="LiveId" clId="{37B2C541-C526-4210-B8E3-350D74B3E7C9}" dt="2026-08-08T10:41:23.007" v="1063" actId="403"/>
          <ac:spMkLst>
            <pc:docMk/>
            <pc:sldMk cId="0" sldId="275"/>
            <ac:spMk id="28" creationId="{00000000-0000-0000-0000-000000000000}"/>
          </ac:spMkLst>
        </pc:spChg>
      </pc:sldChg>
      <pc:sldChg chg="modSp mod modNotesTx">
        <pc:chgData name="Manvee Dandekar" userId="44c31a4991dec95c" providerId="LiveId" clId="{37B2C541-C526-4210-B8E3-350D74B3E7C9}" dt="2026-08-12T01:21:17.517" v="1313" actId="20577"/>
        <pc:sldMkLst>
          <pc:docMk/>
          <pc:sldMk cId="0" sldId="276"/>
        </pc:sldMkLst>
        <pc:spChg chg="mod">
          <ac:chgData name="Manvee Dandekar" userId="44c31a4991dec95c" providerId="LiveId" clId="{37B2C541-C526-4210-B8E3-350D74B3E7C9}" dt="2026-08-08T08:09:02.609" v="10"/>
          <ac:spMkLst>
            <pc:docMk/>
            <pc:sldMk cId="0" sldId="276"/>
            <ac:spMk id="6" creationId="{00000000-0000-0000-0000-000000000000}"/>
          </ac:spMkLst>
        </pc:spChg>
        <pc:spChg chg="mod">
          <ac:chgData name="Manvee Dandekar" userId="44c31a4991dec95c" providerId="LiveId" clId="{37B2C541-C526-4210-B8E3-350D74B3E7C9}" dt="2026-08-08T10:41:36.738" v="1065" actId="403"/>
          <ac:spMkLst>
            <pc:docMk/>
            <pc:sldMk cId="0" sldId="276"/>
            <ac:spMk id="7" creationId="{00000000-0000-0000-0000-000000000000}"/>
          </ac:spMkLst>
        </pc:spChg>
        <pc:spChg chg="mod">
          <ac:chgData name="Manvee Dandekar" userId="44c31a4991dec95c" providerId="LiveId" clId="{37B2C541-C526-4210-B8E3-350D74B3E7C9}" dt="2026-08-08T10:41:36.738" v="1065" actId="403"/>
          <ac:spMkLst>
            <pc:docMk/>
            <pc:sldMk cId="0" sldId="276"/>
            <ac:spMk id="11" creationId="{00000000-0000-0000-0000-000000000000}"/>
          </ac:spMkLst>
        </pc:spChg>
        <pc:spChg chg="mod">
          <ac:chgData name="Manvee Dandekar" userId="44c31a4991dec95c" providerId="LiveId" clId="{37B2C541-C526-4210-B8E3-350D74B3E7C9}" dt="2026-08-08T10:41:36.738" v="1065" actId="403"/>
          <ac:spMkLst>
            <pc:docMk/>
            <pc:sldMk cId="0" sldId="276"/>
            <ac:spMk id="17" creationId="{00000000-0000-0000-0000-000000000000}"/>
          </ac:spMkLst>
        </pc:spChg>
        <pc:spChg chg="mod">
          <ac:chgData name="Manvee Dandekar" userId="44c31a4991dec95c" providerId="LiveId" clId="{37B2C541-C526-4210-B8E3-350D74B3E7C9}" dt="2026-08-08T10:41:36.738" v="1065" actId="403"/>
          <ac:spMkLst>
            <pc:docMk/>
            <pc:sldMk cId="0" sldId="276"/>
            <ac:spMk id="18" creationId="{00000000-0000-0000-0000-000000000000}"/>
          </ac:spMkLst>
        </pc:spChg>
        <pc:spChg chg="mod">
          <ac:chgData name="Manvee Dandekar" userId="44c31a4991dec95c" providerId="LiveId" clId="{37B2C541-C526-4210-B8E3-350D74B3E7C9}" dt="2026-08-08T10:41:36.738" v="1065" actId="403"/>
          <ac:spMkLst>
            <pc:docMk/>
            <pc:sldMk cId="0" sldId="276"/>
            <ac:spMk id="20" creationId="{00000000-0000-0000-0000-000000000000}"/>
          </ac:spMkLst>
        </pc:spChg>
        <pc:spChg chg="mod">
          <ac:chgData name="Manvee Dandekar" userId="44c31a4991dec95c" providerId="LiveId" clId="{37B2C541-C526-4210-B8E3-350D74B3E7C9}" dt="2026-08-08T10:41:36.738" v="1065" actId="403"/>
          <ac:spMkLst>
            <pc:docMk/>
            <pc:sldMk cId="0" sldId="276"/>
            <ac:spMk id="25" creationId="{00000000-0000-0000-0000-000000000000}"/>
          </ac:spMkLst>
        </pc:spChg>
        <pc:spChg chg="mod">
          <ac:chgData name="Manvee Dandekar" userId="44c31a4991dec95c" providerId="LiveId" clId="{37B2C541-C526-4210-B8E3-350D74B3E7C9}" dt="2026-08-08T10:41:36.738" v="1065" actId="403"/>
          <ac:spMkLst>
            <pc:docMk/>
            <pc:sldMk cId="0" sldId="276"/>
            <ac:spMk id="28" creationId="{00000000-0000-0000-0000-000000000000}"/>
          </ac:spMkLst>
        </pc:spChg>
        <pc:spChg chg="mod">
          <ac:chgData name="Manvee Dandekar" userId="44c31a4991dec95c" providerId="LiveId" clId="{37B2C541-C526-4210-B8E3-350D74B3E7C9}" dt="2026-08-08T10:41:36.738" v="1065" actId="403"/>
          <ac:spMkLst>
            <pc:docMk/>
            <pc:sldMk cId="0" sldId="276"/>
            <ac:spMk id="30" creationId="{00000000-0000-0000-0000-000000000000}"/>
          </ac:spMkLst>
        </pc:spChg>
        <pc:spChg chg="mod">
          <ac:chgData name="Manvee Dandekar" userId="44c31a4991dec95c" providerId="LiveId" clId="{37B2C541-C526-4210-B8E3-350D74B3E7C9}" dt="2026-08-08T10:41:36.738" v="1065" actId="403"/>
          <ac:spMkLst>
            <pc:docMk/>
            <pc:sldMk cId="0" sldId="276"/>
            <ac:spMk id="32" creationId="{00000000-0000-0000-0000-000000000000}"/>
          </ac:spMkLst>
        </pc:spChg>
        <pc:spChg chg="mod">
          <ac:chgData name="Manvee Dandekar" userId="44c31a4991dec95c" providerId="LiveId" clId="{37B2C541-C526-4210-B8E3-350D74B3E7C9}" dt="2026-08-08T10:41:36.738" v="1065" actId="403"/>
          <ac:spMkLst>
            <pc:docMk/>
            <pc:sldMk cId="0" sldId="276"/>
            <ac:spMk id="34" creationId="{00000000-0000-0000-0000-000000000000}"/>
          </ac:spMkLst>
        </pc:spChg>
      </pc:sldChg>
      <pc:sldChg chg="modSp del mod modShow">
        <pc:chgData name="Manvee Dandekar" userId="44c31a4991dec95c" providerId="LiveId" clId="{37B2C541-C526-4210-B8E3-350D74B3E7C9}" dt="2026-08-12T01:21:20.798" v="1314" actId="47"/>
        <pc:sldMkLst>
          <pc:docMk/>
          <pc:sldMk cId="0" sldId="277"/>
        </pc:sldMkLst>
        <pc:spChg chg="mod">
          <ac:chgData name="Manvee Dandekar" userId="44c31a4991dec95c" providerId="LiveId" clId="{37B2C541-C526-4210-B8E3-350D74B3E7C9}" dt="2026-08-08T08:09:02.609" v="10"/>
          <ac:spMkLst>
            <pc:docMk/>
            <pc:sldMk cId="0" sldId="277"/>
            <ac:spMk id="5" creationId="{00000000-0000-0000-0000-000000000000}"/>
          </ac:spMkLst>
        </pc:spChg>
        <pc:spChg chg="mod">
          <ac:chgData name="Manvee Dandekar" userId="44c31a4991dec95c" providerId="LiveId" clId="{37B2C541-C526-4210-B8E3-350D74B3E7C9}" dt="2026-08-08T10:41:49.153" v="1067" actId="403"/>
          <ac:spMkLst>
            <pc:docMk/>
            <pc:sldMk cId="0" sldId="277"/>
            <ac:spMk id="6" creationId="{00000000-0000-0000-0000-000000000000}"/>
          </ac:spMkLst>
        </pc:spChg>
        <pc:spChg chg="mod">
          <ac:chgData name="Manvee Dandekar" userId="44c31a4991dec95c" providerId="LiveId" clId="{37B2C541-C526-4210-B8E3-350D74B3E7C9}" dt="2026-08-08T10:41:49.153" v="1067" actId="403"/>
          <ac:spMkLst>
            <pc:docMk/>
            <pc:sldMk cId="0" sldId="277"/>
            <ac:spMk id="7" creationId="{00000000-0000-0000-0000-000000000000}"/>
          </ac:spMkLst>
        </pc:spChg>
        <pc:spChg chg="mod">
          <ac:chgData name="Manvee Dandekar" userId="44c31a4991dec95c" providerId="LiveId" clId="{37B2C541-C526-4210-B8E3-350D74B3E7C9}" dt="2026-08-08T10:41:49.153" v="1067" actId="403"/>
          <ac:spMkLst>
            <pc:docMk/>
            <pc:sldMk cId="0" sldId="277"/>
            <ac:spMk id="9" creationId="{00000000-0000-0000-0000-000000000000}"/>
          </ac:spMkLst>
        </pc:spChg>
        <pc:spChg chg="mod">
          <ac:chgData name="Manvee Dandekar" userId="44c31a4991dec95c" providerId="LiveId" clId="{37B2C541-C526-4210-B8E3-350D74B3E7C9}" dt="2026-08-08T10:41:49.153" v="1067" actId="403"/>
          <ac:spMkLst>
            <pc:docMk/>
            <pc:sldMk cId="0" sldId="277"/>
            <ac:spMk id="20" creationId="{00000000-0000-0000-0000-000000000000}"/>
          </ac:spMkLst>
        </pc:spChg>
        <pc:spChg chg="mod">
          <ac:chgData name="Manvee Dandekar" userId="44c31a4991dec95c" providerId="LiveId" clId="{37B2C541-C526-4210-B8E3-350D74B3E7C9}" dt="2026-08-08T10:41:49.153" v="1067" actId="403"/>
          <ac:spMkLst>
            <pc:docMk/>
            <pc:sldMk cId="0" sldId="277"/>
            <ac:spMk id="22" creationId="{00000000-0000-0000-0000-000000000000}"/>
          </ac:spMkLst>
        </pc:spChg>
        <pc:spChg chg="mod">
          <ac:chgData name="Manvee Dandekar" userId="44c31a4991dec95c" providerId="LiveId" clId="{37B2C541-C526-4210-B8E3-350D74B3E7C9}" dt="2026-08-08T10:41:49.153" v="1067" actId="403"/>
          <ac:spMkLst>
            <pc:docMk/>
            <pc:sldMk cId="0" sldId="277"/>
            <ac:spMk id="25" creationId="{00000000-0000-0000-0000-000000000000}"/>
          </ac:spMkLst>
        </pc:spChg>
        <pc:spChg chg="mod">
          <ac:chgData name="Manvee Dandekar" userId="44c31a4991dec95c" providerId="LiveId" clId="{37B2C541-C526-4210-B8E3-350D74B3E7C9}" dt="2026-08-08T10:41:49.153" v="1067" actId="403"/>
          <ac:spMkLst>
            <pc:docMk/>
            <pc:sldMk cId="0" sldId="277"/>
            <ac:spMk id="30" creationId="{00000000-0000-0000-0000-000000000000}"/>
          </ac:spMkLst>
        </pc:spChg>
        <pc:spChg chg="mod">
          <ac:chgData name="Manvee Dandekar" userId="44c31a4991dec95c" providerId="LiveId" clId="{37B2C541-C526-4210-B8E3-350D74B3E7C9}" dt="2026-08-08T10:41:49.153" v="1067" actId="403"/>
          <ac:spMkLst>
            <pc:docMk/>
            <pc:sldMk cId="0" sldId="277"/>
            <ac:spMk id="31" creationId="{00000000-0000-0000-0000-000000000000}"/>
          </ac:spMkLst>
        </pc:spChg>
        <pc:spChg chg="mod">
          <ac:chgData name="Manvee Dandekar" userId="44c31a4991dec95c" providerId="LiveId" clId="{37B2C541-C526-4210-B8E3-350D74B3E7C9}" dt="2026-08-08T10:41:49.153" v="1067" actId="403"/>
          <ac:spMkLst>
            <pc:docMk/>
            <pc:sldMk cId="0" sldId="277"/>
            <ac:spMk id="37" creationId="{00000000-0000-0000-0000-000000000000}"/>
          </ac:spMkLst>
        </pc:spChg>
        <pc:spChg chg="mod">
          <ac:chgData name="Manvee Dandekar" userId="44c31a4991dec95c" providerId="LiveId" clId="{37B2C541-C526-4210-B8E3-350D74B3E7C9}" dt="2026-08-08T10:41:49.153" v="1067" actId="403"/>
          <ac:spMkLst>
            <pc:docMk/>
            <pc:sldMk cId="0" sldId="277"/>
            <ac:spMk id="38" creationId="{00000000-0000-0000-0000-000000000000}"/>
          </ac:spMkLst>
        </pc:spChg>
      </pc:sldChg>
      <pc:sldChg chg="modNotesTx">
        <pc:chgData name="Manvee Dandekar" userId="44c31a4991dec95c" providerId="LiveId" clId="{37B2C541-C526-4210-B8E3-350D74B3E7C9}" dt="2026-08-12T01:21:24.296" v="1315" actId="20577"/>
        <pc:sldMkLst>
          <pc:docMk/>
          <pc:sldMk cId="0" sldId="278"/>
        </pc:sldMkLst>
      </pc:sldChg>
      <pc:sldChg chg="addSp delSp modSp add mod ord modNotesTx">
        <pc:chgData name="Manvee Dandekar" userId="44c31a4991dec95c" providerId="LiveId" clId="{37B2C541-C526-4210-B8E3-350D74B3E7C9}" dt="2026-08-12T01:20:40.041" v="1305" actId="20577"/>
        <pc:sldMkLst>
          <pc:docMk/>
          <pc:sldMk cId="406402141" sldId="280"/>
        </pc:sldMkLst>
        <pc:spChg chg="mod">
          <ac:chgData name="Manvee Dandekar" userId="44c31a4991dec95c" providerId="LiveId" clId="{37B2C541-C526-4210-B8E3-350D74B3E7C9}" dt="2026-08-08T08:45:23.520" v="235" actId="1035"/>
          <ac:spMkLst>
            <pc:docMk/>
            <pc:sldMk cId="406402141" sldId="280"/>
            <ac:spMk id="6" creationId="{949AB5B5-C304-D67C-5469-C62A197E2850}"/>
          </ac:spMkLst>
        </pc:spChg>
        <pc:spChg chg="mod">
          <ac:chgData name="Manvee Dandekar" userId="44c31a4991dec95c" providerId="LiveId" clId="{37B2C541-C526-4210-B8E3-350D74B3E7C9}" dt="2026-08-08T10:40:31.418" v="1053" actId="403"/>
          <ac:spMkLst>
            <pc:docMk/>
            <pc:sldMk cId="406402141" sldId="280"/>
            <ac:spMk id="7" creationId="{ACB6D8C7-CE69-6D95-CBB7-6BB626672D4C}"/>
          </ac:spMkLst>
        </pc:spChg>
        <pc:spChg chg="mod">
          <ac:chgData name="Manvee Dandekar" userId="44c31a4991dec95c" providerId="LiveId" clId="{37B2C541-C526-4210-B8E3-350D74B3E7C9}" dt="2026-08-08T08:42:03.021" v="139" actId="1035"/>
          <ac:spMkLst>
            <pc:docMk/>
            <pc:sldMk cId="406402141" sldId="280"/>
            <ac:spMk id="8" creationId="{FF2142E9-45C5-4A16-6F80-3427772023F9}"/>
          </ac:spMkLst>
        </pc:spChg>
        <pc:spChg chg="mod">
          <ac:chgData name="Manvee Dandekar" userId="44c31a4991dec95c" providerId="LiveId" clId="{37B2C541-C526-4210-B8E3-350D74B3E7C9}" dt="2026-08-08T10:40:31.418" v="1053" actId="403"/>
          <ac:spMkLst>
            <pc:docMk/>
            <pc:sldMk cId="406402141" sldId="280"/>
            <ac:spMk id="10" creationId="{959521CA-BD08-5304-6E7E-10A0644F1256}"/>
          </ac:spMkLst>
        </pc:spChg>
        <pc:spChg chg="mod">
          <ac:chgData name="Manvee Dandekar" userId="44c31a4991dec95c" providerId="LiveId" clId="{37B2C541-C526-4210-B8E3-350D74B3E7C9}" dt="2026-08-08T08:45:48.927" v="243" actId="1035"/>
          <ac:spMkLst>
            <pc:docMk/>
            <pc:sldMk cId="406402141" sldId="280"/>
            <ac:spMk id="12" creationId="{008629C9-B9B4-0AA9-CA20-C6CC9F07BEC3}"/>
          </ac:spMkLst>
        </pc:spChg>
        <pc:spChg chg="mod">
          <ac:chgData name="Manvee Dandekar" userId="44c31a4991dec95c" providerId="LiveId" clId="{37B2C541-C526-4210-B8E3-350D74B3E7C9}" dt="2026-08-08T08:45:48.927" v="243" actId="1035"/>
          <ac:spMkLst>
            <pc:docMk/>
            <pc:sldMk cId="406402141" sldId="280"/>
            <ac:spMk id="13" creationId="{E2FEC25D-D97C-FC6A-3AC4-358D333FA3E2}"/>
          </ac:spMkLst>
        </pc:spChg>
        <pc:spChg chg="mod">
          <ac:chgData name="Manvee Dandekar" userId="44c31a4991dec95c" providerId="LiveId" clId="{37B2C541-C526-4210-B8E3-350D74B3E7C9}" dt="2026-08-08T08:45:48.927" v="243" actId="1035"/>
          <ac:spMkLst>
            <pc:docMk/>
            <pc:sldMk cId="406402141" sldId="280"/>
            <ac:spMk id="14" creationId="{E3C787F2-0BC9-7C2B-E62C-91BF9A3CD430}"/>
          </ac:spMkLst>
        </pc:spChg>
        <pc:spChg chg="mod">
          <ac:chgData name="Manvee Dandekar" userId="44c31a4991dec95c" providerId="LiveId" clId="{37B2C541-C526-4210-B8E3-350D74B3E7C9}" dt="2026-08-08T08:45:48.927" v="243" actId="1035"/>
          <ac:spMkLst>
            <pc:docMk/>
            <pc:sldMk cId="406402141" sldId="280"/>
            <ac:spMk id="15" creationId="{7AFB09FE-06A0-30D7-59CC-363E55AD78BA}"/>
          </ac:spMkLst>
        </pc:spChg>
        <pc:spChg chg="mod">
          <ac:chgData name="Manvee Dandekar" userId="44c31a4991dec95c" providerId="LiveId" clId="{37B2C541-C526-4210-B8E3-350D74B3E7C9}" dt="2026-08-08T08:45:48.927" v="243" actId="1035"/>
          <ac:spMkLst>
            <pc:docMk/>
            <pc:sldMk cId="406402141" sldId="280"/>
            <ac:spMk id="16" creationId="{F2530CD7-BCF9-3843-37B5-BACDB6F6635B}"/>
          </ac:spMkLst>
        </pc:spChg>
        <pc:spChg chg="mod">
          <ac:chgData name="Manvee Dandekar" userId="44c31a4991dec95c" providerId="LiveId" clId="{37B2C541-C526-4210-B8E3-350D74B3E7C9}" dt="2026-08-08T10:40:31.418" v="1053" actId="403"/>
          <ac:spMkLst>
            <pc:docMk/>
            <pc:sldMk cId="406402141" sldId="280"/>
            <ac:spMk id="17" creationId="{81FCBF6B-0F5A-BA76-7993-BF3F94BA272A}"/>
          </ac:spMkLst>
        </pc:spChg>
        <pc:spChg chg="mod">
          <ac:chgData name="Manvee Dandekar" userId="44c31a4991dec95c" providerId="LiveId" clId="{37B2C541-C526-4210-B8E3-350D74B3E7C9}" dt="2026-08-08T08:45:56.175" v="263" actId="1036"/>
          <ac:spMkLst>
            <pc:docMk/>
            <pc:sldMk cId="406402141" sldId="280"/>
            <ac:spMk id="18" creationId="{565F2773-02F1-9D3D-FFA7-18C291272BEF}"/>
          </ac:spMkLst>
        </pc:spChg>
        <pc:spChg chg="mod">
          <ac:chgData name="Manvee Dandekar" userId="44c31a4991dec95c" providerId="LiveId" clId="{37B2C541-C526-4210-B8E3-350D74B3E7C9}" dt="2026-08-08T10:40:31.418" v="1053" actId="403"/>
          <ac:spMkLst>
            <pc:docMk/>
            <pc:sldMk cId="406402141" sldId="280"/>
            <ac:spMk id="19" creationId="{241F98FE-BC17-6A05-6EA4-012A40FDD8E9}"/>
          </ac:spMkLst>
        </pc:spChg>
        <pc:spChg chg="mod">
          <ac:chgData name="Manvee Dandekar" userId="44c31a4991dec95c" providerId="LiveId" clId="{37B2C541-C526-4210-B8E3-350D74B3E7C9}" dt="2026-08-08T08:45:56.175" v="263" actId="1036"/>
          <ac:spMkLst>
            <pc:docMk/>
            <pc:sldMk cId="406402141" sldId="280"/>
            <ac:spMk id="20" creationId="{9770FFDE-1733-31BE-E363-0009CFF04DB0}"/>
          </ac:spMkLst>
        </pc:spChg>
        <pc:spChg chg="mod">
          <ac:chgData name="Manvee Dandekar" userId="44c31a4991dec95c" providerId="LiveId" clId="{37B2C541-C526-4210-B8E3-350D74B3E7C9}" dt="2026-08-08T10:40:31.418" v="1053" actId="403"/>
          <ac:spMkLst>
            <pc:docMk/>
            <pc:sldMk cId="406402141" sldId="280"/>
            <ac:spMk id="21" creationId="{CD6B22E9-33CD-A44B-BC3E-AE6C1DFD907F}"/>
          </ac:spMkLst>
        </pc:spChg>
        <pc:spChg chg="mod">
          <ac:chgData name="Manvee Dandekar" userId="44c31a4991dec95c" providerId="LiveId" clId="{37B2C541-C526-4210-B8E3-350D74B3E7C9}" dt="2026-08-08T10:40:31.418" v="1053" actId="403"/>
          <ac:spMkLst>
            <pc:docMk/>
            <pc:sldMk cId="406402141" sldId="280"/>
            <ac:spMk id="22" creationId="{09A8DF6F-BA38-EF11-91E3-340EE93B785E}"/>
          </ac:spMkLst>
        </pc:spChg>
        <pc:spChg chg="mod">
          <ac:chgData name="Manvee Dandekar" userId="44c31a4991dec95c" providerId="LiveId" clId="{37B2C541-C526-4210-B8E3-350D74B3E7C9}" dt="2026-08-08T08:45:56.175" v="263" actId="1036"/>
          <ac:spMkLst>
            <pc:docMk/>
            <pc:sldMk cId="406402141" sldId="280"/>
            <ac:spMk id="23" creationId="{04A3A3CF-B988-8014-E987-F87BC6BF1752}"/>
          </ac:spMkLst>
        </pc:spChg>
        <pc:spChg chg="mod">
          <ac:chgData name="Manvee Dandekar" userId="44c31a4991dec95c" providerId="LiveId" clId="{37B2C541-C526-4210-B8E3-350D74B3E7C9}" dt="2026-08-08T10:40:31.418" v="1053" actId="403"/>
          <ac:spMkLst>
            <pc:docMk/>
            <pc:sldMk cId="406402141" sldId="280"/>
            <ac:spMk id="24" creationId="{3C7B8421-210D-0798-9A5C-F06DF2E28B09}"/>
          </ac:spMkLst>
        </pc:spChg>
        <pc:spChg chg="mod">
          <ac:chgData name="Manvee Dandekar" userId="44c31a4991dec95c" providerId="LiveId" clId="{37B2C541-C526-4210-B8E3-350D74B3E7C9}" dt="2026-08-08T10:40:31.418" v="1053" actId="403"/>
          <ac:spMkLst>
            <pc:docMk/>
            <pc:sldMk cId="406402141" sldId="280"/>
            <ac:spMk id="25" creationId="{E483A1E5-8D11-C85C-5ABC-558B1F8D2B48}"/>
          </ac:spMkLst>
        </pc:spChg>
        <pc:spChg chg="mod">
          <ac:chgData name="Manvee Dandekar" userId="44c31a4991dec95c" providerId="LiveId" clId="{37B2C541-C526-4210-B8E3-350D74B3E7C9}" dt="2026-08-08T08:46:10.265" v="275" actId="1036"/>
          <ac:spMkLst>
            <pc:docMk/>
            <pc:sldMk cId="406402141" sldId="280"/>
            <ac:spMk id="26" creationId="{5156B638-B5C0-418D-5539-699403564728}"/>
          </ac:spMkLst>
        </pc:spChg>
        <pc:spChg chg="mod">
          <ac:chgData name="Manvee Dandekar" userId="44c31a4991dec95c" providerId="LiveId" clId="{37B2C541-C526-4210-B8E3-350D74B3E7C9}" dt="2026-08-08T08:46:10.265" v="275" actId="1036"/>
          <ac:spMkLst>
            <pc:docMk/>
            <pc:sldMk cId="406402141" sldId="280"/>
            <ac:spMk id="27" creationId="{9C976F17-E3D7-AC9B-7BDC-E2D37FEA81BA}"/>
          </ac:spMkLst>
        </pc:spChg>
        <pc:spChg chg="mod">
          <ac:chgData name="Manvee Dandekar" userId="44c31a4991dec95c" providerId="LiveId" clId="{37B2C541-C526-4210-B8E3-350D74B3E7C9}" dt="2026-08-08T08:46:10.265" v="275" actId="1036"/>
          <ac:spMkLst>
            <pc:docMk/>
            <pc:sldMk cId="406402141" sldId="280"/>
            <ac:spMk id="28" creationId="{6FE7E4AA-50F2-5F96-AB2B-24FE1D1C75CD}"/>
          </ac:spMkLst>
        </pc:spChg>
        <pc:spChg chg="mod">
          <ac:chgData name="Manvee Dandekar" userId="44c31a4991dec95c" providerId="LiveId" clId="{37B2C541-C526-4210-B8E3-350D74B3E7C9}" dt="2026-08-08T10:40:31.418" v="1053" actId="403"/>
          <ac:spMkLst>
            <pc:docMk/>
            <pc:sldMk cId="406402141" sldId="280"/>
            <ac:spMk id="29" creationId="{776AC4F6-E72A-5A93-24EA-74EDA5CF59F8}"/>
          </ac:spMkLst>
        </pc:spChg>
        <pc:spChg chg="add mod">
          <ac:chgData name="Manvee Dandekar" userId="44c31a4991dec95c" providerId="LiveId" clId="{37B2C541-C526-4210-B8E3-350D74B3E7C9}" dt="2026-08-08T08:46:22.372" v="283" actId="1035"/>
          <ac:spMkLst>
            <pc:docMk/>
            <pc:sldMk cId="406402141" sldId="280"/>
            <ac:spMk id="33" creationId="{DB8BDEF4-232F-0055-4D86-16E0000C235B}"/>
          </ac:spMkLst>
        </pc:spChg>
        <pc:spChg chg="add mod">
          <ac:chgData name="Manvee Dandekar" userId="44c31a4991dec95c" providerId="LiveId" clId="{37B2C541-C526-4210-B8E3-350D74B3E7C9}" dt="2026-08-08T08:46:22.372" v="283" actId="1035"/>
          <ac:spMkLst>
            <pc:docMk/>
            <pc:sldMk cId="406402141" sldId="280"/>
            <ac:spMk id="35" creationId="{5E154193-A285-FB2F-E814-F6BBFC916C19}"/>
          </ac:spMkLst>
        </pc:spChg>
        <pc:spChg chg="add mod">
          <ac:chgData name="Manvee Dandekar" userId="44c31a4991dec95c" providerId="LiveId" clId="{37B2C541-C526-4210-B8E3-350D74B3E7C9}" dt="2026-08-08T10:40:31.418" v="1053" actId="403"/>
          <ac:spMkLst>
            <pc:docMk/>
            <pc:sldMk cId="406402141" sldId="280"/>
            <ac:spMk id="37" creationId="{0DBC7E61-7599-A3B2-DF08-FD4BEAB43BFC}"/>
          </ac:spMkLst>
        </pc:spChg>
        <pc:spChg chg="add mod">
          <ac:chgData name="Manvee Dandekar" userId="44c31a4991dec95c" providerId="LiveId" clId="{37B2C541-C526-4210-B8E3-350D74B3E7C9}" dt="2026-08-08T08:46:22.372" v="283" actId="1035"/>
          <ac:spMkLst>
            <pc:docMk/>
            <pc:sldMk cId="406402141" sldId="280"/>
            <ac:spMk id="39" creationId="{679574BC-3AA5-7231-BA90-17D32D607F94}"/>
          </ac:spMkLst>
        </pc:spChg>
        <pc:spChg chg="add mod">
          <ac:chgData name="Manvee Dandekar" userId="44c31a4991dec95c" providerId="LiveId" clId="{37B2C541-C526-4210-B8E3-350D74B3E7C9}" dt="2026-08-08T08:46:22.372" v="283" actId="1035"/>
          <ac:spMkLst>
            <pc:docMk/>
            <pc:sldMk cId="406402141" sldId="280"/>
            <ac:spMk id="41" creationId="{5DDAE76C-26BE-F878-F868-BE8673CE85E2}"/>
          </ac:spMkLst>
        </pc:spChg>
        <pc:spChg chg="add mod">
          <ac:chgData name="Manvee Dandekar" userId="44c31a4991dec95c" providerId="LiveId" clId="{37B2C541-C526-4210-B8E3-350D74B3E7C9}" dt="2026-08-08T08:46:22.372" v="283" actId="1035"/>
          <ac:spMkLst>
            <pc:docMk/>
            <pc:sldMk cId="406402141" sldId="280"/>
            <ac:spMk id="43" creationId="{7778DCED-21B3-F4B2-0145-70F410773E4C}"/>
          </ac:spMkLst>
        </pc:spChg>
      </pc:sldChg>
      <pc:sldChg chg="addSp delSp modSp add mod modNotesTx">
        <pc:chgData name="Manvee Dandekar" userId="44c31a4991dec95c" providerId="LiveId" clId="{37B2C541-C526-4210-B8E3-350D74B3E7C9}" dt="2026-08-12T01:20:23.712" v="1302" actId="20577"/>
        <pc:sldMkLst>
          <pc:docMk/>
          <pc:sldMk cId="2460782674" sldId="281"/>
        </pc:sldMkLst>
        <pc:spChg chg="mod">
          <ac:chgData name="Manvee Dandekar" userId="44c31a4991dec95c" providerId="LiveId" clId="{37B2C541-C526-4210-B8E3-350D74B3E7C9}" dt="2026-08-08T08:40:42.579" v="125"/>
          <ac:spMkLst>
            <pc:docMk/>
            <pc:sldMk cId="2460782674" sldId="281"/>
            <ac:spMk id="4" creationId="{B924E0C5-9C97-AC72-2D46-D5410CDEC013}"/>
          </ac:spMkLst>
        </pc:spChg>
        <pc:spChg chg="add">
          <ac:chgData name="Manvee Dandekar" userId="44c31a4991dec95c" providerId="LiveId" clId="{37B2C541-C526-4210-B8E3-350D74B3E7C9}" dt="2026-08-08T08:40:22.208" v="124" actId="22"/>
          <ac:spMkLst>
            <pc:docMk/>
            <pc:sldMk cId="2460782674" sldId="281"/>
            <ac:spMk id="91" creationId="{7DFAAF90-5CD3-6B87-ED8D-4CCAED125328}"/>
          </ac:spMkLst>
        </pc:spChg>
        <pc:spChg chg="mod">
          <ac:chgData name="Manvee Dandekar" userId="44c31a4991dec95c" providerId="LiveId" clId="{37B2C541-C526-4210-B8E3-350D74B3E7C9}" dt="2026-08-08T10:39:22.139" v="1046" actId="403"/>
          <ac:spMkLst>
            <pc:docMk/>
            <pc:sldMk cId="2460782674" sldId="281"/>
            <ac:spMk id="93" creationId="{DC29A985-232C-BE64-FDDA-02BABBFDB510}"/>
          </ac:spMkLst>
        </pc:spChg>
        <pc:spChg chg="add">
          <ac:chgData name="Manvee Dandekar" userId="44c31a4991dec95c" providerId="LiveId" clId="{37B2C541-C526-4210-B8E3-350D74B3E7C9}" dt="2026-08-08T08:40:22.208" v="124" actId="22"/>
          <ac:spMkLst>
            <pc:docMk/>
            <pc:sldMk cId="2460782674" sldId="281"/>
            <ac:spMk id="97" creationId="{3E398992-713C-1405-1C78-33E8F1365302}"/>
          </ac:spMkLst>
        </pc:spChg>
        <pc:spChg chg="add">
          <ac:chgData name="Manvee Dandekar" userId="44c31a4991dec95c" providerId="LiveId" clId="{37B2C541-C526-4210-B8E3-350D74B3E7C9}" dt="2026-08-08T08:40:22.208" v="124" actId="22"/>
          <ac:spMkLst>
            <pc:docMk/>
            <pc:sldMk cId="2460782674" sldId="281"/>
            <ac:spMk id="103" creationId="{2F35BD73-0AFA-8902-9CEF-7E77C5524F23}"/>
          </ac:spMkLst>
        </pc:spChg>
        <pc:spChg chg="add">
          <ac:chgData name="Manvee Dandekar" userId="44c31a4991dec95c" providerId="LiveId" clId="{37B2C541-C526-4210-B8E3-350D74B3E7C9}" dt="2026-08-08T08:40:22.208" v="124" actId="22"/>
          <ac:spMkLst>
            <pc:docMk/>
            <pc:sldMk cId="2460782674" sldId="281"/>
            <ac:spMk id="113" creationId="{ECACC864-04E5-C9A5-55D3-EAC473F11B6E}"/>
          </ac:spMkLst>
        </pc:spChg>
        <pc:spChg chg="mod">
          <ac:chgData name="Manvee Dandekar" userId="44c31a4991dec95c" providerId="LiveId" clId="{37B2C541-C526-4210-B8E3-350D74B3E7C9}" dt="2026-08-08T10:39:22.139" v="1046" actId="403"/>
          <ac:spMkLst>
            <pc:docMk/>
            <pc:sldMk cId="2460782674" sldId="281"/>
            <ac:spMk id="119" creationId="{5A542726-EB2B-A4B6-5625-BB19FE0CBCC9}"/>
          </ac:spMkLst>
        </pc:spChg>
        <pc:spChg chg="mod">
          <ac:chgData name="Manvee Dandekar" userId="44c31a4991dec95c" providerId="LiveId" clId="{37B2C541-C526-4210-B8E3-350D74B3E7C9}" dt="2026-08-08T10:39:22.139" v="1046" actId="403"/>
          <ac:spMkLst>
            <pc:docMk/>
            <pc:sldMk cId="2460782674" sldId="281"/>
            <ac:spMk id="121" creationId="{698B7C43-E3BC-F6F4-5FC7-958108B7CF1E}"/>
          </ac:spMkLst>
        </pc:spChg>
        <pc:spChg chg="mod">
          <ac:chgData name="Manvee Dandekar" userId="44c31a4991dec95c" providerId="LiveId" clId="{37B2C541-C526-4210-B8E3-350D74B3E7C9}" dt="2026-08-08T10:39:22.139" v="1046" actId="403"/>
          <ac:spMkLst>
            <pc:docMk/>
            <pc:sldMk cId="2460782674" sldId="281"/>
            <ac:spMk id="125" creationId="{C4F726A3-4643-2330-B93A-032252A5A737}"/>
          </ac:spMkLst>
        </pc:spChg>
        <pc:spChg chg="mod">
          <ac:chgData name="Manvee Dandekar" userId="44c31a4991dec95c" providerId="LiveId" clId="{37B2C541-C526-4210-B8E3-350D74B3E7C9}" dt="2026-08-08T10:39:22.139" v="1046" actId="403"/>
          <ac:spMkLst>
            <pc:docMk/>
            <pc:sldMk cId="2460782674" sldId="281"/>
            <ac:spMk id="127" creationId="{C56F8EA9-338C-D795-C1CD-8130FC225353}"/>
          </ac:spMkLst>
        </pc:spChg>
        <pc:spChg chg="mod">
          <ac:chgData name="Manvee Dandekar" userId="44c31a4991dec95c" providerId="LiveId" clId="{37B2C541-C526-4210-B8E3-350D74B3E7C9}" dt="2026-08-08T10:39:22.139" v="1046" actId="403"/>
          <ac:spMkLst>
            <pc:docMk/>
            <pc:sldMk cId="2460782674" sldId="281"/>
            <ac:spMk id="131" creationId="{CB799BE2-BD00-8BBA-0D25-C19C1A77FF83}"/>
          </ac:spMkLst>
        </pc:spChg>
        <pc:spChg chg="mod">
          <ac:chgData name="Manvee Dandekar" userId="44c31a4991dec95c" providerId="LiveId" clId="{37B2C541-C526-4210-B8E3-350D74B3E7C9}" dt="2026-08-08T10:39:22.139" v="1046" actId="403"/>
          <ac:spMkLst>
            <pc:docMk/>
            <pc:sldMk cId="2460782674" sldId="281"/>
            <ac:spMk id="133" creationId="{7929CAF9-9B86-FCEC-02CC-4F28F3775F20}"/>
          </ac:spMkLst>
        </pc:spChg>
        <pc:spChg chg="add">
          <ac:chgData name="Manvee Dandekar" userId="44c31a4991dec95c" providerId="LiveId" clId="{37B2C541-C526-4210-B8E3-350D74B3E7C9}" dt="2026-08-08T08:40:22.208" v="124" actId="22"/>
          <ac:spMkLst>
            <pc:docMk/>
            <pc:sldMk cId="2460782674" sldId="281"/>
            <ac:spMk id="135" creationId="{A443DE47-95B2-C947-913E-9905F0FB17A5}"/>
          </ac:spMkLst>
        </pc:spChg>
        <pc:spChg chg="add">
          <ac:chgData name="Manvee Dandekar" userId="44c31a4991dec95c" providerId="LiveId" clId="{37B2C541-C526-4210-B8E3-350D74B3E7C9}" dt="2026-08-08T08:40:22.208" v="124" actId="22"/>
          <ac:spMkLst>
            <pc:docMk/>
            <pc:sldMk cId="2460782674" sldId="281"/>
            <ac:spMk id="149" creationId="{D866B2AB-C665-0EA3-F3EC-D0C6E5A572C7}"/>
          </ac:spMkLst>
        </pc:spChg>
        <pc:spChg chg="add">
          <ac:chgData name="Manvee Dandekar" userId="44c31a4991dec95c" providerId="LiveId" clId="{37B2C541-C526-4210-B8E3-350D74B3E7C9}" dt="2026-08-08T08:40:22.208" v="124" actId="22"/>
          <ac:spMkLst>
            <pc:docMk/>
            <pc:sldMk cId="2460782674" sldId="281"/>
            <ac:spMk id="177" creationId="{FD779ADA-AB20-80AA-F3C4-444BF62F9635}"/>
          </ac:spMkLst>
        </pc:spChg>
        <pc:spChg chg="mod">
          <ac:chgData name="Manvee Dandekar" userId="44c31a4991dec95c" providerId="LiveId" clId="{37B2C541-C526-4210-B8E3-350D74B3E7C9}" dt="2026-08-08T10:39:22.139" v="1046" actId="403"/>
          <ac:spMkLst>
            <pc:docMk/>
            <pc:sldMk cId="2460782674" sldId="281"/>
            <ac:spMk id="179" creationId="{ABFEE94E-3E13-0CC4-E4A7-AB7F2BB896B7}"/>
          </ac:spMkLst>
        </pc:spChg>
        <pc:spChg chg="add">
          <ac:chgData name="Manvee Dandekar" userId="44c31a4991dec95c" providerId="LiveId" clId="{37B2C541-C526-4210-B8E3-350D74B3E7C9}" dt="2026-08-08T08:40:22.208" v="124" actId="22"/>
          <ac:spMkLst>
            <pc:docMk/>
            <pc:sldMk cId="2460782674" sldId="281"/>
            <ac:spMk id="181" creationId="{C1213AB2-A1A2-9EC8-3E7D-A89F34E3FFCC}"/>
          </ac:spMkLst>
        </pc:spChg>
        <pc:spChg chg="add">
          <ac:chgData name="Manvee Dandekar" userId="44c31a4991dec95c" providerId="LiveId" clId="{37B2C541-C526-4210-B8E3-350D74B3E7C9}" dt="2026-08-08T08:40:22.208" v="124" actId="22"/>
          <ac:spMkLst>
            <pc:docMk/>
            <pc:sldMk cId="2460782674" sldId="281"/>
            <ac:spMk id="183" creationId="{9E379C42-6E3C-8C13-AEAC-9850F027E514}"/>
          </ac:spMkLst>
        </pc:spChg>
        <pc:spChg chg="add">
          <ac:chgData name="Manvee Dandekar" userId="44c31a4991dec95c" providerId="LiveId" clId="{37B2C541-C526-4210-B8E3-350D74B3E7C9}" dt="2026-08-08T08:40:22.208" v="124" actId="22"/>
          <ac:spMkLst>
            <pc:docMk/>
            <pc:sldMk cId="2460782674" sldId="281"/>
            <ac:spMk id="191" creationId="{7DE3B001-0C11-5F76-6041-0090A06BD068}"/>
          </ac:spMkLst>
        </pc:spChg>
        <pc:spChg chg="mod">
          <ac:chgData name="Manvee Dandekar" userId="44c31a4991dec95c" providerId="LiveId" clId="{37B2C541-C526-4210-B8E3-350D74B3E7C9}" dt="2026-08-08T10:39:22.139" v="1046" actId="403"/>
          <ac:spMkLst>
            <pc:docMk/>
            <pc:sldMk cId="2460782674" sldId="281"/>
            <ac:spMk id="199" creationId="{EBE822CE-4276-E537-B373-8EC7F32D68EC}"/>
          </ac:spMkLst>
        </pc:spChg>
        <pc:spChg chg="mod">
          <ac:chgData name="Manvee Dandekar" userId="44c31a4991dec95c" providerId="LiveId" clId="{37B2C541-C526-4210-B8E3-350D74B3E7C9}" dt="2026-08-08T10:39:22.139" v="1046" actId="403"/>
          <ac:spMkLst>
            <pc:docMk/>
            <pc:sldMk cId="2460782674" sldId="281"/>
            <ac:spMk id="201" creationId="{040E2109-0E3A-C9AE-8221-84EEE681CB9B}"/>
          </ac:spMkLst>
        </pc:spChg>
      </pc:sldChg>
      <pc:sldChg chg="addSp delSp modSp add mod modNotesTx">
        <pc:chgData name="Manvee Dandekar" userId="44c31a4991dec95c" providerId="LiveId" clId="{37B2C541-C526-4210-B8E3-350D74B3E7C9}" dt="2026-08-12T01:20:58.016" v="1308" actId="20577"/>
        <pc:sldMkLst>
          <pc:docMk/>
          <pc:sldMk cId="324550837" sldId="282"/>
        </pc:sldMkLst>
        <pc:spChg chg="mod">
          <ac:chgData name="Manvee Dandekar" userId="44c31a4991dec95c" providerId="LiveId" clId="{37B2C541-C526-4210-B8E3-350D74B3E7C9}" dt="2026-08-08T09:09:54.482" v="342"/>
          <ac:spMkLst>
            <pc:docMk/>
            <pc:sldMk cId="324550837" sldId="282"/>
            <ac:spMk id="4" creationId="{ECF526E3-CC15-0B76-6BCB-B89AEB3A8235}"/>
          </ac:spMkLst>
        </pc:spChg>
        <pc:spChg chg="mod">
          <ac:chgData name="Manvee Dandekar" userId="44c31a4991dec95c" providerId="LiveId" clId="{37B2C541-C526-4210-B8E3-350D74B3E7C9}" dt="2026-08-08T09:10:15.867" v="343"/>
          <ac:spMkLst>
            <pc:docMk/>
            <pc:sldMk cId="324550837" sldId="282"/>
            <ac:spMk id="5" creationId="{C67D3941-1BE0-2187-08BD-57AB2F5F8784}"/>
          </ac:spMkLst>
        </pc:spChg>
        <pc:spChg chg="add">
          <ac:chgData name="Manvee Dandekar" userId="44c31a4991dec95c" providerId="LiveId" clId="{37B2C541-C526-4210-B8E3-350D74B3E7C9}" dt="2026-08-08T09:10:22.744" v="344" actId="22"/>
          <ac:spMkLst>
            <pc:docMk/>
            <pc:sldMk cId="324550837" sldId="282"/>
            <ac:spMk id="45" creationId="{34484AE0-7A66-69A1-C2DD-B95F8F9FB284}"/>
          </ac:spMkLst>
        </pc:spChg>
        <pc:spChg chg="add">
          <ac:chgData name="Manvee Dandekar" userId="44c31a4991dec95c" providerId="LiveId" clId="{37B2C541-C526-4210-B8E3-350D74B3E7C9}" dt="2026-08-08T09:10:22.744" v="344" actId="22"/>
          <ac:spMkLst>
            <pc:docMk/>
            <pc:sldMk cId="324550837" sldId="282"/>
            <ac:spMk id="49" creationId="{3E44B40D-F067-B138-95EA-A577ED2D8997}"/>
          </ac:spMkLst>
        </pc:spChg>
        <pc:spChg chg="add">
          <ac:chgData name="Manvee Dandekar" userId="44c31a4991dec95c" providerId="LiveId" clId="{37B2C541-C526-4210-B8E3-350D74B3E7C9}" dt="2026-08-08T09:10:22.744" v="344" actId="22"/>
          <ac:spMkLst>
            <pc:docMk/>
            <pc:sldMk cId="324550837" sldId="282"/>
            <ac:spMk id="59" creationId="{71049703-81A2-1514-6A7D-BC9078716F87}"/>
          </ac:spMkLst>
        </pc:spChg>
        <pc:spChg chg="add">
          <ac:chgData name="Manvee Dandekar" userId="44c31a4991dec95c" providerId="LiveId" clId="{37B2C541-C526-4210-B8E3-350D74B3E7C9}" dt="2026-08-08T09:10:22.744" v="344" actId="22"/>
          <ac:spMkLst>
            <pc:docMk/>
            <pc:sldMk cId="324550837" sldId="282"/>
            <ac:spMk id="69" creationId="{C62D9E57-017F-9355-6A66-4B0615C8E991}"/>
          </ac:spMkLst>
        </pc:spChg>
        <pc:spChg chg="add">
          <ac:chgData name="Manvee Dandekar" userId="44c31a4991dec95c" providerId="LiveId" clId="{37B2C541-C526-4210-B8E3-350D74B3E7C9}" dt="2026-08-08T09:10:22.744" v="344" actId="22"/>
          <ac:spMkLst>
            <pc:docMk/>
            <pc:sldMk cId="324550837" sldId="282"/>
            <ac:spMk id="75" creationId="{388A9E35-2FD0-C180-EA8A-9164FCE0B66C}"/>
          </ac:spMkLst>
        </pc:spChg>
        <pc:spChg chg="add">
          <ac:chgData name="Manvee Dandekar" userId="44c31a4991dec95c" providerId="LiveId" clId="{37B2C541-C526-4210-B8E3-350D74B3E7C9}" dt="2026-08-08T09:10:22.744" v="344" actId="22"/>
          <ac:spMkLst>
            <pc:docMk/>
            <pc:sldMk cId="324550837" sldId="282"/>
            <ac:spMk id="77" creationId="{2BC3D595-1B3F-90F6-47CD-1D9DDC835DAA}"/>
          </ac:spMkLst>
        </pc:spChg>
        <pc:spChg chg="add">
          <ac:chgData name="Manvee Dandekar" userId="44c31a4991dec95c" providerId="LiveId" clId="{37B2C541-C526-4210-B8E3-350D74B3E7C9}" dt="2026-08-08T09:10:22.744" v="344" actId="22"/>
          <ac:spMkLst>
            <pc:docMk/>
            <pc:sldMk cId="324550837" sldId="282"/>
            <ac:spMk id="93" creationId="{60BAFA96-41C7-6064-6CD2-8FF4236297AD}"/>
          </ac:spMkLst>
        </pc:spChg>
        <pc:spChg chg="add">
          <ac:chgData name="Manvee Dandekar" userId="44c31a4991dec95c" providerId="LiveId" clId="{37B2C541-C526-4210-B8E3-350D74B3E7C9}" dt="2026-08-08T09:10:22.744" v="344" actId="22"/>
          <ac:spMkLst>
            <pc:docMk/>
            <pc:sldMk cId="324550837" sldId="282"/>
            <ac:spMk id="97" creationId="{456252B7-2CDA-FBF5-2639-17F0C9FAE018}"/>
          </ac:spMkLst>
        </pc:spChg>
        <pc:spChg chg="add">
          <ac:chgData name="Manvee Dandekar" userId="44c31a4991dec95c" providerId="LiveId" clId="{37B2C541-C526-4210-B8E3-350D74B3E7C9}" dt="2026-08-08T09:10:22.744" v="344" actId="22"/>
          <ac:spMkLst>
            <pc:docMk/>
            <pc:sldMk cId="324550837" sldId="282"/>
            <ac:spMk id="99" creationId="{DBBDF867-BD06-0224-EAD6-B67190F7D11E}"/>
          </ac:spMkLst>
        </pc:spChg>
        <pc:spChg chg="add">
          <ac:chgData name="Manvee Dandekar" userId="44c31a4991dec95c" providerId="LiveId" clId="{37B2C541-C526-4210-B8E3-350D74B3E7C9}" dt="2026-08-08T09:10:22.744" v="344" actId="22"/>
          <ac:spMkLst>
            <pc:docMk/>
            <pc:sldMk cId="324550837" sldId="282"/>
            <ac:spMk id="105" creationId="{925956F8-9E9D-6D51-0941-C66888514AF4}"/>
          </ac:spMkLst>
        </pc:spChg>
      </pc:sldChg>
      <pc:sldChg chg="addSp delSp modSp add mod modNotesTx">
        <pc:chgData name="Manvee Dandekar" userId="44c31a4991dec95c" providerId="LiveId" clId="{37B2C541-C526-4210-B8E3-350D74B3E7C9}" dt="2026-08-12T01:21:05.052" v="1309" actId="20577"/>
        <pc:sldMkLst>
          <pc:docMk/>
          <pc:sldMk cId="1405818737" sldId="283"/>
        </pc:sldMkLst>
        <pc:spChg chg="add mod">
          <ac:chgData name="Manvee Dandekar" userId="44c31a4991dec95c" providerId="LiveId" clId="{37B2C541-C526-4210-B8E3-350D74B3E7C9}" dt="2026-08-08T09:42:23.555" v="961" actId="14100"/>
          <ac:spMkLst>
            <pc:docMk/>
            <pc:sldMk cId="1405818737" sldId="283"/>
            <ac:spMk id="117" creationId="{D69B8B8B-9577-5B75-2345-46928054FAB1}"/>
          </ac:spMkLst>
        </pc:spChg>
        <pc:graphicFrameChg chg="add mod modGraphic">
          <ac:chgData name="Manvee Dandekar" userId="44c31a4991dec95c" providerId="LiveId" clId="{37B2C541-C526-4210-B8E3-350D74B3E7C9}" dt="2026-08-08T09:33:45.372" v="725" actId="14100"/>
          <ac:graphicFrameMkLst>
            <pc:docMk/>
            <pc:sldMk cId="1405818737" sldId="283"/>
            <ac:graphicFrameMk id="111" creationId="{DCADA1F2-87D4-9F18-5D96-CE378946DB81}"/>
          </ac:graphicFrameMkLst>
        </pc:graphicFrameChg>
        <pc:graphicFrameChg chg="add mod modGraphic">
          <ac:chgData name="Manvee Dandekar" userId="44c31a4991dec95c" providerId="LiveId" clId="{37B2C541-C526-4210-B8E3-350D74B3E7C9}" dt="2026-08-08T09:34:10.728" v="753" actId="14100"/>
          <ac:graphicFrameMkLst>
            <pc:docMk/>
            <pc:sldMk cId="1405818737" sldId="283"/>
            <ac:graphicFrameMk id="113" creationId="{7BB34021-0B21-BF2D-C170-B79D8AF8F819}"/>
          </ac:graphicFrameMkLst>
        </pc:graphicFrameChg>
        <pc:graphicFrameChg chg="add mod modGraphic">
          <ac:chgData name="Manvee Dandekar" userId="44c31a4991dec95c" providerId="LiveId" clId="{37B2C541-C526-4210-B8E3-350D74B3E7C9}" dt="2026-08-08T09:38:19.645" v="946" actId="1038"/>
          <ac:graphicFrameMkLst>
            <pc:docMk/>
            <pc:sldMk cId="1405818737" sldId="283"/>
            <ac:graphicFrameMk id="115" creationId="{003F4FEE-42AF-F918-58D6-CE488BDDF7ED}"/>
          </ac:graphicFrameMkLst>
        </pc:graphicFrameChg>
      </pc:sldChg>
      <pc:sldChg chg="add modNotesTx">
        <pc:chgData name="Manvee Dandekar" userId="44c31a4991dec95c" providerId="LiveId" clId="{37B2C541-C526-4210-B8E3-350D74B3E7C9}" dt="2026-08-12T01:20:19.873" v="1301" actId="20577"/>
        <pc:sldMkLst>
          <pc:docMk/>
          <pc:sldMk cId="2708987879" sldId="284"/>
        </pc:sldMkLst>
      </pc:sldChg>
      <pc:sldChg chg="addSp delSp add mod modNotesTx">
        <pc:chgData name="Manvee Dandekar" userId="44c31a4991dec95c" providerId="LiveId" clId="{37B2C541-C526-4210-B8E3-350D74B3E7C9}" dt="2026-08-12T01:20:06.631" v="1299" actId="20577"/>
        <pc:sldMkLst>
          <pc:docMk/>
          <pc:sldMk cId="2063581729" sldId="285"/>
        </pc:sldMkLst>
        <pc:spChg chg="add">
          <ac:chgData name="Manvee Dandekar" userId="44c31a4991dec95c" providerId="LiveId" clId="{37B2C541-C526-4210-B8E3-350D74B3E7C9}" dt="2026-08-08T11:39:57.963" v="1251" actId="22"/>
          <ac:spMkLst>
            <pc:docMk/>
            <pc:sldMk cId="2063581729" sldId="285"/>
            <ac:spMk id="56" creationId="{8F85AF03-BDD8-A8C5-C048-D18A5E8A53CE}"/>
          </ac:spMkLst>
        </pc:spChg>
        <pc:spChg chg="add">
          <ac:chgData name="Manvee Dandekar" userId="44c31a4991dec95c" providerId="LiveId" clId="{37B2C541-C526-4210-B8E3-350D74B3E7C9}" dt="2026-08-08T11:39:57.963" v="1251" actId="22"/>
          <ac:spMkLst>
            <pc:docMk/>
            <pc:sldMk cId="2063581729" sldId="285"/>
            <ac:spMk id="60" creationId="{4158643E-35DB-2462-F5CF-09A99D22E3B7}"/>
          </ac:spMkLst>
        </pc:spChg>
        <pc:spChg chg="add">
          <ac:chgData name="Manvee Dandekar" userId="44c31a4991dec95c" providerId="LiveId" clId="{37B2C541-C526-4210-B8E3-350D74B3E7C9}" dt="2026-08-08T11:39:57.963" v="1251" actId="22"/>
          <ac:spMkLst>
            <pc:docMk/>
            <pc:sldMk cId="2063581729" sldId="285"/>
            <ac:spMk id="72" creationId="{AF847378-23A4-51AF-B409-29F26751BDCD}"/>
          </ac:spMkLst>
        </pc:spChg>
        <pc:spChg chg="add">
          <ac:chgData name="Manvee Dandekar" userId="44c31a4991dec95c" providerId="LiveId" clId="{37B2C541-C526-4210-B8E3-350D74B3E7C9}" dt="2026-08-08T11:39:57.963" v="1251" actId="22"/>
          <ac:spMkLst>
            <pc:docMk/>
            <pc:sldMk cId="2063581729" sldId="285"/>
            <ac:spMk id="90" creationId="{350D2EA5-3FCD-AD72-9163-699961F07E06}"/>
          </ac:spMkLst>
        </pc:spChg>
        <pc:spChg chg="add">
          <ac:chgData name="Manvee Dandekar" userId="44c31a4991dec95c" providerId="LiveId" clId="{37B2C541-C526-4210-B8E3-350D74B3E7C9}" dt="2026-08-08T11:39:57.963" v="1251" actId="22"/>
          <ac:spMkLst>
            <pc:docMk/>
            <pc:sldMk cId="2063581729" sldId="285"/>
            <ac:spMk id="94" creationId="{839DCDDC-FA94-9535-D022-887C8263AC31}"/>
          </ac:spMkLst>
        </pc:spChg>
        <pc:spChg chg="add">
          <ac:chgData name="Manvee Dandekar" userId="44c31a4991dec95c" providerId="LiveId" clId="{37B2C541-C526-4210-B8E3-350D74B3E7C9}" dt="2026-08-08T11:39:57.963" v="1251" actId="22"/>
          <ac:spMkLst>
            <pc:docMk/>
            <pc:sldMk cId="2063581729" sldId="285"/>
            <ac:spMk id="134" creationId="{6578B132-6E98-DC09-6D01-B3410ABE00E0}"/>
          </ac:spMkLst>
        </pc:spChg>
        <pc:spChg chg="add">
          <ac:chgData name="Manvee Dandekar" userId="44c31a4991dec95c" providerId="LiveId" clId="{37B2C541-C526-4210-B8E3-350D74B3E7C9}" dt="2026-08-08T11:39:57.963" v="1251" actId="22"/>
          <ac:spMkLst>
            <pc:docMk/>
            <pc:sldMk cId="2063581729" sldId="285"/>
            <ac:spMk id="142" creationId="{EA866A41-29BE-3DC4-CB7C-FA15320D1D9C}"/>
          </ac:spMkLst>
        </pc:spChg>
        <pc:spChg chg="add">
          <ac:chgData name="Manvee Dandekar" userId="44c31a4991dec95c" providerId="LiveId" clId="{37B2C541-C526-4210-B8E3-350D74B3E7C9}" dt="2026-08-08T11:39:57.963" v="1251" actId="22"/>
          <ac:spMkLst>
            <pc:docMk/>
            <pc:sldMk cId="2063581729" sldId="285"/>
            <ac:spMk id="158" creationId="{39599A77-8574-930D-AF58-7D83DB7121C4}"/>
          </ac:spMkLst>
        </pc:spChg>
        <pc:spChg chg="add">
          <ac:chgData name="Manvee Dandekar" userId="44c31a4991dec95c" providerId="LiveId" clId="{37B2C541-C526-4210-B8E3-350D74B3E7C9}" dt="2026-08-08T11:39:57.963" v="1251" actId="22"/>
          <ac:spMkLst>
            <pc:docMk/>
            <pc:sldMk cId="2063581729" sldId="285"/>
            <ac:spMk id="226" creationId="{4A68DDC4-9CE5-94F1-93E1-EA45E166BE39}"/>
          </ac:spMkLst>
        </pc:spChg>
        <pc:spChg chg="add">
          <ac:chgData name="Manvee Dandekar" userId="44c31a4991dec95c" providerId="LiveId" clId="{37B2C541-C526-4210-B8E3-350D74B3E7C9}" dt="2026-08-08T11:39:57.963" v="1251" actId="22"/>
          <ac:spMkLst>
            <pc:docMk/>
            <pc:sldMk cId="2063581729" sldId="285"/>
            <ac:spMk id="246" creationId="{349AE4B5-A756-6DD2-AF1A-DF59531DD192}"/>
          </ac:spMkLst>
        </pc:spChg>
      </pc:sldChg>
      <pc:sldChg chg="addSp delSp add mod modNotesTx">
        <pc:chgData name="Manvee Dandekar" userId="44c31a4991dec95c" providerId="LiveId" clId="{37B2C541-C526-4210-B8E3-350D74B3E7C9}" dt="2026-08-12T01:20:11.679" v="1300" actId="20577"/>
        <pc:sldMkLst>
          <pc:docMk/>
          <pc:sldMk cId="43093878" sldId="286"/>
        </pc:sldMkLst>
        <pc:spChg chg="add">
          <ac:chgData name="Manvee Dandekar" userId="44c31a4991dec95c" providerId="LiveId" clId="{37B2C541-C526-4210-B8E3-350D74B3E7C9}" dt="2026-08-08T11:40:29.438" v="1254" actId="22"/>
          <ac:spMkLst>
            <pc:docMk/>
            <pc:sldMk cId="43093878" sldId="286"/>
            <ac:spMk id="19" creationId="{F376C048-1496-B22E-9E35-53ACE4213CB4}"/>
          </ac:spMkLst>
        </pc:spChg>
        <pc:spChg chg="add">
          <ac:chgData name="Manvee Dandekar" userId="44c31a4991dec95c" providerId="LiveId" clId="{37B2C541-C526-4210-B8E3-350D74B3E7C9}" dt="2026-08-08T11:40:29.438" v="1254" actId="22"/>
          <ac:spMkLst>
            <pc:docMk/>
            <pc:sldMk cId="43093878" sldId="286"/>
            <ac:spMk id="23" creationId="{ABB55445-A505-8ACF-7385-FB1EFB8340D3}"/>
          </ac:spMkLst>
        </pc:spChg>
        <pc:spChg chg="add">
          <ac:chgData name="Manvee Dandekar" userId="44c31a4991dec95c" providerId="LiveId" clId="{37B2C541-C526-4210-B8E3-350D74B3E7C9}" dt="2026-08-08T11:40:29.438" v="1254" actId="22"/>
          <ac:spMkLst>
            <pc:docMk/>
            <pc:sldMk cId="43093878" sldId="286"/>
            <ac:spMk id="43" creationId="{D7467AC1-C1E9-EB59-6853-9064E526CDA1}"/>
          </ac:spMkLst>
        </pc:spChg>
        <pc:spChg chg="add">
          <ac:chgData name="Manvee Dandekar" userId="44c31a4991dec95c" providerId="LiveId" clId="{37B2C541-C526-4210-B8E3-350D74B3E7C9}" dt="2026-08-08T11:40:29.438" v="1254" actId="22"/>
          <ac:spMkLst>
            <pc:docMk/>
            <pc:sldMk cId="43093878" sldId="286"/>
            <ac:spMk id="51" creationId="{0E0417FE-A6E2-8681-B32E-E11F98A6D287}"/>
          </ac:spMkLst>
        </pc:spChg>
        <pc:spChg chg="add">
          <ac:chgData name="Manvee Dandekar" userId="44c31a4991dec95c" providerId="LiveId" clId="{37B2C541-C526-4210-B8E3-350D74B3E7C9}" dt="2026-08-08T11:40:29.438" v="1254" actId="22"/>
          <ac:spMkLst>
            <pc:docMk/>
            <pc:sldMk cId="43093878" sldId="286"/>
            <ac:spMk id="95" creationId="{B81FF042-79D8-095D-FE01-025F1358A6CF}"/>
          </ac:spMkLst>
        </pc:spChg>
        <pc:spChg chg="add">
          <ac:chgData name="Manvee Dandekar" userId="44c31a4991dec95c" providerId="LiveId" clId="{37B2C541-C526-4210-B8E3-350D74B3E7C9}" dt="2026-08-08T11:40:29.438" v="1254" actId="22"/>
          <ac:spMkLst>
            <pc:docMk/>
            <pc:sldMk cId="43093878" sldId="286"/>
            <ac:spMk id="113" creationId="{BAF8CD14-54B1-B6FC-EAB0-1F962761CC82}"/>
          </ac:spMkLst>
        </pc:spChg>
        <pc:spChg chg="add">
          <ac:chgData name="Manvee Dandekar" userId="44c31a4991dec95c" providerId="LiveId" clId="{37B2C541-C526-4210-B8E3-350D74B3E7C9}" dt="2026-08-08T11:40:29.438" v="1254" actId="22"/>
          <ac:spMkLst>
            <pc:docMk/>
            <pc:sldMk cId="43093878" sldId="286"/>
            <ac:spMk id="119" creationId="{489FC1A8-29E2-0D17-FB36-9ABCD6ABDB55}"/>
          </ac:spMkLst>
        </pc:spChg>
        <pc:spChg chg="add">
          <ac:chgData name="Manvee Dandekar" userId="44c31a4991dec95c" providerId="LiveId" clId="{37B2C541-C526-4210-B8E3-350D74B3E7C9}" dt="2026-08-08T11:40:29.438" v="1254" actId="22"/>
          <ac:spMkLst>
            <pc:docMk/>
            <pc:sldMk cId="43093878" sldId="286"/>
            <ac:spMk id="132" creationId="{7B09A80F-A1F3-A763-F361-A7C71A77CFD7}"/>
          </ac:spMkLst>
        </pc:spChg>
        <pc:spChg chg="add">
          <ac:chgData name="Manvee Dandekar" userId="44c31a4991dec95c" providerId="LiveId" clId="{37B2C541-C526-4210-B8E3-350D74B3E7C9}" dt="2026-08-08T11:40:29.438" v="1254" actId="22"/>
          <ac:spMkLst>
            <pc:docMk/>
            <pc:sldMk cId="43093878" sldId="286"/>
            <ac:spMk id="148" creationId="{BAA29BC3-F48A-31F9-8B65-62BC19BBBBFD}"/>
          </ac:spMkLst>
        </pc:spChg>
        <pc:spChg chg="add">
          <ac:chgData name="Manvee Dandekar" userId="44c31a4991dec95c" providerId="LiveId" clId="{37B2C541-C526-4210-B8E3-350D74B3E7C9}" dt="2026-08-08T11:40:29.438" v="1254" actId="22"/>
          <ac:spMkLst>
            <pc:docMk/>
            <pc:sldMk cId="43093878" sldId="286"/>
            <ac:spMk id="172" creationId="{C05A65F6-4A9B-5669-92BF-0A32E9701E7A}"/>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Chunking</c:v>
                </c:pt>
              </c:strCache>
            </c:strRef>
          </c:tx>
          <c:spPr>
            <a:solidFill>
              <a:srgbClr val="4A6B4F"/>
            </a:solidFill>
            <a:effectLst/>
          </c:spPr>
          <c:invertIfNegative val="0"/>
          <c:cat>
            <c:strRef>
              <c:f>Sheet1!$A$2:$A$6</c:f>
              <c:strCache>
                <c:ptCount val="5"/>
                <c:pt idx="0">
                  <c:v>Legal</c:v>
                </c:pt>
                <c:pt idx="1">
                  <c:v>Customer Support</c:v>
                </c:pt>
                <c:pt idx="2">
                  <c:v>Biomedical</c:v>
                </c:pt>
                <c:pt idx="3">
                  <c:v>General Knowledge</c:v>
                </c:pt>
                <c:pt idx="4">
                  <c:v>Finance</c:v>
                </c:pt>
              </c:strCache>
            </c:strRef>
          </c:cat>
          <c:val>
            <c:numRef>
              <c:f>Sheet1!$B$2:$B$6</c:f>
              <c:numCache>
                <c:formatCode>General</c:formatCode>
                <c:ptCount val="5"/>
                <c:pt idx="0">
                  <c:v>0.26860000000000001</c:v>
                </c:pt>
                <c:pt idx="1">
                  <c:v>0.16619999999999999</c:v>
                </c:pt>
                <c:pt idx="2">
                  <c:v>0.12690000000000001</c:v>
                </c:pt>
                <c:pt idx="3">
                  <c:v>9.0300000000000005E-2</c:v>
                </c:pt>
                <c:pt idx="4">
                  <c:v>6.5799999999999997E-2</c:v>
                </c:pt>
              </c:numCache>
            </c:numRef>
          </c:val>
          <c:extLst>
            <c:ext xmlns:c16="http://schemas.microsoft.com/office/drawing/2014/chart" uri="{C3380CC4-5D6E-409C-BE32-E72D297353CC}">
              <c16:uniqueId val="{00000000-2472-42C0-9F82-F75B4FFF34C3}"/>
            </c:ext>
          </c:extLst>
        </c:ser>
        <c:ser>
          <c:idx val="1"/>
          <c:order val="1"/>
          <c:tx>
            <c:strRef>
              <c:f>Sheet1!$C$1</c:f>
              <c:strCache>
                <c:ptCount val="1"/>
                <c:pt idx="0">
                  <c:v>Context order</c:v>
                </c:pt>
              </c:strCache>
            </c:strRef>
          </c:tx>
          <c:spPr>
            <a:solidFill>
              <a:srgbClr val="8C6E52"/>
            </a:solidFill>
            <a:effectLst/>
          </c:spPr>
          <c:invertIfNegative val="0"/>
          <c:cat>
            <c:strRef>
              <c:f>Sheet1!$A$2:$A$6</c:f>
              <c:strCache>
                <c:ptCount val="5"/>
                <c:pt idx="0">
                  <c:v>Legal</c:v>
                </c:pt>
                <c:pt idx="1">
                  <c:v>Customer Support</c:v>
                </c:pt>
                <c:pt idx="2">
                  <c:v>Biomedical</c:v>
                </c:pt>
                <c:pt idx="3">
                  <c:v>General Knowledge</c:v>
                </c:pt>
                <c:pt idx="4">
                  <c:v>Finance</c:v>
                </c:pt>
              </c:strCache>
            </c:strRef>
          </c:cat>
          <c:val>
            <c:numRef>
              <c:f>Sheet1!$C$2:$C$6</c:f>
              <c:numCache>
                <c:formatCode>General</c:formatCode>
                <c:ptCount val="5"/>
                <c:pt idx="0">
                  <c:v>1.2E-2</c:v>
                </c:pt>
                <c:pt idx="1">
                  <c:v>8.6199999999999999E-2</c:v>
                </c:pt>
                <c:pt idx="2">
                  <c:v>2.8400000000000002E-2</c:v>
                </c:pt>
                <c:pt idx="3">
                  <c:v>1.6000000000000001E-3</c:v>
                </c:pt>
                <c:pt idx="4">
                  <c:v>0.11310000000000001</c:v>
                </c:pt>
              </c:numCache>
            </c:numRef>
          </c:val>
          <c:extLst>
            <c:ext xmlns:c16="http://schemas.microsoft.com/office/drawing/2014/chart" uri="{C3380CC4-5D6E-409C-BE32-E72D297353CC}">
              <c16:uniqueId val="{00000001-2472-42C0-9F82-F75B4FFF34C3}"/>
            </c:ext>
          </c:extLst>
        </c:ser>
        <c:ser>
          <c:idx val="2"/>
          <c:order val="2"/>
          <c:tx>
            <c:strRef>
              <c:f>Sheet1!$D$1</c:f>
              <c:strCache>
                <c:ptCount val="1"/>
                <c:pt idx="0">
                  <c:v>Embedding</c:v>
                </c:pt>
              </c:strCache>
            </c:strRef>
          </c:tx>
          <c:spPr>
            <a:solidFill>
              <a:srgbClr val="7D9B76"/>
            </a:solidFill>
            <a:effectLst/>
          </c:spPr>
          <c:invertIfNegative val="0"/>
          <c:cat>
            <c:strRef>
              <c:f>Sheet1!$A$2:$A$6</c:f>
              <c:strCache>
                <c:ptCount val="5"/>
                <c:pt idx="0">
                  <c:v>Legal</c:v>
                </c:pt>
                <c:pt idx="1">
                  <c:v>Customer Support</c:v>
                </c:pt>
                <c:pt idx="2">
                  <c:v>Biomedical</c:v>
                </c:pt>
                <c:pt idx="3">
                  <c:v>General Knowledge</c:v>
                </c:pt>
                <c:pt idx="4">
                  <c:v>Finance</c:v>
                </c:pt>
              </c:strCache>
            </c:strRef>
          </c:cat>
          <c:val>
            <c:numRef>
              <c:f>Sheet1!$D$2:$D$6</c:f>
              <c:numCache>
                <c:formatCode>General</c:formatCode>
                <c:ptCount val="5"/>
                <c:pt idx="0">
                  <c:v>7.3899999999999993E-2</c:v>
                </c:pt>
                <c:pt idx="1">
                  <c:v>4.9200000000000001E-2</c:v>
                </c:pt>
                <c:pt idx="2">
                  <c:v>2.76E-2</c:v>
                </c:pt>
                <c:pt idx="3">
                  <c:v>5.5999999999999999E-3</c:v>
                </c:pt>
                <c:pt idx="4">
                  <c:v>3.1199999999999999E-2</c:v>
                </c:pt>
              </c:numCache>
            </c:numRef>
          </c:val>
          <c:extLst>
            <c:ext xmlns:c16="http://schemas.microsoft.com/office/drawing/2014/chart" uri="{C3380CC4-5D6E-409C-BE32-E72D297353CC}">
              <c16:uniqueId val="{00000002-2472-42C0-9F82-F75B4FFF34C3}"/>
            </c:ext>
          </c:extLst>
        </c:ser>
        <c:ser>
          <c:idx val="3"/>
          <c:order val="3"/>
          <c:tx>
            <c:strRef>
              <c:f>Sheet1!$E$1</c:f>
              <c:strCache>
                <c:ptCount val="1"/>
                <c:pt idx="0">
                  <c:v>Retrieval</c:v>
                </c:pt>
              </c:strCache>
            </c:strRef>
          </c:tx>
          <c:spPr>
            <a:solidFill>
              <a:srgbClr val="C9B195"/>
            </a:solidFill>
            <a:effectLst/>
          </c:spPr>
          <c:invertIfNegative val="0"/>
          <c:cat>
            <c:strRef>
              <c:f>Sheet1!$A$2:$A$6</c:f>
              <c:strCache>
                <c:ptCount val="5"/>
                <c:pt idx="0">
                  <c:v>Legal</c:v>
                </c:pt>
                <c:pt idx="1">
                  <c:v>Customer Support</c:v>
                </c:pt>
                <c:pt idx="2">
                  <c:v>Biomedical</c:v>
                </c:pt>
                <c:pt idx="3">
                  <c:v>General Knowledge</c:v>
                </c:pt>
                <c:pt idx="4">
                  <c:v>Finance</c:v>
                </c:pt>
              </c:strCache>
            </c:strRef>
          </c:cat>
          <c:val>
            <c:numRef>
              <c:f>Sheet1!$E$2:$E$6</c:f>
              <c:numCache>
                <c:formatCode>General</c:formatCode>
                <c:ptCount val="5"/>
                <c:pt idx="0">
                  <c:v>1.7500000000000002E-2</c:v>
                </c:pt>
                <c:pt idx="1">
                  <c:v>4.8800000000000003E-2</c:v>
                </c:pt>
                <c:pt idx="2">
                  <c:v>1.1000000000000001E-3</c:v>
                </c:pt>
                <c:pt idx="3">
                  <c:v>7.7999999999999996E-3</c:v>
                </c:pt>
                <c:pt idx="4">
                  <c:v>1.1999999999999999E-3</c:v>
                </c:pt>
              </c:numCache>
            </c:numRef>
          </c:val>
          <c:extLst>
            <c:ext xmlns:c16="http://schemas.microsoft.com/office/drawing/2014/chart" uri="{C3380CC4-5D6E-409C-BE32-E72D297353CC}">
              <c16:uniqueId val="{00000003-2472-42C0-9F82-F75B4FFF34C3}"/>
            </c:ext>
          </c:extLst>
        </c:ser>
        <c:ser>
          <c:idx val="4"/>
          <c:order val="4"/>
          <c:tx>
            <c:strRef>
              <c:f>Sheet1!$F$1</c:f>
              <c:strCache>
                <c:ptCount val="1"/>
                <c:pt idx="0">
                  <c:v>Reranking</c:v>
                </c:pt>
              </c:strCache>
            </c:strRef>
          </c:tx>
          <c:spPr>
            <a:solidFill>
              <a:srgbClr val="B5714B"/>
            </a:solidFill>
            <a:effectLst/>
          </c:spPr>
          <c:invertIfNegative val="0"/>
          <c:cat>
            <c:strRef>
              <c:f>Sheet1!$A$2:$A$6</c:f>
              <c:strCache>
                <c:ptCount val="5"/>
                <c:pt idx="0">
                  <c:v>Legal</c:v>
                </c:pt>
                <c:pt idx="1">
                  <c:v>Customer Support</c:v>
                </c:pt>
                <c:pt idx="2">
                  <c:v>Biomedical</c:v>
                </c:pt>
                <c:pt idx="3">
                  <c:v>General Knowledge</c:v>
                </c:pt>
                <c:pt idx="4">
                  <c:v>Finance</c:v>
                </c:pt>
              </c:strCache>
            </c:strRef>
          </c:cat>
          <c:val>
            <c:numRef>
              <c:f>Sheet1!$F$2:$F$6</c:f>
              <c:numCache>
                <c:formatCode>General</c:formatCode>
                <c:ptCount val="5"/>
                <c:pt idx="0">
                  <c:v>1.7500000000000002E-2</c:v>
                </c:pt>
                <c:pt idx="1">
                  <c:v>2.8500000000000001E-2</c:v>
                </c:pt>
                <c:pt idx="2">
                  <c:v>2.7000000000000001E-3</c:v>
                </c:pt>
                <c:pt idx="3">
                  <c:v>2.2100000000000002E-2</c:v>
                </c:pt>
                <c:pt idx="4">
                  <c:v>7.4999999999999997E-3</c:v>
                </c:pt>
              </c:numCache>
            </c:numRef>
          </c:val>
          <c:extLst>
            <c:ext xmlns:c16="http://schemas.microsoft.com/office/drawing/2014/chart" uri="{C3380CC4-5D6E-409C-BE32-E72D297353CC}">
              <c16:uniqueId val="{00000004-2472-42C0-9F82-F75B4FFF34C3}"/>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7A6A5A"/>
                </a:solidFill>
                <a:latin typeface="Calibri"/>
              </a:defRPr>
            </a:pPr>
            <a:endParaRPr lang="en-US"/>
          </a:p>
        </c:txPr>
        <c:crossAx val="2094734552"/>
        <c:crosses val="autoZero"/>
        <c:auto val="1"/>
        <c:lblAlgn val="ctr"/>
        <c:lblOffset val="100"/>
        <c:noMultiLvlLbl val="1"/>
      </c:catAx>
      <c:valAx>
        <c:axId val="2094734552"/>
        <c:scaling>
          <c:orientation val="minMax"/>
          <c:max val="0.3"/>
          <c:min val="0"/>
        </c:scaling>
        <c:delete val="0"/>
        <c:axPos val="l"/>
        <c:majorGridlines>
          <c:spPr>
            <a:ln w="6350" cap="flat">
              <a:solidFill>
                <a:srgbClr val="E6DC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7A6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7A6A5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Our pipeline</c:v>
                </c:pt>
              </c:strCache>
            </c:strRef>
          </c:tx>
          <c:spPr>
            <a:solidFill>
              <a:srgbClr val="4A6B4F"/>
            </a:solidFill>
            <a:effectLst/>
          </c:spPr>
          <c:invertIfNegative val="0"/>
          <c:dLbls>
            <c:numFmt formatCode="0.000" sourceLinked="0"/>
            <c:spPr>
              <a:noFill/>
              <a:ln>
                <a:noFill/>
              </a:ln>
              <a:effectLst/>
            </c:spPr>
            <c:txPr>
              <a:bodyPr/>
              <a:lstStyle/>
              <a:p>
                <a:pPr>
                  <a:defRPr sz="1050" b="1" i="0" u="none" strike="noStrike">
                    <a:solidFill>
                      <a:srgbClr val="5C4A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Customer Support</c:v>
                </c:pt>
                <c:pt idx="1">
                  <c:v>Biomedical</c:v>
                </c:pt>
                <c:pt idx="2">
                  <c:v>Finance</c:v>
                </c:pt>
                <c:pt idx="3">
                  <c:v>General Knowledge</c:v>
                </c:pt>
                <c:pt idx="4">
                  <c:v>Legal</c:v>
                </c:pt>
              </c:strCache>
            </c:strRef>
          </c:cat>
          <c:val>
            <c:numRef>
              <c:f>Sheet1!$B$2:$B$6</c:f>
              <c:numCache>
                <c:formatCode>General</c:formatCode>
                <c:ptCount val="5"/>
                <c:pt idx="0">
                  <c:v>0.6996</c:v>
                </c:pt>
                <c:pt idx="1">
                  <c:v>0.80100000000000005</c:v>
                </c:pt>
                <c:pt idx="2">
                  <c:v>0.82540000000000002</c:v>
                </c:pt>
                <c:pt idx="3">
                  <c:v>0.87729999999999997</c:v>
                </c:pt>
                <c:pt idx="4">
                  <c:v>0.88249999999999995</c:v>
                </c:pt>
              </c:numCache>
            </c:numRef>
          </c:val>
          <c:extLst>
            <c:ext xmlns:c16="http://schemas.microsoft.com/office/drawing/2014/chart" uri="{C3380CC4-5D6E-409C-BE32-E72D297353CC}">
              <c16:uniqueId val="{00000000-1507-4928-BCE1-7E5B13137906}"/>
            </c:ext>
          </c:extLst>
        </c:ser>
        <c:ser>
          <c:idx val="1"/>
          <c:order val="1"/>
          <c:tx>
            <c:strRef>
              <c:f>Sheet1!$C$1</c:f>
              <c:strCache>
                <c:ptCount val="1"/>
                <c:pt idx="0">
                  <c:v>Reference</c:v>
                </c:pt>
              </c:strCache>
            </c:strRef>
          </c:tx>
          <c:spPr>
            <a:solidFill>
              <a:srgbClr val="C9B195"/>
            </a:solidFill>
            <a:effectLst/>
          </c:spPr>
          <c:invertIfNegative val="0"/>
          <c:dLbls>
            <c:numFmt formatCode="0.000" sourceLinked="0"/>
            <c:spPr>
              <a:noFill/>
              <a:ln>
                <a:noFill/>
              </a:ln>
              <a:effectLst/>
            </c:spPr>
            <c:txPr>
              <a:bodyPr/>
              <a:lstStyle/>
              <a:p>
                <a:pPr>
                  <a:defRPr sz="1050" b="1" i="0" u="none" strike="noStrike">
                    <a:solidFill>
                      <a:srgbClr val="5C4A38"/>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Customer Support</c:v>
                </c:pt>
                <c:pt idx="1">
                  <c:v>Biomedical</c:v>
                </c:pt>
                <c:pt idx="2">
                  <c:v>Finance</c:v>
                </c:pt>
                <c:pt idx="3">
                  <c:v>General Knowledge</c:v>
                </c:pt>
                <c:pt idx="4">
                  <c:v>Legal</c:v>
                </c:pt>
              </c:strCache>
            </c:strRef>
          </c:cat>
          <c:val>
            <c:numRef>
              <c:f>Sheet1!$C$2:$C$6</c:f>
              <c:numCache>
                <c:formatCode>General</c:formatCode>
                <c:ptCount val="5"/>
                <c:pt idx="0">
                  <c:v>0.60499999999999998</c:v>
                </c:pt>
                <c:pt idx="1">
                  <c:v>0.84</c:v>
                </c:pt>
                <c:pt idx="2">
                  <c:v>0.92</c:v>
                </c:pt>
                <c:pt idx="3">
                  <c:v>0.91500000000000004</c:v>
                </c:pt>
                <c:pt idx="4">
                  <c:v>0.90500000000000003</c:v>
                </c:pt>
              </c:numCache>
            </c:numRef>
          </c:val>
          <c:extLst>
            <c:ext xmlns:c16="http://schemas.microsoft.com/office/drawing/2014/chart" uri="{C3380CC4-5D6E-409C-BE32-E72D297353CC}">
              <c16:uniqueId val="{00000001-1507-4928-BCE1-7E5B1313790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6A5A"/>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6DC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7A6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7A6A5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Relevance RMSE</c:v>
                </c:pt>
              </c:strCache>
            </c:strRef>
          </c:tx>
          <c:spPr>
            <a:solidFill>
              <a:srgbClr val="4A6B4F"/>
            </a:solidFill>
            <a:effectLst/>
          </c:spPr>
          <c:invertIfNegative val="0"/>
          <c:cat>
            <c:strRef>
              <c:f>Sheet1!$A$2:$A$6</c:f>
              <c:strCache>
                <c:ptCount val="5"/>
                <c:pt idx="0">
                  <c:v>General Knowledge</c:v>
                </c:pt>
                <c:pt idx="1">
                  <c:v>Biomedical</c:v>
                </c:pt>
                <c:pt idx="2">
                  <c:v>Legal</c:v>
                </c:pt>
                <c:pt idx="3">
                  <c:v>Customer Support</c:v>
                </c:pt>
                <c:pt idx="4">
                  <c:v>Finance</c:v>
                </c:pt>
              </c:strCache>
            </c:strRef>
          </c:cat>
          <c:val>
            <c:numRef>
              <c:f>Sheet1!$B$2:$B$6</c:f>
              <c:numCache>
                <c:formatCode>General</c:formatCode>
                <c:ptCount val="5"/>
                <c:pt idx="0">
                  <c:v>0.1085</c:v>
                </c:pt>
                <c:pt idx="1">
                  <c:v>0.23980000000000001</c:v>
                </c:pt>
                <c:pt idx="2">
                  <c:v>0.2651</c:v>
                </c:pt>
                <c:pt idx="3">
                  <c:v>0.2732</c:v>
                </c:pt>
                <c:pt idx="4">
                  <c:v>0.32750000000000001</c:v>
                </c:pt>
              </c:numCache>
            </c:numRef>
          </c:val>
          <c:extLst>
            <c:ext xmlns:c16="http://schemas.microsoft.com/office/drawing/2014/chart" uri="{C3380CC4-5D6E-409C-BE32-E72D297353CC}">
              <c16:uniqueId val="{00000000-D7CE-46B2-B896-C8CC67746A78}"/>
            </c:ext>
          </c:extLst>
        </c:ser>
        <c:ser>
          <c:idx val="1"/>
          <c:order val="1"/>
          <c:tx>
            <c:strRef>
              <c:f>Sheet1!$C$1</c:f>
              <c:strCache>
                <c:ptCount val="1"/>
                <c:pt idx="0">
                  <c:v>Utilization RMSE</c:v>
                </c:pt>
              </c:strCache>
            </c:strRef>
          </c:tx>
          <c:spPr>
            <a:solidFill>
              <a:srgbClr val="7D9B76"/>
            </a:solidFill>
            <a:effectLst/>
          </c:spPr>
          <c:invertIfNegative val="0"/>
          <c:cat>
            <c:strRef>
              <c:f>Sheet1!$A$2:$A$6</c:f>
              <c:strCache>
                <c:ptCount val="5"/>
                <c:pt idx="0">
                  <c:v>General Knowledge</c:v>
                </c:pt>
                <c:pt idx="1">
                  <c:v>Biomedical</c:v>
                </c:pt>
                <c:pt idx="2">
                  <c:v>Legal</c:v>
                </c:pt>
                <c:pt idx="3">
                  <c:v>Customer Support</c:v>
                </c:pt>
                <c:pt idx="4">
                  <c:v>Finance</c:v>
                </c:pt>
              </c:strCache>
            </c:strRef>
          </c:cat>
          <c:val>
            <c:numRef>
              <c:f>Sheet1!$C$2:$C$6</c:f>
              <c:numCache>
                <c:formatCode>General</c:formatCode>
                <c:ptCount val="5"/>
                <c:pt idx="0">
                  <c:v>8.3199999999999996E-2</c:v>
                </c:pt>
                <c:pt idx="1">
                  <c:v>0.19320000000000001</c:v>
                </c:pt>
                <c:pt idx="2">
                  <c:v>0.1346</c:v>
                </c:pt>
                <c:pt idx="3">
                  <c:v>0.1762</c:v>
                </c:pt>
                <c:pt idx="4">
                  <c:v>0.28149999999999997</c:v>
                </c:pt>
              </c:numCache>
            </c:numRef>
          </c:val>
          <c:extLst>
            <c:ext xmlns:c16="http://schemas.microsoft.com/office/drawing/2014/chart" uri="{C3380CC4-5D6E-409C-BE32-E72D297353CC}">
              <c16:uniqueId val="{00000001-D7CE-46B2-B896-C8CC67746A78}"/>
            </c:ext>
          </c:extLst>
        </c:ser>
        <c:ser>
          <c:idx val="2"/>
          <c:order val="2"/>
          <c:tx>
            <c:strRef>
              <c:f>Sheet1!$D$1</c:f>
              <c:strCache>
                <c:ptCount val="1"/>
                <c:pt idx="0">
                  <c:v>Completeness RMSE</c:v>
                </c:pt>
              </c:strCache>
            </c:strRef>
          </c:tx>
          <c:spPr>
            <a:solidFill>
              <a:srgbClr val="8C6E52"/>
            </a:solidFill>
            <a:effectLst/>
          </c:spPr>
          <c:invertIfNegative val="0"/>
          <c:cat>
            <c:strRef>
              <c:f>Sheet1!$A$2:$A$6</c:f>
              <c:strCache>
                <c:ptCount val="5"/>
                <c:pt idx="0">
                  <c:v>General Knowledge</c:v>
                </c:pt>
                <c:pt idx="1">
                  <c:v>Biomedical</c:v>
                </c:pt>
                <c:pt idx="2">
                  <c:v>Legal</c:v>
                </c:pt>
                <c:pt idx="3">
                  <c:v>Customer Support</c:v>
                </c:pt>
                <c:pt idx="4">
                  <c:v>Finance</c:v>
                </c:pt>
              </c:strCache>
            </c:strRef>
          </c:cat>
          <c:val>
            <c:numRef>
              <c:f>Sheet1!$D$2:$D$6</c:f>
              <c:numCache>
                <c:formatCode>General</c:formatCode>
                <c:ptCount val="5"/>
                <c:pt idx="0">
                  <c:v>0.37819999999999998</c:v>
                </c:pt>
                <c:pt idx="1">
                  <c:v>0.46050000000000002</c:v>
                </c:pt>
                <c:pt idx="2">
                  <c:v>0.69110000000000005</c:v>
                </c:pt>
                <c:pt idx="3">
                  <c:v>0.6179</c:v>
                </c:pt>
                <c:pt idx="4">
                  <c:v>0.4496</c:v>
                </c:pt>
              </c:numCache>
            </c:numRef>
          </c:val>
          <c:extLst>
            <c:ext xmlns:c16="http://schemas.microsoft.com/office/drawing/2014/chart" uri="{C3380CC4-5D6E-409C-BE32-E72D297353CC}">
              <c16:uniqueId val="{00000002-D7CE-46B2-B896-C8CC67746A7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A6A5A"/>
                </a:solidFill>
                <a:latin typeface="Calibri"/>
              </a:defRPr>
            </a:pPr>
            <a:endParaRPr lang="en-US"/>
          </a:p>
        </c:txPr>
        <c:crossAx val="2094734552"/>
        <c:crosses val="autoZero"/>
        <c:auto val="1"/>
        <c:lblAlgn val="ctr"/>
        <c:lblOffset val="100"/>
        <c:noMultiLvlLbl val="1"/>
      </c:catAx>
      <c:valAx>
        <c:axId val="2094734552"/>
        <c:scaling>
          <c:orientation val="minMax"/>
          <c:max val="0.8"/>
          <c:min val="0"/>
        </c:scaling>
        <c:delete val="0"/>
        <c:axPos val="l"/>
        <c:majorGridlines>
          <c:spPr>
            <a:ln w="6350" cap="flat">
              <a:solidFill>
                <a:srgbClr val="E6DCC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7A6A5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7A6A5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73012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 D exists because every item in it was added after its absence cost us a completed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DE879-F269-7F98-BD5B-192CDC6BA0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55BF4-3CEC-8E9D-B1E0-595E1B7C03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637EF-CA8B-142A-DEAB-B20308F95C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3AE29D-A275-DA30-2217-AF36CDE2300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758590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804DB-60D7-ACEF-E8B2-815E330A34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70007A-BD87-259D-575C-FDE280823C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5AF2F3-8B46-DD7A-5510-148D1EAC33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7E1D4C-F452-0085-C5EF-11E9C231046A}"/>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6163955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F75DE-EB50-447E-1B18-D385E1B8E8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203506-3979-C013-3C40-39E628BF91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BA454-3E41-05FC-90B5-87A0B9E92E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4BF6CF-D3E6-144F-FB0D-00EB4C9D6C97}"/>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270173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75DB1-4F2F-97E9-7382-0BDDA3D592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9D91-83B8-28B5-701F-283E0A676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0B5472-CD16-60D4-027B-7E0DA6D506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3D43E8-441A-C1C8-1801-3FEA09A5D2DE}"/>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751986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FC08E-4B16-86B9-9A09-31D11E1C4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C693EA-60D5-F4D7-5F0D-993894FFA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754A5E-95D0-888E-984D-F74F2D09CEB0}"/>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974D999D-1D8A-D41A-2F3A-8F2B0AD7626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5587284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2652B-2A28-C7B3-4BD8-C140CB793F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62679-8700-A414-9156-C54541520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A9DFF9-5A6B-0879-0C11-01FE77961C7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66C4B9-88AE-0213-66F3-7DFC6AB924A5}"/>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514330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06609-D5B5-56F6-82D1-5E9EA839F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29EF7-D916-10CF-561D-B30BF8D82E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3F10BC-41D3-0338-B426-581CA28F73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EEDF25-FE2F-EBF2-8A5A-BB03D6A940E0}"/>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401343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4A38"/>
        </a:solidFill>
        <a:effectLst/>
      </p:bgPr>
    </p:bg>
    <p:spTree>
      <p:nvGrpSpPr>
        <p:cNvPr id="1" name=""/>
        <p:cNvGrpSpPr/>
        <p:nvPr/>
      </p:nvGrpSpPr>
      <p:grpSpPr>
        <a:xfrm>
          <a:off x="0" y="0"/>
          <a:ext cx="0" cy="0"/>
          <a:chOff x="0" y="0"/>
          <a:chExt cx="0" cy="0"/>
        </a:xfrm>
      </p:grpSpPr>
      <p:sp>
        <p:nvSpPr>
          <p:cNvPr id="2" name="Shape 0"/>
          <p:cNvSpPr/>
          <p:nvPr/>
        </p:nvSpPr>
        <p:spPr>
          <a:xfrm>
            <a:off x="8778240" y="-2103120"/>
            <a:ext cx="5852160" cy="5852160"/>
          </a:xfrm>
          <a:prstGeom prst="ellipse">
            <a:avLst/>
          </a:prstGeom>
          <a:solidFill>
            <a:srgbClr val="8C6E52"/>
          </a:solidFill>
          <a:ln/>
        </p:spPr>
        <p:txBody>
          <a:bodyPr/>
          <a:lstStyle/>
          <a:p>
            <a:endParaRPr lang="en-IN"/>
          </a:p>
        </p:txBody>
      </p:sp>
      <p:sp>
        <p:nvSpPr>
          <p:cNvPr id="3" name="Shape 1"/>
          <p:cNvSpPr/>
          <p:nvPr/>
        </p:nvSpPr>
        <p:spPr>
          <a:xfrm>
            <a:off x="9966960" y="-914400"/>
            <a:ext cx="3291840" cy="3291840"/>
          </a:xfrm>
          <a:prstGeom prst="ellipse">
            <a:avLst/>
          </a:prstGeom>
          <a:solidFill>
            <a:srgbClr val="4A6B4F"/>
          </a:solidFill>
          <a:ln/>
        </p:spPr>
        <p:txBody>
          <a:bodyPr/>
          <a:lstStyle/>
          <a:p>
            <a:endParaRPr lang="en-IN"/>
          </a:p>
        </p:txBody>
      </p:sp>
      <p:sp>
        <p:nvSpPr>
          <p:cNvPr id="4" name="Shape 2"/>
          <p:cNvSpPr/>
          <p:nvPr/>
        </p:nvSpPr>
        <p:spPr>
          <a:xfrm>
            <a:off x="-2011680" y="4206240"/>
            <a:ext cx="4937760" cy="4937760"/>
          </a:xfrm>
          <a:prstGeom prst="ellipse">
            <a:avLst/>
          </a:prstGeom>
          <a:solidFill>
            <a:srgbClr val="8C6E52"/>
          </a:solidFill>
          <a:ln/>
        </p:spPr>
        <p:txBody>
          <a:bodyPr/>
          <a:lstStyle/>
          <a:p>
            <a:endParaRPr lang="en-IN"/>
          </a:p>
        </p:txBody>
      </p:sp>
      <p:sp>
        <p:nvSpPr>
          <p:cNvPr id="5" name="Text 3"/>
          <p:cNvSpPr/>
          <p:nvPr/>
        </p:nvSpPr>
        <p:spPr>
          <a:xfrm>
            <a:off x="777240" y="1371600"/>
            <a:ext cx="8229600" cy="365760"/>
          </a:xfrm>
          <a:prstGeom prst="rect">
            <a:avLst/>
          </a:prstGeom>
          <a:noFill/>
          <a:ln/>
        </p:spPr>
        <p:txBody>
          <a:bodyPr wrap="square" lIns="0" tIns="0" rIns="0" bIns="0" rtlCol="0" anchor="ctr"/>
          <a:lstStyle/>
          <a:p>
            <a:pPr marL="0" indent="0">
              <a:buNone/>
            </a:pPr>
            <a:r>
              <a:rPr lang="en-US" sz="1500" b="1" dirty="0">
                <a:solidFill>
                  <a:srgbClr val="A8C0A0"/>
                </a:solidFill>
                <a:latin typeface="Calibri" pitchFamily="34" charset="0"/>
                <a:ea typeface="Calibri" pitchFamily="34" charset="-122"/>
                <a:cs typeface="Calibri" pitchFamily="34" charset="-120"/>
              </a:rPr>
              <a:t>AIML PG-Level Capstone  ·  Batch 26</a:t>
            </a:r>
            <a:endParaRPr lang="en-US" sz="1500" dirty="0"/>
          </a:p>
        </p:txBody>
      </p:sp>
      <p:sp>
        <p:nvSpPr>
          <p:cNvPr id="6" name="Text 4"/>
          <p:cNvSpPr/>
          <p:nvPr/>
        </p:nvSpPr>
        <p:spPr>
          <a:xfrm>
            <a:off x="777240" y="1810512"/>
            <a:ext cx="9144000" cy="868680"/>
          </a:xfrm>
          <a:prstGeom prst="rect">
            <a:avLst/>
          </a:prstGeom>
          <a:noFill/>
          <a:ln/>
        </p:spPr>
        <p:txBody>
          <a:bodyPr wrap="square" lIns="0" tIns="0" rIns="0" bIns="0" rtlCol="0" anchor="ctr"/>
          <a:lstStyle/>
          <a:p>
            <a:pPr marL="0" indent="0">
              <a:buNone/>
            </a:pPr>
            <a:r>
              <a:rPr lang="en-US" sz="4600" b="1" dirty="0">
                <a:solidFill>
                  <a:srgbClr val="FFFFFF"/>
                </a:solidFill>
                <a:latin typeface="Georgia" pitchFamily="34" charset="0"/>
                <a:ea typeface="Georgia" pitchFamily="34" charset="-122"/>
                <a:cs typeface="Georgia" pitchFamily="34" charset="-120"/>
              </a:rPr>
              <a:t>Real-World RAG</a:t>
            </a:r>
            <a:endParaRPr lang="en-US" sz="4600" dirty="0"/>
          </a:p>
        </p:txBody>
      </p:sp>
      <p:sp>
        <p:nvSpPr>
          <p:cNvPr id="7" name="Text 5"/>
          <p:cNvSpPr/>
          <p:nvPr/>
        </p:nvSpPr>
        <p:spPr>
          <a:xfrm>
            <a:off x="777240" y="2724912"/>
            <a:ext cx="8595360" cy="914400"/>
          </a:xfrm>
          <a:prstGeom prst="rect">
            <a:avLst/>
          </a:prstGeom>
          <a:noFill/>
          <a:ln/>
        </p:spPr>
        <p:txBody>
          <a:bodyPr wrap="square" lIns="0" tIns="0" rIns="0" bIns="0" rtlCol="0" anchor="ctr"/>
          <a:lstStyle/>
          <a:p>
            <a:pPr marL="0" indent="0">
              <a:buNone/>
            </a:pPr>
            <a:r>
              <a:rPr lang="en-US" sz="1900" dirty="0">
                <a:solidFill>
                  <a:srgbClr val="C9B195"/>
                </a:solidFill>
                <a:latin typeface="Calibri" pitchFamily="34" charset="0"/>
                <a:ea typeface="Calibri" pitchFamily="34" charset="-122"/>
                <a:cs typeface="Calibri" pitchFamily="34" charset="-120"/>
              </a:rPr>
              <a:t>Building, Testing and Tuning Domain-Specific</a:t>
            </a:r>
            <a:endParaRPr lang="en-US" sz="1900" dirty="0"/>
          </a:p>
          <a:p>
            <a:pPr marL="0" indent="0">
              <a:buNone/>
            </a:pPr>
            <a:r>
              <a:rPr lang="en-US" sz="1900" dirty="0">
                <a:solidFill>
                  <a:srgbClr val="C9B195"/>
                </a:solidFill>
                <a:latin typeface="Calibri" pitchFamily="34" charset="0"/>
                <a:ea typeface="Calibri" pitchFamily="34" charset="-122"/>
                <a:cs typeface="Calibri" pitchFamily="34" charset="-120"/>
              </a:rPr>
              <a:t>Retrieval-Augmented Generation Pipelines</a:t>
            </a:r>
            <a:endParaRPr lang="en-US" sz="1900" dirty="0"/>
          </a:p>
        </p:txBody>
      </p:sp>
      <p:sp>
        <p:nvSpPr>
          <p:cNvPr id="8" name="Shape 6"/>
          <p:cNvSpPr/>
          <p:nvPr/>
        </p:nvSpPr>
        <p:spPr>
          <a:xfrm>
            <a:off x="777240" y="3886200"/>
            <a:ext cx="2834640" cy="41148"/>
          </a:xfrm>
          <a:prstGeom prst="rect">
            <a:avLst/>
          </a:prstGeom>
          <a:solidFill>
            <a:srgbClr val="A8C0A0"/>
          </a:solidFill>
          <a:ln/>
        </p:spPr>
        <p:txBody>
          <a:bodyPr/>
          <a:lstStyle/>
          <a:p>
            <a:endParaRPr lang="en-IN"/>
          </a:p>
        </p:txBody>
      </p:sp>
      <p:sp>
        <p:nvSpPr>
          <p:cNvPr id="9" name="Text 7"/>
          <p:cNvSpPr/>
          <p:nvPr/>
        </p:nvSpPr>
        <p:spPr>
          <a:xfrm>
            <a:off x="777240" y="4160520"/>
            <a:ext cx="9144000" cy="29260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Veenu Dandekar  ·  Sridhar Vedula  ·  Prerna Saratkar  ·  Rinku Rajput</a:t>
            </a:r>
            <a:endParaRPr lang="en-US" sz="1300" dirty="0"/>
          </a:p>
        </p:txBody>
      </p:sp>
      <p:sp>
        <p:nvSpPr>
          <p:cNvPr id="10" name="Text 8"/>
          <p:cNvSpPr/>
          <p:nvPr/>
        </p:nvSpPr>
        <p:spPr>
          <a:xfrm>
            <a:off x="777240" y="4498848"/>
            <a:ext cx="9144000" cy="292608"/>
          </a:xfrm>
          <a:prstGeom prst="rect">
            <a:avLst/>
          </a:prstGeom>
          <a:noFill/>
          <a:ln/>
        </p:spPr>
        <p:txBody>
          <a:bodyPr wrap="square" lIns="0" tIns="0" rIns="0" bIns="0" rtlCol="0" anchor="ctr"/>
          <a:lstStyle/>
          <a:p>
            <a:pPr marL="0" indent="0">
              <a:buNone/>
            </a:pPr>
            <a:r>
              <a:rPr lang="en-US" sz="1200" dirty="0">
                <a:solidFill>
                  <a:srgbClr val="F0E7DA"/>
                </a:solidFill>
                <a:latin typeface="Calibri" pitchFamily="34" charset="0"/>
                <a:ea typeface="Calibri" pitchFamily="34" charset="-122"/>
                <a:cs typeface="Calibri" pitchFamily="34" charset="-120"/>
              </a:rPr>
              <a:t>Supervisor: Dr. Manish Shrivastava     Mentors: Gopichand, Lokesh</a:t>
            </a:r>
            <a:endParaRPr lang="en-US" sz="1200" dirty="0"/>
          </a:p>
        </p:txBody>
      </p:sp>
      <p:pic>
        <p:nvPicPr>
          <p:cNvPr id="23" name="Picture 22">
            <a:extLst>
              <a:ext uri="{FF2B5EF4-FFF2-40B4-BE49-F238E27FC236}">
                <a16:creationId xmlns:a16="http://schemas.microsoft.com/office/drawing/2014/main" id="{66E7609C-E554-A52C-B222-75F4E97FE7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104454" y="5621401"/>
            <a:ext cx="1834815" cy="105371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What This Covers</a:t>
            </a:r>
            <a:endParaRPr lang="en-US" sz="2400" dirty="0"/>
          </a:p>
        </p:txBody>
      </p:sp>
      <p:sp>
        <p:nvSpPr>
          <p:cNvPr id="6" name="Shape 4"/>
          <p:cNvSpPr/>
          <p:nvPr/>
        </p:nvSpPr>
        <p:spPr>
          <a:xfrm>
            <a:off x="548640" y="1371600"/>
            <a:ext cx="5440680" cy="877824"/>
          </a:xfrm>
          <a:prstGeom prst="roundRect">
            <a:avLst>
              <a:gd name="adj" fmla="val 7292"/>
            </a:avLst>
          </a:prstGeom>
          <a:solidFill>
            <a:srgbClr val="FFFFFF"/>
          </a:solidFill>
          <a:ln w="9525">
            <a:solidFill>
              <a:srgbClr val="C9B195"/>
            </a:solidFill>
            <a:prstDash val="solid"/>
          </a:ln>
        </p:spPr>
        <p:txBody>
          <a:bodyPr/>
          <a:lstStyle/>
          <a:p>
            <a:endParaRPr lang="en-IN"/>
          </a:p>
        </p:txBody>
      </p:sp>
      <p:sp>
        <p:nvSpPr>
          <p:cNvPr id="7" name="Shape 5"/>
          <p:cNvSpPr/>
          <p:nvPr/>
        </p:nvSpPr>
        <p:spPr>
          <a:xfrm>
            <a:off x="694944" y="1527048"/>
            <a:ext cx="566928" cy="566928"/>
          </a:xfrm>
          <a:prstGeom prst="roundRect">
            <a:avLst>
              <a:gd name="adj" fmla="val 11290"/>
            </a:avLst>
          </a:prstGeom>
          <a:solidFill>
            <a:srgbClr val="4A6B4F"/>
          </a:solidFill>
          <a:ln/>
        </p:spPr>
        <p:txBody>
          <a:bodyPr/>
          <a:lstStyle/>
          <a:p>
            <a:endParaRPr lang="en-IN"/>
          </a:p>
        </p:txBody>
      </p:sp>
      <p:sp>
        <p:nvSpPr>
          <p:cNvPr id="8" name="Text 6"/>
          <p:cNvSpPr/>
          <p:nvPr/>
        </p:nvSpPr>
        <p:spPr>
          <a:xfrm>
            <a:off x="694944" y="1527048"/>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01</a:t>
            </a:r>
            <a:endParaRPr lang="en-US" sz="1400" dirty="0"/>
          </a:p>
        </p:txBody>
      </p:sp>
      <p:sp>
        <p:nvSpPr>
          <p:cNvPr id="9" name="Text 7"/>
          <p:cNvSpPr/>
          <p:nvPr/>
        </p:nvSpPr>
        <p:spPr>
          <a:xfrm>
            <a:off x="1389888" y="1499616"/>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Background &amp; the problem</a:t>
            </a:r>
            <a:endParaRPr lang="en-US" sz="1250" dirty="0"/>
          </a:p>
        </p:txBody>
      </p:sp>
      <p:sp>
        <p:nvSpPr>
          <p:cNvPr id="10" name="Text 8"/>
          <p:cNvSpPr/>
          <p:nvPr/>
        </p:nvSpPr>
        <p:spPr>
          <a:xfrm>
            <a:off x="1389888" y="1792224"/>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Why RAG, and what is actually unsolved</a:t>
            </a:r>
            <a:endParaRPr lang="en-US" sz="1000" dirty="0"/>
          </a:p>
        </p:txBody>
      </p:sp>
      <p:sp>
        <p:nvSpPr>
          <p:cNvPr id="11" name="Shape 9"/>
          <p:cNvSpPr/>
          <p:nvPr/>
        </p:nvSpPr>
        <p:spPr>
          <a:xfrm>
            <a:off x="6217920" y="1371600"/>
            <a:ext cx="5440680" cy="877824"/>
          </a:xfrm>
          <a:prstGeom prst="roundRect">
            <a:avLst>
              <a:gd name="adj" fmla="val 7292"/>
            </a:avLst>
          </a:prstGeom>
          <a:solidFill>
            <a:srgbClr val="F0E7DA"/>
          </a:solidFill>
          <a:ln w="9525">
            <a:solidFill>
              <a:srgbClr val="C9B195"/>
            </a:solidFill>
            <a:prstDash val="solid"/>
          </a:ln>
        </p:spPr>
        <p:txBody>
          <a:bodyPr/>
          <a:lstStyle/>
          <a:p>
            <a:endParaRPr lang="en-IN"/>
          </a:p>
        </p:txBody>
      </p:sp>
      <p:sp>
        <p:nvSpPr>
          <p:cNvPr id="12" name="Shape 10"/>
          <p:cNvSpPr/>
          <p:nvPr/>
        </p:nvSpPr>
        <p:spPr>
          <a:xfrm>
            <a:off x="6364224" y="1527048"/>
            <a:ext cx="566928" cy="566928"/>
          </a:xfrm>
          <a:prstGeom prst="roundRect">
            <a:avLst>
              <a:gd name="adj" fmla="val 11290"/>
            </a:avLst>
          </a:prstGeom>
          <a:solidFill>
            <a:srgbClr val="4A6B4F"/>
          </a:solidFill>
          <a:ln/>
        </p:spPr>
        <p:txBody>
          <a:bodyPr/>
          <a:lstStyle/>
          <a:p>
            <a:endParaRPr lang="en-IN"/>
          </a:p>
        </p:txBody>
      </p:sp>
      <p:sp>
        <p:nvSpPr>
          <p:cNvPr id="13" name="Text 11"/>
          <p:cNvSpPr/>
          <p:nvPr/>
        </p:nvSpPr>
        <p:spPr>
          <a:xfrm>
            <a:off x="6364224" y="1527048"/>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02</a:t>
            </a:r>
            <a:endParaRPr lang="en-US" sz="1400" dirty="0"/>
          </a:p>
        </p:txBody>
      </p:sp>
      <p:sp>
        <p:nvSpPr>
          <p:cNvPr id="14" name="Text 12"/>
          <p:cNvSpPr/>
          <p:nvPr/>
        </p:nvSpPr>
        <p:spPr>
          <a:xfrm>
            <a:off x="7059168" y="1499616"/>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Datasets &amp; benchmarks</a:t>
            </a:r>
            <a:endParaRPr lang="en-US" sz="1250" dirty="0"/>
          </a:p>
        </p:txBody>
      </p:sp>
      <p:sp>
        <p:nvSpPr>
          <p:cNvPr id="15" name="Text 13"/>
          <p:cNvSpPr/>
          <p:nvPr/>
        </p:nvSpPr>
        <p:spPr>
          <a:xfrm>
            <a:off x="7059168" y="1792224"/>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RAGBench and RGB, and why both are needed</a:t>
            </a:r>
            <a:endParaRPr lang="en-US" sz="1000" dirty="0"/>
          </a:p>
        </p:txBody>
      </p:sp>
      <p:sp>
        <p:nvSpPr>
          <p:cNvPr id="16" name="Shape 14"/>
          <p:cNvSpPr/>
          <p:nvPr/>
        </p:nvSpPr>
        <p:spPr>
          <a:xfrm>
            <a:off x="548640" y="2359152"/>
            <a:ext cx="5440680" cy="877824"/>
          </a:xfrm>
          <a:prstGeom prst="roundRect">
            <a:avLst>
              <a:gd name="adj" fmla="val 7292"/>
            </a:avLst>
          </a:prstGeom>
          <a:solidFill>
            <a:srgbClr val="FFFFFF"/>
          </a:solidFill>
          <a:ln w="9525">
            <a:solidFill>
              <a:srgbClr val="C9B195"/>
            </a:solidFill>
            <a:prstDash val="solid"/>
          </a:ln>
        </p:spPr>
        <p:txBody>
          <a:bodyPr/>
          <a:lstStyle/>
          <a:p>
            <a:endParaRPr lang="en-IN"/>
          </a:p>
        </p:txBody>
      </p:sp>
      <p:sp>
        <p:nvSpPr>
          <p:cNvPr id="17" name="Shape 15"/>
          <p:cNvSpPr/>
          <p:nvPr/>
        </p:nvSpPr>
        <p:spPr>
          <a:xfrm>
            <a:off x="694944" y="2514600"/>
            <a:ext cx="566928" cy="566928"/>
          </a:xfrm>
          <a:prstGeom prst="roundRect">
            <a:avLst>
              <a:gd name="adj" fmla="val 11290"/>
            </a:avLst>
          </a:prstGeom>
          <a:solidFill>
            <a:srgbClr val="4A6B4F"/>
          </a:solidFill>
          <a:ln/>
        </p:spPr>
        <p:txBody>
          <a:bodyPr/>
          <a:lstStyle/>
          <a:p>
            <a:endParaRPr lang="en-IN"/>
          </a:p>
        </p:txBody>
      </p:sp>
      <p:sp>
        <p:nvSpPr>
          <p:cNvPr id="18" name="Text 16"/>
          <p:cNvSpPr/>
          <p:nvPr/>
        </p:nvSpPr>
        <p:spPr>
          <a:xfrm>
            <a:off x="694944" y="2514600"/>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03</a:t>
            </a:r>
            <a:endParaRPr lang="en-US" sz="1400" dirty="0"/>
          </a:p>
        </p:txBody>
      </p:sp>
      <p:sp>
        <p:nvSpPr>
          <p:cNvPr id="19" name="Text 17"/>
          <p:cNvSpPr/>
          <p:nvPr/>
        </p:nvSpPr>
        <p:spPr>
          <a:xfrm>
            <a:off x="1389888" y="2487168"/>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Pipeline architecture</a:t>
            </a:r>
            <a:endParaRPr lang="en-US" sz="1250" dirty="0"/>
          </a:p>
        </p:txBody>
      </p:sp>
      <p:sp>
        <p:nvSpPr>
          <p:cNvPr id="20" name="Text 18"/>
          <p:cNvSpPr/>
          <p:nvPr/>
        </p:nvSpPr>
        <p:spPr>
          <a:xfrm>
            <a:off x="1389888" y="2779776"/>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The full system, stage by stage</a:t>
            </a:r>
            <a:endParaRPr lang="en-US" sz="1000" dirty="0"/>
          </a:p>
        </p:txBody>
      </p:sp>
      <p:sp>
        <p:nvSpPr>
          <p:cNvPr id="21" name="Shape 19"/>
          <p:cNvSpPr/>
          <p:nvPr/>
        </p:nvSpPr>
        <p:spPr>
          <a:xfrm>
            <a:off x="6217920" y="2359152"/>
            <a:ext cx="5440680" cy="877824"/>
          </a:xfrm>
          <a:prstGeom prst="roundRect">
            <a:avLst>
              <a:gd name="adj" fmla="val 7292"/>
            </a:avLst>
          </a:prstGeom>
          <a:solidFill>
            <a:srgbClr val="F0E7DA"/>
          </a:solidFill>
          <a:ln w="9525">
            <a:solidFill>
              <a:srgbClr val="C9B195"/>
            </a:solidFill>
            <a:prstDash val="solid"/>
          </a:ln>
        </p:spPr>
        <p:txBody>
          <a:bodyPr/>
          <a:lstStyle/>
          <a:p>
            <a:endParaRPr lang="en-IN"/>
          </a:p>
        </p:txBody>
      </p:sp>
      <p:sp>
        <p:nvSpPr>
          <p:cNvPr id="22" name="Shape 20"/>
          <p:cNvSpPr/>
          <p:nvPr/>
        </p:nvSpPr>
        <p:spPr>
          <a:xfrm>
            <a:off x="6364224" y="2514600"/>
            <a:ext cx="566928" cy="566928"/>
          </a:xfrm>
          <a:prstGeom prst="roundRect">
            <a:avLst>
              <a:gd name="adj" fmla="val 11290"/>
            </a:avLst>
          </a:prstGeom>
          <a:solidFill>
            <a:srgbClr val="4A6B4F"/>
          </a:solidFill>
          <a:ln/>
        </p:spPr>
        <p:txBody>
          <a:bodyPr/>
          <a:lstStyle/>
          <a:p>
            <a:endParaRPr lang="en-IN"/>
          </a:p>
        </p:txBody>
      </p:sp>
      <p:sp>
        <p:nvSpPr>
          <p:cNvPr id="23" name="Text 21"/>
          <p:cNvSpPr/>
          <p:nvPr/>
        </p:nvSpPr>
        <p:spPr>
          <a:xfrm>
            <a:off x="6364224" y="2514600"/>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04</a:t>
            </a:r>
            <a:endParaRPr lang="en-US" sz="1400" dirty="0"/>
          </a:p>
        </p:txBody>
      </p:sp>
      <p:sp>
        <p:nvSpPr>
          <p:cNvPr id="24" name="Text 22"/>
          <p:cNvSpPr/>
          <p:nvPr/>
        </p:nvSpPr>
        <p:spPr>
          <a:xfrm>
            <a:off x="7059168" y="2487168"/>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Methodology</a:t>
            </a:r>
            <a:endParaRPr lang="en-US" sz="1250" dirty="0"/>
          </a:p>
        </p:txBody>
      </p:sp>
      <p:sp>
        <p:nvSpPr>
          <p:cNvPr id="25" name="Text 23"/>
          <p:cNvSpPr/>
          <p:nvPr/>
        </p:nvSpPr>
        <p:spPr>
          <a:xfrm>
            <a:off x="7059168" y="2779776"/>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96-configuration sweep, stage-wise elimination</a:t>
            </a:r>
            <a:endParaRPr lang="en-US" sz="1000" dirty="0"/>
          </a:p>
        </p:txBody>
      </p:sp>
      <p:sp>
        <p:nvSpPr>
          <p:cNvPr id="26" name="Shape 24"/>
          <p:cNvSpPr/>
          <p:nvPr/>
        </p:nvSpPr>
        <p:spPr>
          <a:xfrm>
            <a:off x="548640" y="3346704"/>
            <a:ext cx="5440680" cy="877824"/>
          </a:xfrm>
          <a:prstGeom prst="roundRect">
            <a:avLst>
              <a:gd name="adj" fmla="val 7292"/>
            </a:avLst>
          </a:prstGeom>
          <a:solidFill>
            <a:srgbClr val="FFFFFF"/>
          </a:solidFill>
          <a:ln w="9525">
            <a:solidFill>
              <a:srgbClr val="C9B195"/>
            </a:solidFill>
            <a:prstDash val="solid"/>
          </a:ln>
        </p:spPr>
        <p:txBody>
          <a:bodyPr/>
          <a:lstStyle/>
          <a:p>
            <a:endParaRPr lang="en-IN"/>
          </a:p>
        </p:txBody>
      </p:sp>
      <p:sp>
        <p:nvSpPr>
          <p:cNvPr id="27" name="Shape 25"/>
          <p:cNvSpPr/>
          <p:nvPr/>
        </p:nvSpPr>
        <p:spPr>
          <a:xfrm>
            <a:off x="694944" y="3502152"/>
            <a:ext cx="566928" cy="566928"/>
          </a:xfrm>
          <a:prstGeom prst="roundRect">
            <a:avLst>
              <a:gd name="adj" fmla="val 11290"/>
            </a:avLst>
          </a:prstGeom>
          <a:solidFill>
            <a:srgbClr val="4A6B4F"/>
          </a:solidFill>
          <a:ln/>
        </p:spPr>
        <p:txBody>
          <a:bodyPr/>
          <a:lstStyle/>
          <a:p>
            <a:endParaRPr lang="en-IN"/>
          </a:p>
        </p:txBody>
      </p:sp>
      <p:sp>
        <p:nvSpPr>
          <p:cNvPr id="28" name="Text 26"/>
          <p:cNvSpPr/>
          <p:nvPr/>
        </p:nvSpPr>
        <p:spPr>
          <a:xfrm>
            <a:off x="694944" y="3502152"/>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05</a:t>
            </a:r>
            <a:endParaRPr lang="en-US" sz="1400" dirty="0"/>
          </a:p>
        </p:txBody>
      </p:sp>
      <p:sp>
        <p:nvSpPr>
          <p:cNvPr id="29" name="Text 27"/>
          <p:cNvSpPr/>
          <p:nvPr/>
        </p:nvSpPr>
        <p:spPr>
          <a:xfrm>
            <a:off x="1389888" y="3474720"/>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Evaluation &amp; the judge rule</a:t>
            </a:r>
            <a:endParaRPr lang="en-US" sz="1250" dirty="0"/>
          </a:p>
        </p:txBody>
      </p:sp>
      <p:sp>
        <p:nvSpPr>
          <p:cNvPr id="30" name="Text 28"/>
          <p:cNvSpPr/>
          <p:nvPr/>
        </p:nvSpPr>
        <p:spPr>
          <a:xfrm>
            <a:off x="1389888" y="3767328"/>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TRACe metrics and judge-stronger-than-generator</a:t>
            </a:r>
            <a:endParaRPr lang="en-US" sz="1000" dirty="0"/>
          </a:p>
        </p:txBody>
      </p:sp>
      <p:sp>
        <p:nvSpPr>
          <p:cNvPr id="31" name="Shape 29"/>
          <p:cNvSpPr/>
          <p:nvPr/>
        </p:nvSpPr>
        <p:spPr>
          <a:xfrm>
            <a:off x="6217920" y="3346704"/>
            <a:ext cx="5440680" cy="877824"/>
          </a:xfrm>
          <a:prstGeom prst="roundRect">
            <a:avLst>
              <a:gd name="adj" fmla="val 7292"/>
            </a:avLst>
          </a:prstGeom>
          <a:solidFill>
            <a:srgbClr val="F0E7DA"/>
          </a:solidFill>
          <a:ln w="9525">
            <a:solidFill>
              <a:srgbClr val="C9B195"/>
            </a:solidFill>
            <a:prstDash val="solid"/>
          </a:ln>
        </p:spPr>
        <p:txBody>
          <a:bodyPr/>
          <a:lstStyle/>
          <a:p>
            <a:endParaRPr lang="en-IN"/>
          </a:p>
        </p:txBody>
      </p:sp>
      <p:sp>
        <p:nvSpPr>
          <p:cNvPr id="32" name="Shape 30"/>
          <p:cNvSpPr/>
          <p:nvPr/>
        </p:nvSpPr>
        <p:spPr>
          <a:xfrm>
            <a:off x="6364224" y="3502152"/>
            <a:ext cx="566928" cy="566928"/>
          </a:xfrm>
          <a:prstGeom prst="roundRect">
            <a:avLst>
              <a:gd name="adj" fmla="val 11290"/>
            </a:avLst>
          </a:prstGeom>
          <a:solidFill>
            <a:srgbClr val="8C6E52"/>
          </a:solidFill>
          <a:ln/>
        </p:spPr>
        <p:txBody>
          <a:bodyPr/>
          <a:lstStyle/>
          <a:p>
            <a:endParaRPr lang="en-IN"/>
          </a:p>
        </p:txBody>
      </p:sp>
      <p:sp>
        <p:nvSpPr>
          <p:cNvPr id="33" name="Text 31"/>
          <p:cNvSpPr/>
          <p:nvPr/>
        </p:nvSpPr>
        <p:spPr>
          <a:xfrm>
            <a:off x="6364224" y="3502152"/>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06</a:t>
            </a:r>
            <a:endParaRPr lang="en-US" sz="1400" dirty="0"/>
          </a:p>
        </p:txBody>
      </p:sp>
      <p:sp>
        <p:nvSpPr>
          <p:cNvPr id="34" name="Text 32"/>
          <p:cNvSpPr/>
          <p:nvPr/>
        </p:nvSpPr>
        <p:spPr>
          <a:xfrm>
            <a:off x="7059168" y="3474720"/>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Results by domain</a:t>
            </a:r>
            <a:endParaRPr lang="en-US" sz="1250" dirty="0"/>
          </a:p>
        </p:txBody>
      </p:sp>
      <p:sp>
        <p:nvSpPr>
          <p:cNvPr id="35" name="Text 33"/>
          <p:cNvSpPr/>
          <p:nvPr/>
        </p:nvSpPr>
        <p:spPr>
          <a:xfrm>
            <a:off x="7059168" y="3767328"/>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Locked configurations and final scores</a:t>
            </a:r>
            <a:endParaRPr lang="en-US" sz="1000" dirty="0"/>
          </a:p>
        </p:txBody>
      </p:sp>
      <p:sp>
        <p:nvSpPr>
          <p:cNvPr id="36" name="Shape 34"/>
          <p:cNvSpPr/>
          <p:nvPr/>
        </p:nvSpPr>
        <p:spPr>
          <a:xfrm>
            <a:off x="548640" y="4334256"/>
            <a:ext cx="5440680" cy="877824"/>
          </a:xfrm>
          <a:prstGeom prst="roundRect">
            <a:avLst>
              <a:gd name="adj" fmla="val 7292"/>
            </a:avLst>
          </a:prstGeom>
          <a:solidFill>
            <a:srgbClr val="FFFFFF"/>
          </a:solidFill>
          <a:ln w="9525">
            <a:solidFill>
              <a:srgbClr val="C9B195"/>
            </a:solidFill>
            <a:prstDash val="solid"/>
          </a:ln>
        </p:spPr>
        <p:txBody>
          <a:bodyPr/>
          <a:lstStyle/>
          <a:p>
            <a:endParaRPr lang="en-IN"/>
          </a:p>
        </p:txBody>
      </p:sp>
      <p:sp>
        <p:nvSpPr>
          <p:cNvPr id="37" name="Shape 35"/>
          <p:cNvSpPr/>
          <p:nvPr/>
        </p:nvSpPr>
        <p:spPr>
          <a:xfrm>
            <a:off x="694944" y="4489704"/>
            <a:ext cx="566928" cy="566928"/>
          </a:xfrm>
          <a:prstGeom prst="roundRect">
            <a:avLst>
              <a:gd name="adj" fmla="val 11290"/>
            </a:avLst>
          </a:prstGeom>
          <a:solidFill>
            <a:srgbClr val="8C6E52"/>
          </a:solidFill>
          <a:ln/>
        </p:spPr>
        <p:txBody>
          <a:bodyPr/>
          <a:lstStyle/>
          <a:p>
            <a:endParaRPr lang="en-IN"/>
          </a:p>
        </p:txBody>
      </p:sp>
      <p:sp>
        <p:nvSpPr>
          <p:cNvPr id="38" name="Text 36"/>
          <p:cNvSpPr/>
          <p:nvPr/>
        </p:nvSpPr>
        <p:spPr>
          <a:xfrm>
            <a:off x="694944" y="4489704"/>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07</a:t>
            </a:r>
            <a:endParaRPr lang="en-US" sz="1400" dirty="0"/>
          </a:p>
        </p:txBody>
      </p:sp>
      <p:sp>
        <p:nvSpPr>
          <p:cNvPr id="39" name="Text 37"/>
          <p:cNvSpPr/>
          <p:nvPr/>
        </p:nvSpPr>
        <p:spPr>
          <a:xfrm>
            <a:off x="1389888" y="4462272"/>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Comparisons</a:t>
            </a:r>
            <a:endParaRPr lang="en-US" sz="1250" dirty="0"/>
          </a:p>
        </p:txBody>
      </p:sp>
      <p:sp>
        <p:nvSpPr>
          <p:cNvPr id="40" name="Text 38"/>
          <p:cNvSpPr/>
          <p:nvPr/>
        </p:nvSpPr>
        <p:spPr>
          <a:xfrm>
            <a:off x="1389888" y="4754880"/>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Component leverage and cross-domain patterns</a:t>
            </a:r>
            <a:endParaRPr lang="en-US" sz="1000" dirty="0"/>
          </a:p>
        </p:txBody>
      </p:sp>
      <p:sp>
        <p:nvSpPr>
          <p:cNvPr id="41" name="Shape 39"/>
          <p:cNvSpPr/>
          <p:nvPr/>
        </p:nvSpPr>
        <p:spPr>
          <a:xfrm>
            <a:off x="6217920" y="4334256"/>
            <a:ext cx="5440680" cy="877824"/>
          </a:xfrm>
          <a:prstGeom prst="roundRect">
            <a:avLst>
              <a:gd name="adj" fmla="val 7292"/>
            </a:avLst>
          </a:prstGeom>
          <a:solidFill>
            <a:srgbClr val="F0E7DA"/>
          </a:solidFill>
          <a:ln w="9525">
            <a:solidFill>
              <a:srgbClr val="C9B195"/>
            </a:solidFill>
            <a:prstDash val="solid"/>
          </a:ln>
        </p:spPr>
        <p:txBody>
          <a:bodyPr/>
          <a:lstStyle/>
          <a:p>
            <a:endParaRPr lang="en-IN"/>
          </a:p>
        </p:txBody>
      </p:sp>
      <p:sp>
        <p:nvSpPr>
          <p:cNvPr id="42" name="Shape 40"/>
          <p:cNvSpPr/>
          <p:nvPr/>
        </p:nvSpPr>
        <p:spPr>
          <a:xfrm>
            <a:off x="6364224" y="4489704"/>
            <a:ext cx="566928" cy="566928"/>
          </a:xfrm>
          <a:prstGeom prst="roundRect">
            <a:avLst>
              <a:gd name="adj" fmla="val 11290"/>
            </a:avLst>
          </a:prstGeom>
          <a:solidFill>
            <a:srgbClr val="8C6E52"/>
          </a:solidFill>
          <a:ln/>
        </p:spPr>
        <p:txBody>
          <a:bodyPr/>
          <a:lstStyle/>
          <a:p>
            <a:endParaRPr lang="en-IN"/>
          </a:p>
        </p:txBody>
      </p:sp>
      <p:sp>
        <p:nvSpPr>
          <p:cNvPr id="43" name="Text 41"/>
          <p:cNvSpPr/>
          <p:nvPr/>
        </p:nvSpPr>
        <p:spPr>
          <a:xfrm>
            <a:off x="6364224" y="4489704"/>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08</a:t>
            </a:r>
            <a:endParaRPr lang="en-US" sz="1400" dirty="0"/>
          </a:p>
        </p:txBody>
      </p:sp>
      <p:sp>
        <p:nvSpPr>
          <p:cNvPr id="44" name="Text 42"/>
          <p:cNvSpPr/>
          <p:nvPr/>
        </p:nvSpPr>
        <p:spPr>
          <a:xfrm>
            <a:off x="7059168" y="4462272"/>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RGB robustness</a:t>
            </a:r>
            <a:endParaRPr lang="en-US" sz="1250" dirty="0"/>
          </a:p>
        </p:txBody>
      </p:sp>
      <p:sp>
        <p:nvSpPr>
          <p:cNvPr id="45" name="Text 43"/>
          <p:cNvSpPr/>
          <p:nvPr/>
        </p:nvSpPr>
        <p:spPr>
          <a:xfrm>
            <a:off x="7059168" y="4754880"/>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Behaviour when retrieval fails</a:t>
            </a:r>
            <a:endParaRPr lang="en-US" sz="1000" dirty="0"/>
          </a:p>
        </p:txBody>
      </p:sp>
      <p:sp>
        <p:nvSpPr>
          <p:cNvPr id="46" name="Shape 44"/>
          <p:cNvSpPr/>
          <p:nvPr/>
        </p:nvSpPr>
        <p:spPr>
          <a:xfrm>
            <a:off x="548640" y="5321808"/>
            <a:ext cx="5440680" cy="877824"/>
          </a:xfrm>
          <a:prstGeom prst="roundRect">
            <a:avLst>
              <a:gd name="adj" fmla="val 7292"/>
            </a:avLst>
          </a:prstGeom>
          <a:solidFill>
            <a:srgbClr val="FFFFFF"/>
          </a:solidFill>
          <a:ln w="9525">
            <a:solidFill>
              <a:srgbClr val="C9B195"/>
            </a:solidFill>
            <a:prstDash val="solid"/>
          </a:ln>
        </p:spPr>
        <p:txBody>
          <a:bodyPr/>
          <a:lstStyle/>
          <a:p>
            <a:endParaRPr lang="en-IN"/>
          </a:p>
        </p:txBody>
      </p:sp>
      <p:sp>
        <p:nvSpPr>
          <p:cNvPr id="47" name="Shape 45"/>
          <p:cNvSpPr/>
          <p:nvPr/>
        </p:nvSpPr>
        <p:spPr>
          <a:xfrm>
            <a:off x="694944" y="5477256"/>
            <a:ext cx="566928" cy="566928"/>
          </a:xfrm>
          <a:prstGeom prst="roundRect">
            <a:avLst>
              <a:gd name="adj" fmla="val 11290"/>
            </a:avLst>
          </a:prstGeom>
          <a:solidFill>
            <a:srgbClr val="8C6E52"/>
          </a:solidFill>
          <a:ln/>
        </p:spPr>
        <p:txBody>
          <a:bodyPr/>
          <a:lstStyle/>
          <a:p>
            <a:endParaRPr lang="en-IN"/>
          </a:p>
        </p:txBody>
      </p:sp>
      <p:sp>
        <p:nvSpPr>
          <p:cNvPr id="48" name="Text 46"/>
          <p:cNvSpPr/>
          <p:nvPr/>
        </p:nvSpPr>
        <p:spPr>
          <a:xfrm>
            <a:off x="694944" y="5477256"/>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09</a:t>
            </a:r>
            <a:endParaRPr lang="en-US" sz="1400" dirty="0"/>
          </a:p>
        </p:txBody>
      </p:sp>
      <p:sp>
        <p:nvSpPr>
          <p:cNvPr id="49" name="Text 47"/>
          <p:cNvSpPr/>
          <p:nvPr/>
        </p:nvSpPr>
        <p:spPr>
          <a:xfrm>
            <a:off x="1389888" y="5449824"/>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Deployment</a:t>
            </a:r>
            <a:endParaRPr lang="en-US" sz="1250" dirty="0"/>
          </a:p>
        </p:txBody>
      </p:sp>
      <p:sp>
        <p:nvSpPr>
          <p:cNvPr id="50" name="Text 48"/>
          <p:cNvSpPr/>
          <p:nvPr/>
        </p:nvSpPr>
        <p:spPr>
          <a:xfrm>
            <a:off x="1389888" y="5742432"/>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The working demo</a:t>
            </a:r>
            <a:endParaRPr lang="en-US" sz="1000" dirty="0"/>
          </a:p>
        </p:txBody>
      </p:sp>
      <p:sp>
        <p:nvSpPr>
          <p:cNvPr id="51" name="Shape 49"/>
          <p:cNvSpPr/>
          <p:nvPr/>
        </p:nvSpPr>
        <p:spPr>
          <a:xfrm>
            <a:off x="6217920" y="5321808"/>
            <a:ext cx="5440680" cy="877824"/>
          </a:xfrm>
          <a:prstGeom prst="roundRect">
            <a:avLst>
              <a:gd name="adj" fmla="val 7292"/>
            </a:avLst>
          </a:prstGeom>
          <a:solidFill>
            <a:srgbClr val="F0E7DA"/>
          </a:solidFill>
          <a:ln w="9525">
            <a:solidFill>
              <a:srgbClr val="C9B195"/>
            </a:solidFill>
            <a:prstDash val="solid"/>
          </a:ln>
        </p:spPr>
        <p:txBody>
          <a:bodyPr/>
          <a:lstStyle/>
          <a:p>
            <a:endParaRPr lang="en-IN"/>
          </a:p>
        </p:txBody>
      </p:sp>
      <p:sp>
        <p:nvSpPr>
          <p:cNvPr id="52" name="Shape 50"/>
          <p:cNvSpPr/>
          <p:nvPr/>
        </p:nvSpPr>
        <p:spPr>
          <a:xfrm>
            <a:off x="6364224" y="5477256"/>
            <a:ext cx="566928" cy="566928"/>
          </a:xfrm>
          <a:prstGeom prst="roundRect">
            <a:avLst>
              <a:gd name="adj" fmla="val 11290"/>
            </a:avLst>
          </a:prstGeom>
          <a:solidFill>
            <a:srgbClr val="8C6E52"/>
          </a:solidFill>
          <a:ln/>
        </p:spPr>
        <p:txBody>
          <a:bodyPr/>
          <a:lstStyle/>
          <a:p>
            <a:endParaRPr lang="en-IN"/>
          </a:p>
        </p:txBody>
      </p:sp>
      <p:sp>
        <p:nvSpPr>
          <p:cNvPr id="53" name="Text 51"/>
          <p:cNvSpPr/>
          <p:nvPr/>
        </p:nvSpPr>
        <p:spPr>
          <a:xfrm>
            <a:off x="6364224" y="5477256"/>
            <a:ext cx="566928" cy="56692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10</a:t>
            </a:r>
            <a:endParaRPr lang="en-US" sz="1400" dirty="0"/>
          </a:p>
        </p:txBody>
      </p:sp>
      <p:sp>
        <p:nvSpPr>
          <p:cNvPr id="54" name="Text 52"/>
          <p:cNvSpPr/>
          <p:nvPr/>
        </p:nvSpPr>
        <p:spPr>
          <a:xfrm>
            <a:off x="7059168" y="5449824"/>
            <a:ext cx="4480560" cy="292608"/>
          </a:xfrm>
          <a:prstGeom prst="rect">
            <a:avLst/>
          </a:prstGeom>
          <a:noFill/>
          <a:ln/>
        </p:spPr>
        <p:txBody>
          <a:bodyPr wrap="square" lIns="0" tIns="0" rIns="0" bIns="0" rtlCol="0" anchor="ctr"/>
          <a:lstStyle/>
          <a:p>
            <a:pPr marL="0" indent="0">
              <a:buNone/>
            </a:pPr>
            <a:r>
              <a:rPr lang="en-US" sz="1250" b="1" dirty="0">
                <a:solidFill>
                  <a:srgbClr val="5C4A38"/>
                </a:solidFill>
                <a:latin typeface="Calibri" pitchFamily="34" charset="0"/>
                <a:ea typeface="Calibri" pitchFamily="34" charset="-122"/>
                <a:cs typeface="Calibri" pitchFamily="34" charset="-120"/>
              </a:rPr>
              <a:t>Challenges &amp; learnings</a:t>
            </a:r>
            <a:endParaRPr lang="en-US" sz="1250" dirty="0"/>
          </a:p>
        </p:txBody>
      </p:sp>
      <p:sp>
        <p:nvSpPr>
          <p:cNvPr id="55" name="Text 53"/>
          <p:cNvSpPr/>
          <p:nvPr/>
        </p:nvSpPr>
        <p:spPr>
          <a:xfrm>
            <a:off x="7059168" y="5742432"/>
            <a:ext cx="4480560" cy="329184"/>
          </a:xfrm>
          <a:prstGeom prst="rect">
            <a:avLst/>
          </a:prstGeom>
          <a:noFill/>
          <a:ln/>
        </p:spPr>
        <p:txBody>
          <a:bodyPr wrap="square" lIns="0" tIns="0" rIns="0" bIns="0" rtlCol="0" anchor="ctr"/>
          <a:lstStyle/>
          <a:p>
            <a:pPr marL="0" indent="0">
              <a:buNone/>
            </a:pPr>
            <a:r>
              <a:rPr lang="en-US" sz="1000" dirty="0">
                <a:solidFill>
                  <a:srgbClr val="7A6A5A"/>
                </a:solidFill>
                <a:latin typeface="Calibri" pitchFamily="34" charset="0"/>
                <a:ea typeface="Calibri" pitchFamily="34" charset="-122"/>
                <a:cs typeface="Calibri" pitchFamily="34" charset="-120"/>
              </a:rPr>
              <a:t>Ten defects, and what they taught us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Background — Why Retrieval-Augmented Generation</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A language model only knows what it saw in training</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1</a:t>
            </a:r>
            <a:endParaRPr lang="en-US" sz="1000" dirty="0"/>
          </a:p>
        </p:txBody>
      </p:sp>
      <p:sp>
        <p:nvSpPr>
          <p:cNvPr id="7" name="Shape 5"/>
          <p:cNvSpPr/>
          <p:nvPr/>
        </p:nvSpPr>
        <p:spPr>
          <a:xfrm>
            <a:off x="548640" y="1371600"/>
            <a:ext cx="3566160" cy="1691640"/>
          </a:xfrm>
          <a:prstGeom prst="roundRect">
            <a:avLst>
              <a:gd name="adj" fmla="val 4324"/>
            </a:avLst>
          </a:prstGeom>
          <a:solidFill>
            <a:srgbClr val="FFFFFF"/>
          </a:solidFill>
          <a:ln w="9525">
            <a:solidFill>
              <a:srgbClr val="C9B195"/>
            </a:solidFill>
            <a:prstDash val="solid"/>
          </a:ln>
        </p:spPr>
        <p:txBody>
          <a:bodyPr/>
          <a:lstStyle/>
          <a:p>
            <a:endParaRPr lang="en-IN" sz="2000"/>
          </a:p>
        </p:txBody>
      </p:sp>
      <p:sp>
        <p:nvSpPr>
          <p:cNvPr id="8" name="Text 6"/>
          <p:cNvSpPr/>
          <p:nvPr/>
        </p:nvSpPr>
        <p:spPr>
          <a:xfrm>
            <a:off x="777240" y="1517904"/>
            <a:ext cx="3108960" cy="274320"/>
          </a:xfrm>
          <a:prstGeom prst="rect">
            <a:avLst/>
          </a:prstGeom>
          <a:noFill/>
          <a:ln/>
        </p:spPr>
        <p:txBody>
          <a:bodyPr wrap="square" lIns="0" tIns="0" rIns="0" bIns="0" rtlCol="0" anchor="ctr"/>
          <a:lstStyle/>
          <a:p>
            <a:pPr marL="0" indent="0">
              <a:buNone/>
            </a:pPr>
            <a:r>
              <a:rPr lang="en-US" sz="1400" b="1" dirty="0">
                <a:solidFill>
                  <a:srgbClr val="B5714B"/>
                </a:solidFill>
                <a:latin typeface="Calibri" pitchFamily="34" charset="0"/>
                <a:ea typeface="Calibri" pitchFamily="34" charset="-122"/>
                <a:cs typeface="Calibri" pitchFamily="34" charset="-120"/>
              </a:rPr>
              <a:t>It makes things up</a:t>
            </a:r>
            <a:endParaRPr lang="en-US" sz="1400" dirty="0"/>
          </a:p>
        </p:txBody>
      </p:sp>
      <p:sp>
        <p:nvSpPr>
          <p:cNvPr id="9" name="Text 7"/>
          <p:cNvSpPr/>
          <p:nvPr/>
        </p:nvSpPr>
        <p:spPr>
          <a:xfrm>
            <a:off x="777240" y="1828800"/>
            <a:ext cx="3154680" cy="109728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With no evidence for a question the model answers anyway. The answer reads well, sounds confident, and parts of it are invented.</a:t>
            </a:r>
            <a:endParaRPr lang="en-US" sz="1100" dirty="0"/>
          </a:p>
        </p:txBody>
      </p:sp>
      <p:sp>
        <p:nvSpPr>
          <p:cNvPr id="10" name="Shape 8"/>
          <p:cNvSpPr/>
          <p:nvPr/>
        </p:nvSpPr>
        <p:spPr>
          <a:xfrm>
            <a:off x="4315968" y="1371600"/>
            <a:ext cx="3566160" cy="1691640"/>
          </a:xfrm>
          <a:prstGeom prst="roundRect">
            <a:avLst>
              <a:gd name="adj" fmla="val 4324"/>
            </a:avLst>
          </a:prstGeom>
          <a:solidFill>
            <a:srgbClr val="FFFFFF"/>
          </a:solidFill>
          <a:ln w="9525">
            <a:solidFill>
              <a:srgbClr val="C9B195"/>
            </a:solidFill>
            <a:prstDash val="solid"/>
          </a:ln>
        </p:spPr>
        <p:txBody>
          <a:bodyPr/>
          <a:lstStyle/>
          <a:p>
            <a:endParaRPr lang="en-IN" sz="2000"/>
          </a:p>
        </p:txBody>
      </p:sp>
      <p:sp>
        <p:nvSpPr>
          <p:cNvPr id="11" name="Text 9"/>
          <p:cNvSpPr/>
          <p:nvPr/>
        </p:nvSpPr>
        <p:spPr>
          <a:xfrm>
            <a:off x="4544568" y="1517904"/>
            <a:ext cx="3108960" cy="274320"/>
          </a:xfrm>
          <a:prstGeom prst="rect">
            <a:avLst/>
          </a:prstGeom>
          <a:noFill/>
          <a:ln/>
        </p:spPr>
        <p:txBody>
          <a:bodyPr wrap="square" lIns="0" tIns="0" rIns="0" bIns="0" rtlCol="0" anchor="ctr"/>
          <a:lstStyle/>
          <a:p>
            <a:pPr marL="0" indent="0">
              <a:buNone/>
            </a:pPr>
            <a:r>
              <a:rPr lang="en-US" sz="1400" b="1" dirty="0">
                <a:solidFill>
                  <a:srgbClr val="B5714B"/>
                </a:solidFill>
                <a:latin typeface="Calibri" pitchFamily="34" charset="0"/>
                <a:ea typeface="Calibri" pitchFamily="34" charset="-122"/>
                <a:cs typeface="Calibri" pitchFamily="34" charset="-120"/>
              </a:rPr>
              <a:t>Its knowledge goes stale</a:t>
            </a:r>
            <a:endParaRPr lang="en-US" sz="1400" dirty="0"/>
          </a:p>
        </p:txBody>
      </p:sp>
      <p:sp>
        <p:nvSpPr>
          <p:cNvPr id="12" name="Text 10"/>
          <p:cNvSpPr/>
          <p:nvPr/>
        </p:nvSpPr>
        <p:spPr>
          <a:xfrm>
            <a:off x="4544568" y="1828800"/>
            <a:ext cx="3154680" cy="109728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Anything that changed after the training date is missing or wrong, and the model has no way of knowing which.</a:t>
            </a:r>
            <a:endParaRPr lang="en-US" sz="1100" dirty="0"/>
          </a:p>
        </p:txBody>
      </p:sp>
      <p:sp>
        <p:nvSpPr>
          <p:cNvPr id="13" name="Shape 11"/>
          <p:cNvSpPr/>
          <p:nvPr/>
        </p:nvSpPr>
        <p:spPr>
          <a:xfrm>
            <a:off x="8083296" y="1371600"/>
            <a:ext cx="3566160" cy="1691640"/>
          </a:xfrm>
          <a:prstGeom prst="roundRect">
            <a:avLst>
              <a:gd name="adj" fmla="val 4324"/>
            </a:avLst>
          </a:prstGeom>
          <a:solidFill>
            <a:srgbClr val="FFFFFF"/>
          </a:solidFill>
          <a:ln w="9525">
            <a:solidFill>
              <a:srgbClr val="C9B195"/>
            </a:solidFill>
            <a:prstDash val="solid"/>
          </a:ln>
        </p:spPr>
        <p:txBody>
          <a:bodyPr/>
          <a:lstStyle/>
          <a:p>
            <a:endParaRPr lang="en-IN" sz="2000"/>
          </a:p>
        </p:txBody>
      </p:sp>
      <p:sp>
        <p:nvSpPr>
          <p:cNvPr id="14" name="Text 12"/>
          <p:cNvSpPr/>
          <p:nvPr/>
        </p:nvSpPr>
        <p:spPr>
          <a:xfrm>
            <a:off x="8311896" y="1517904"/>
            <a:ext cx="3108960" cy="274320"/>
          </a:xfrm>
          <a:prstGeom prst="rect">
            <a:avLst/>
          </a:prstGeom>
          <a:noFill/>
          <a:ln/>
        </p:spPr>
        <p:txBody>
          <a:bodyPr wrap="square" lIns="0" tIns="0" rIns="0" bIns="0" rtlCol="0" anchor="ctr"/>
          <a:lstStyle/>
          <a:p>
            <a:pPr marL="0" indent="0">
              <a:buNone/>
            </a:pPr>
            <a:r>
              <a:rPr lang="en-US" sz="1400" b="1" dirty="0">
                <a:solidFill>
                  <a:srgbClr val="B5714B"/>
                </a:solidFill>
                <a:latin typeface="Calibri" pitchFamily="34" charset="0"/>
                <a:ea typeface="Calibri" pitchFamily="34" charset="-122"/>
                <a:cs typeface="Calibri" pitchFamily="34" charset="-120"/>
              </a:rPr>
              <a:t>It cannot see your documents</a:t>
            </a:r>
            <a:endParaRPr lang="en-US" sz="1400" dirty="0"/>
          </a:p>
        </p:txBody>
      </p:sp>
      <p:sp>
        <p:nvSpPr>
          <p:cNvPr id="15" name="Text 13"/>
          <p:cNvSpPr/>
          <p:nvPr/>
        </p:nvSpPr>
        <p:spPr>
          <a:xfrm>
            <a:off x="8311896" y="1828800"/>
            <a:ext cx="3154680" cy="109728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It cannot answer from your contracts, filings or support articles, because it never saw them.</a:t>
            </a:r>
            <a:endParaRPr lang="en-US" sz="1100" dirty="0"/>
          </a:p>
        </p:txBody>
      </p:sp>
      <p:sp>
        <p:nvSpPr>
          <p:cNvPr id="16" name="Shape 14"/>
          <p:cNvSpPr/>
          <p:nvPr/>
        </p:nvSpPr>
        <p:spPr>
          <a:xfrm>
            <a:off x="548640" y="3246120"/>
            <a:ext cx="11109960" cy="1051560"/>
          </a:xfrm>
          <a:prstGeom prst="roundRect">
            <a:avLst>
              <a:gd name="adj" fmla="val 6957"/>
            </a:avLst>
          </a:prstGeom>
          <a:solidFill>
            <a:srgbClr val="E3EDE0"/>
          </a:solidFill>
          <a:ln w="15240">
            <a:solidFill>
              <a:srgbClr val="A8C0A0"/>
            </a:solidFill>
            <a:prstDash val="solid"/>
          </a:ln>
        </p:spPr>
        <p:txBody>
          <a:bodyPr/>
          <a:lstStyle/>
          <a:p>
            <a:endParaRPr lang="en-IN" sz="2000"/>
          </a:p>
        </p:txBody>
      </p:sp>
      <p:sp>
        <p:nvSpPr>
          <p:cNvPr id="17" name="Text 15"/>
          <p:cNvSpPr/>
          <p:nvPr/>
        </p:nvSpPr>
        <p:spPr>
          <a:xfrm>
            <a:off x="822960" y="3682125"/>
            <a:ext cx="1280160" cy="274320"/>
          </a:xfrm>
          <a:prstGeom prst="rect">
            <a:avLst/>
          </a:prstGeom>
          <a:noFill/>
          <a:ln/>
        </p:spPr>
        <p:txBody>
          <a:bodyPr wrap="square" lIns="0" tIns="0" rIns="0" bIns="0" rtlCol="0" anchor="ctr"/>
          <a:lstStyle/>
          <a:p>
            <a:pPr marL="0" indent="0">
              <a:buNone/>
            </a:pPr>
            <a:r>
              <a:rPr lang="en-US" sz="1400" b="1" dirty="0">
                <a:solidFill>
                  <a:srgbClr val="4A6B4F"/>
                </a:solidFill>
                <a:latin typeface="Calibri" pitchFamily="34" charset="0"/>
                <a:ea typeface="Calibri" pitchFamily="34" charset="-122"/>
                <a:cs typeface="Calibri" pitchFamily="34" charset="-120"/>
              </a:rPr>
              <a:t>RAG's fix:</a:t>
            </a:r>
            <a:endParaRPr lang="en-US" sz="1400" dirty="0"/>
          </a:p>
        </p:txBody>
      </p:sp>
      <p:sp>
        <p:nvSpPr>
          <p:cNvPr id="18" name="Text 16"/>
          <p:cNvSpPr/>
          <p:nvPr/>
        </p:nvSpPr>
        <p:spPr>
          <a:xfrm>
            <a:off x="1965960" y="3401568"/>
            <a:ext cx="941832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search your own documents when the question is asked, hand the model the passages you found, and instruct it to answer only from those. The model stops trying to remember and starts reading.</a:t>
            </a:r>
            <a:endParaRPr lang="en-US" sz="1400" dirty="0"/>
          </a:p>
        </p:txBody>
      </p:sp>
      <p:sp>
        <p:nvSpPr>
          <p:cNvPr id="19" name="Shape 17"/>
          <p:cNvSpPr/>
          <p:nvPr/>
        </p:nvSpPr>
        <p:spPr>
          <a:xfrm>
            <a:off x="548640" y="4480560"/>
            <a:ext cx="11109960" cy="1783080"/>
          </a:xfrm>
          <a:prstGeom prst="roundRect">
            <a:avLst>
              <a:gd name="adj" fmla="val 4103"/>
            </a:avLst>
          </a:prstGeom>
          <a:solidFill>
            <a:srgbClr val="FFFFFF"/>
          </a:solidFill>
          <a:ln w="9525">
            <a:solidFill>
              <a:srgbClr val="C9B195"/>
            </a:solidFill>
            <a:prstDash val="solid"/>
          </a:ln>
        </p:spPr>
        <p:txBody>
          <a:bodyPr/>
          <a:lstStyle/>
          <a:p>
            <a:endParaRPr lang="en-IN" sz="2000"/>
          </a:p>
        </p:txBody>
      </p:sp>
      <p:sp>
        <p:nvSpPr>
          <p:cNvPr id="20" name="Text 18"/>
          <p:cNvSpPr/>
          <p:nvPr/>
        </p:nvSpPr>
        <p:spPr>
          <a:xfrm>
            <a:off x="822960" y="4626864"/>
            <a:ext cx="10515600" cy="29260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But building a RAG pipeline is no longer the hard part</a:t>
            </a:r>
            <a:endParaRPr lang="en-US" sz="1600" dirty="0"/>
          </a:p>
        </p:txBody>
      </p:sp>
      <p:sp>
        <p:nvSpPr>
          <p:cNvPr id="21" name="Text 19"/>
          <p:cNvSpPr/>
          <p:nvPr/>
        </p:nvSpPr>
        <p:spPr>
          <a:xfrm>
            <a:off x="822960" y="4956048"/>
            <a:ext cx="10515600" cy="68580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A first version runs in an afternoon. The hard part — the part this project is about — is knowing which stage is responsible when answers get better or worse. Change several settings at once, watch the score move, and you have learned nothing about which change did it.</a:t>
            </a:r>
            <a:endParaRPr lang="en-US" sz="1400" dirty="0"/>
          </a:p>
        </p:txBody>
      </p:sp>
      <p:sp>
        <p:nvSpPr>
          <p:cNvPr id="22" name="Text 20"/>
          <p:cNvSpPr/>
          <p:nvPr/>
        </p:nvSpPr>
        <p:spPr>
          <a:xfrm>
            <a:off x="822960" y="5669280"/>
            <a:ext cx="10515600" cy="411480"/>
          </a:xfrm>
          <a:prstGeom prst="rect">
            <a:avLst/>
          </a:prstGeom>
          <a:noFill/>
          <a:ln/>
        </p:spPr>
        <p:txBody>
          <a:bodyPr wrap="square" lIns="0" tIns="0" rIns="0" bIns="0" rtlCol="0" anchor="ctr"/>
          <a:lstStyle/>
          <a:p>
            <a:pPr marL="0" indent="0">
              <a:buNone/>
            </a:pPr>
            <a:r>
              <a:rPr lang="en-US" sz="1400" b="1" i="1" dirty="0">
                <a:solidFill>
                  <a:srgbClr val="4A6B4F"/>
                </a:solidFill>
                <a:latin typeface="Georgia" pitchFamily="34" charset="0"/>
                <a:ea typeface="Georgia" pitchFamily="34" charset="-122"/>
                <a:cs typeface="Georgia" pitchFamily="34" charset="-120"/>
              </a:rPr>
              <a:t>“Which part of the pipeline actually carries the variation — and is the answer the same in every domain?”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The Three Questions We Set Out to Answer</a:t>
            </a:r>
            <a:endParaRPr lang="en-US" sz="2400" dirty="0"/>
          </a:p>
        </p:txBody>
      </p:sp>
      <p:sp>
        <p:nvSpPr>
          <p:cNvPr id="5" name="Text 3"/>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1.2</a:t>
            </a:r>
            <a:endParaRPr lang="en-US" sz="1000" dirty="0"/>
          </a:p>
        </p:txBody>
      </p:sp>
      <p:sp>
        <p:nvSpPr>
          <p:cNvPr id="6" name="Shape 4"/>
          <p:cNvSpPr/>
          <p:nvPr/>
        </p:nvSpPr>
        <p:spPr>
          <a:xfrm>
            <a:off x="548640" y="1371600"/>
            <a:ext cx="11109960" cy="1426464"/>
          </a:xfrm>
          <a:prstGeom prst="roundRect">
            <a:avLst>
              <a:gd name="adj" fmla="val 5128"/>
            </a:avLst>
          </a:prstGeom>
          <a:solidFill>
            <a:srgbClr val="FFFFFF"/>
          </a:solidFill>
          <a:ln w="9525">
            <a:solidFill>
              <a:srgbClr val="C9B195"/>
            </a:solidFill>
            <a:prstDash val="solid"/>
          </a:ln>
        </p:spPr>
        <p:txBody>
          <a:bodyPr/>
          <a:lstStyle/>
          <a:p>
            <a:endParaRPr lang="en-IN" sz="2000"/>
          </a:p>
        </p:txBody>
      </p:sp>
      <p:sp>
        <p:nvSpPr>
          <p:cNvPr id="7" name="Shape 5"/>
          <p:cNvSpPr/>
          <p:nvPr/>
        </p:nvSpPr>
        <p:spPr>
          <a:xfrm>
            <a:off x="548640" y="1371600"/>
            <a:ext cx="118872" cy="1426464"/>
          </a:xfrm>
          <a:prstGeom prst="roundRect">
            <a:avLst>
              <a:gd name="adj" fmla="val 30769"/>
            </a:avLst>
          </a:prstGeom>
          <a:solidFill>
            <a:srgbClr val="4A6B4F"/>
          </a:solidFill>
          <a:ln/>
        </p:spPr>
        <p:txBody>
          <a:bodyPr/>
          <a:lstStyle/>
          <a:p>
            <a:endParaRPr lang="en-IN"/>
          </a:p>
        </p:txBody>
      </p:sp>
      <p:sp>
        <p:nvSpPr>
          <p:cNvPr id="8" name="Text 6"/>
          <p:cNvSpPr/>
          <p:nvPr/>
        </p:nvSpPr>
        <p:spPr>
          <a:xfrm>
            <a:off x="868680" y="1517904"/>
            <a:ext cx="2377440" cy="347472"/>
          </a:xfrm>
          <a:prstGeom prst="rect">
            <a:avLst/>
          </a:prstGeom>
          <a:noFill/>
          <a:ln/>
        </p:spPr>
        <p:txBody>
          <a:bodyPr wrap="square" lIns="0" tIns="0" rIns="0" bIns="0" rtlCol="0" anchor="ctr"/>
          <a:lstStyle/>
          <a:p>
            <a:pPr marL="0" indent="0">
              <a:buNone/>
            </a:pPr>
            <a:r>
              <a:rPr lang="en-US" sz="1700" b="1" dirty="0">
                <a:solidFill>
                  <a:srgbClr val="4A6B4F"/>
                </a:solidFill>
                <a:latin typeface="Georgia" pitchFamily="34" charset="0"/>
                <a:ea typeface="Georgia" pitchFamily="34" charset="-122"/>
                <a:cs typeface="Georgia" pitchFamily="34" charset="-120"/>
              </a:rPr>
              <a:t>Attribution</a:t>
            </a:r>
            <a:endParaRPr lang="en-US" sz="1700" dirty="0"/>
          </a:p>
        </p:txBody>
      </p:sp>
      <p:sp>
        <p:nvSpPr>
          <p:cNvPr id="9" name="Text 7"/>
          <p:cNvSpPr/>
          <p:nvPr/>
        </p:nvSpPr>
        <p:spPr>
          <a:xfrm>
            <a:off x="3291840" y="1517904"/>
            <a:ext cx="8138160" cy="347472"/>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Which stage is actually holding the pipeline back?</a:t>
            </a:r>
            <a:endParaRPr lang="en-US" sz="1600" dirty="0"/>
          </a:p>
        </p:txBody>
      </p:sp>
      <p:sp>
        <p:nvSpPr>
          <p:cNvPr id="10" name="Text 8"/>
          <p:cNvSpPr/>
          <p:nvPr/>
        </p:nvSpPr>
        <p:spPr>
          <a:xfrm>
            <a:off x="3291840" y="1901952"/>
            <a:ext cx="813816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Not which stage we assume matters — which one carries the variation when we measure it properly.</a:t>
            </a:r>
            <a:endParaRPr lang="en-US" sz="1400" dirty="0"/>
          </a:p>
        </p:txBody>
      </p:sp>
      <p:sp>
        <p:nvSpPr>
          <p:cNvPr id="11" name="Shape 9"/>
          <p:cNvSpPr/>
          <p:nvPr/>
        </p:nvSpPr>
        <p:spPr>
          <a:xfrm>
            <a:off x="548640" y="2944368"/>
            <a:ext cx="11109960" cy="1426464"/>
          </a:xfrm>
          <a:prstGeom prst="roundRect">
            <a:avLst>
              <a:gd name="adj" fmla="val 5128"/>
            </a:avLst>
          </a:prstGeom>
          <a:solidFill>
            <a:srgbClr val="F0E7DA"/>
          </a:solidFill>
          <a:ln w="9525">
            <a:solidFill>
              <a:srgbClr val="C9B195"/>
            </a:solidFill>
            <a:prstDash val="solid"/>
          </a:ln>
        </p:spPr>
        <p:txBody>
          <a:bodyPr/>
          <a:lstStyle/>
          <a:p>
            <a:endParaRPr lang="en-IN"/>
          </a:p>
        </p:txBody>
      </p:sp>
      <p:sp>
        <p:nvSpPr>
          <p:cNvPr id="12" name="Shape 10"/>
          <p:cNvSpPr/>
          <p:nvPr/>
        </p:nvSpPr>
        <p:spPr>
          <a:xfrm>
            <a:off x="548640" y="2944368"/>
            <a:ext cx="118872" cy="1426464"/>
          </a:xfrm>
          <a:prstGeom prst="roundRect">
            <a:avLst>
              <a:gd name="adj" fmla="val 30769"/>
            </a:avLst>
          </a:prstGeom>
          <a:solidFill>
            <a:srgbClr val="8C6E52"/>
          </a:solidFill>
          <a:ln/>
        </p:spPr>
        <p:txBody>
          <a:bodyPr/>
          <a:lstStyle/>
          <a:p>
            <a:endParaRPr lang="en-IN"/>
          </a:p>
        </p:txBody>
      </p:sp>
      <p:sp>
        <p:nvSpPr>
          <p:cNvPr id="13" name="Text 11"/>
          <p:cNvSpPr/>
          <p:nvPr/>
        </p:nvSpPr>
        <p:spPr>
          <a:xfrm>
            <a:off x="868680" y="3090672"/>
            <a:ext cx="2377440" cy="347472"/>
          </a:xfrm>
          <a:prstGeom prst="rect">
            <a:avLst/>
          </a:prstGeom>
          <a:noFill/>
          <a:ln/>
        </p:spPr>
        <p:txBody>
          <a:bodyPr wrap="square" lIns="0" tIns="0" rIns="0" bIns="0" rtlCol="0" anchor="ctr"/>
          <a:lstStyle/>
          <a:p>
            <a:pPr marL="0" indent="0">
              <a:buNone/>
            </a:pPr>
            <a:r>
              <a:rPr lang="en-US" sz="1700" b="1" dirty="0">
                <a:solidFill>
                  <a:srgbClr val="8C6E52"/>
                </a:solidFill>
                <a:latin typeface="Georgia" pitchFamily="34" charset="0"/>
                <a:ea typeface="Georgia" pitchFamily="34" charset="-122"/>
                <a:cs typeface="Georgia" pitchFamily="34" charset="-120"/>
              </a:rPr>
              <a:t>Generality</a:t>
            </a:r>
            <a:endParaRPr lang="en-US" sz="1700" dirty="0"/>
          </a:p>
        </p:txBody>
      </p:sp>
      <p:sp>
        <p:nvSpPr>
          <p:cNvPr id="14" name="Text 12"/>
          <p:cNvSpPr/>
          <p:nvPr/>
        </p:nvSpPr>
        <p:spPr>
          <a:xfrm>
            <a:off x="3291840" y="3090672"/>
            <a:ext cx="8138160" cy="347472"/>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Is the best configuration the same for every domain?</a:t>
            </a:r>
            <a:endParaRPr lang="en-US" sz="1600" dirty="0"/>
          </a:p>
        </p:txBody>
      </p:sp>
      <p:sp>
        <p:nvSpPr>
          <p:cNvPr id="15" name="Text 13"/>
          <p:cNvSpPr/>
          <p:nvPr/>
        </p:nvSpPr>
        <p:spPr>
          <a:xfrm>
            <a:off x="3291840" y="3474720"/>
            <a:ext cx="813816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If yes, one recommended pipeline is enough. If no, every study that tunes on one dataset and publishes a general recommendation is overstating its case.</a:t>
            </a:r>
            <a:endParaRPr lang="en-US" sz="1400" dirty="0"/>
          </a:p>
        </p:txBody>
      </p:sp>
      <p:sp>
        <p:nvSpPr>
          <p:cNvPr id="16" name="Shape 14"/>
          <p:cNvSpPr/>
          <p:nvPr/>
        </p:nvSpPr>
        <p:spPr>
          <a:xfrm>
            <a:off x="548640" y="4517136"/>
            <a:ext cx="11109960" cy="1426464"/>
          </a:xfrm>
          <a:prstGeom prst="roundRect">
            <a:avLst>
              <a:gd name="adj" fmla="val 5128"/>
            </a:avLst>
          </a:prstGeom>
          <a:solidFill>
            <a:srgbClr val="FFFFFF"/>
          </a:solidFill>
          <a:ln w="9525">
            <a:solidFill>
              <a:srgbClr val="C9B195"/>
            </a:solidFill>
            <a:prstDash val="solid"/>
          </a:ln>
        </p:spPr>
        <p:txBody>
          <a:bodyPr/>
          <a:lstStyle/>
          <a:p>
            <a:endParaRPr lang="en-IN"/>
          </a:p>
        </p:txBody>
      </p:sp>
      <p:sp>
        <p:nvSpPr>
          <p:cNvPr id="17" name="Shape 15"/>
          <p:cNvSpPr/>
          <p:nvPr/>
        </p:nvSpPr>
        <p:spPr>
          <a:xfrm>
            <a:off x="548640" y="4517136"/>
            <a:ext cx="118872" cy="1426464"/>
          </a:xfrm>
          <a:prstGeom prst="roundRect">
            <a:avLst>
              <a:gd name="adj" fmla="val 30769"/>
            </a:avLst>
          </a:prstGeom>
          <a:solidFill>
            <a:srgbClr val="B5714B"/>
          </a:solidFill>
          <a:ln/>
        </p:spPr>
        <p:txBody>
          <a:bodyPr/>
          <a:lstStyle/>
          <a:p>
            <a:endParaRPr lang="en-IN"/>
          </a:p>
        </p:txBody>
      </p:sp>
      <p:sp>
        <p:nvSpPr>
          <p:cNvPr id="18" name="Text 16"/>
          <p:cNvSpPr/>
          <p:nvPr/>
        </p:nvSpPr>
        <p:spPr>
          <a:xfrm>
            <a:off x="868680" y="4663440"/>
            <a:ext cx="2377440" cy="347472"/>
          </a:xfrm>
          <a:prstGeom prst="rect">
            <a:avLst/>
          </a:prstGeom>
          <a:noFill/>
          <a:ln/>
        </p:spPr>
        <p:txBody>
          <a:bodyPr wrap="square" lIns="0" tIns="0" rIns="0" bIns="0" rtlCol="0" anchor="ctr"/>
          <a:lstStyle/>
          <a:p>
            <a:pPr marL="0" indent="0">
              <a:buNone/>
            </a:pPr>
            <a:r>
              <a:rPr lang="en-US" sz="1700" b="1" dirty="0">
                <a:solidFill>
                  <a:srgbClr val="B5714B"/>
                </a:solidFill>
                <a:latin typeface="Georgia" pitchFamily="34" charset="0"/>
                <a:ea typeface="Georgia" pitchFamily="34" charset="-122"/>
                <a:cs typeface="Georgia" pitchFamily="34" charset="-120"/>
              </a:rPr>
              <a:t>Validity</a:t>
            </a:r>
            <a:endParaRPr lang="en-US" sz="1700" dirty="0"/>
          </a:p>
        </p:txBody>
      </p:sp>
      <p:sp>
        <p:nvSpPr>
          <p:cNvPr id="19" name="Text 17"/>
          <p:cNvSpPr/>
          <p:nvPr/>
        </p:nvSpPr>
        <p:spPr>
          <a:xfrm>
            <a:off x="3291840" y="4663440"/>
            <a:ext cx="8138160" cy="347472"/>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Are our own measurements trustworthy?</a:t>
            </a:r>
            <a:endParaRPr lang="en-US" sz="1600" dirty="0"/>
          </a:p>
        </p:txBody>
      </p:sp>
      <p:sp>
        <p:nvSpPr>
          <p:cNvPr id="20" name="Text 18"/>
          <p:cNvSpPr/>
          <p:nvPr/>
        </p:nvSpPr>
        <p:spPr>
          <a:xfrm>
            <a:off x="3291840" y="5047488"/>
            <a:ext cx="813816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An answer to the first two is worthless — worse than worthless, because it looks usable — if the measuring instrument is broken.</a:t>
            </a:r>
            <a:endParaRPr lang="en-US" sz="1400" dirty="0"/>
          </a:p>
        </p:txBody>
      </p:sp>
      <p:sp>
        <p:nvSpPr>
          <p:cNvPr id="21" name="Shape 19"/>
          <p:cNvSpPr/>
          <p:nvPr/>
        </p:nvSpPr>
        <p:spPr>
          <a:xfrm>
            <a:off x="548640" y="6144768"/>
            <a:ext cx="11109960" cy="502920"/>
          </a:xfrm>
          <a:prstGeom prst="roundRect">
            <a:avLst>
              <a:gd name="adj" fmla="val 14545"/>
            </a:avLst>
          </a:prstGeom>
          <a:solidFill>
            <a:srgbClr val="E3EDE0"/>
          </a:solidFill>
          <a:ln w="15240">
            <a:solidFill>
              <a:srgbClr val="A8C0A0"/>
            </a:solidFill>
            <a:prstDash val="solid"/>
          </a:ln>
        </p:spPr>
        <p:txBody>
          <a:bodyPr/>
          <a:lstStyle/>
          <a:p>
            <a:endParaRPr lang="en-IN"/>
          </a:p>
        </p:txBody>
      </p:sp>
      <p:sp>
        <p:nvSpPr>
          <p:cNvPr id="22" name="Text 20"/>
          <p:cNvSpPr/>
          <p:nvPr/>
        </p:nvSpPr>
        <p:spPr>
          <a:xfrm>
            <a:off x="822960" y="6144768"/>
            <a:ext cx="10607040" cy="502920"/>
          </a:xfrm>
          <a:prstGeom prst="rect">
            <a:avLst/>
          </a:prstGeom>
          <a:noFill/>
          <a:ln/>
        </p:spPr>
        <p:txBody>
          <a:bodyPr wrap="square" lIns="0" tIns="0" rIns="0" bIns="0" rtlCol="0" anchor="ctr"/>
          <a:lstStyle/>
          <a:p>
            <a:pPr marL="0" indent="0">
              <a:buNone/>
            </a:pPr>
            <a:r>
              <a:rPr lang="en-US" sz="1150" i="1" dirty="0">
                <a:solidFill>
                  <a:srgbClr val="4A6B4F"/>
                </a:solidFill>
                <a:latin typeface="Calibri" pitchFamily="34" charset="0"/>
                <a:ea typeface="Calibri" pitchFamily="34" charset="-122"/>
                <a:cs typeface="Calibri" pitchFamily="34" charset="-120"/>
              </a:rPr>
              <a:t>We came to this from non-technical backgrounds and learned the material by building it — so we assumed less, checked more, and found most of our defects by checking the numbers.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F0"/>
        </a:solidFill>
        <a:effectLst/>
      </p:bgPr>
    </p:bg>
    <p:spTree>
      <p:nvGrpSpPr>
        <p:cNvPr id="1" name=""/>
        <p:cNvGrpSpPr/>
        <p:nvPr/>
      </p:nvGrpSpPr>
      <p:grpSpPr>
        <a:xfrm>
          <a:off x="0" y="0"/>
          <a:ext cx="0" cy="0"/>
          <a:chOff x="0" y="0"/>
          <a:chExt cx="0" cy="0"/>
        </a:xfrm>
      </p:grpSpPr>
      <p:sp>
        <p:nvSpPr>
          <p:cNvPr id="44" name="Shape 26">
            <a:extLst>
              <a:ext uri="{FF2B5EF4-FFF2-40B4-BE49-F238E27FC236}">
                <a16:creationId xmlns:a16="http://schemas.microsoft.com/office/drawing/2014/main" id="{A60DFE46-45F0-873A-0D77-0D86AC0DF03B}"/>
              </a:ext>
            </a:extLst>
          </p:cNvPr>
          <p:cNvSpPr/>
          <p:nvPr/>
        </p:nvSpPr>
        <p:spPr>
          <a:xfrm>
            <a:off x="551749" y="5908831"/>
            <a:ext cx="10652760" cy="384048"/>
          </a:xfrm>
          <a:prstGeom prst="roundRect">
            <a:avLst>
              <a:gd name="adj" fmla="val 9524"/>
            </a:avLst>
          </a:prstGeom>
          <a:solidFill>
            <a:srgbClr val="FFFFFF"/>
          </a:solidFill>
          <a:ln w="7620">
            <a:solidFill>
              <a:srgbClr val="C9B195"/>
            </a:solidFill>
            <a:prstDash val="solid"/>
          </a:ln>
        </p:spPr>
        <p:txBody>
          <a:bodyPr/>
          <a:lstStyle/>
          <a:p>
            <a:endParaRPr lang="en-IN" sz="2800"/>
          </a:p>
        </p:txBody>
      </p:sp>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Datasets &amp; Benchmarks</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Two benchmarks, because they measure different failures</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2–3</a:t>
            </a:r>
            <a:endParaRPr lang="en-US" sz="1000" dirty="0"/>
          </a:p>
        </p:txBody>
      </p:sp>
      <p:sp>
        <p:nvSpPr>
          <p:cNvPr id="7" name="Shape 5"/>
          <p:cNvSpPr/>
          <p:nvPr/>
        </p:nvSpPr>
        <p:spPr>
          <a:xfrm>
            <a:off x="548640" y="1325880"/>
            <a:ext cx="5486400" cy="2286000"/>
          </a:xfrm>
          <a:prstGeom prst="roundRect">
            <a:avLst>
              <a:gd name="adj" fmla="val 3200"/>
            </a:avLst>
          </a:prstGeom>
          <a:solidFill>
            <a:srgbClr val="FFFFFF"/>
          </a:solidFill>
          <a:ln w="9525">
            <a:solidFill>
              <a:srgbClr val="C9B195"/>
            </a:solidFill>
            <a:prstDash val="solid"/>
          </a:ln>
        </p:spPr>
        <p:txBody>
          <a:bodyPr/>
          <a:lstStyle/>
          <a:p>
            <a:endParaRPr lang="en-IN" sz="2000"/>
          </a:p>
        </p:txBody>
      </p:sp>
      <p:sp>
        <p:nvSpPr>
          <p:cNvPr id="8" name="Text 6"/>
          <p:cNvSpPr/>
          <p:nvPr/>
        </p:nvSpPr>
        <p:spPr>
          <a:xfrm>
            <a:off x="777240" y="1463040"/>
            <a:ext cx="5029200" cy="274320"/>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RAGBench — answer quality</a:t>
            </a:r>
            <a:endParaRPr lang="en-US" sz="1600" dirty="0"/>
          </a:p>
        </p:txBody>
      </p:sp>
      <p:sp>
        <p:nvSpPr>
          <p:cNvPr id="9" name="Text 7"/>
          <p:cNvSpPr/>
          <p:nvPr/>
        </p:nvSpPr>
        <p:spPr>
          <a:xfrm>
            <a:off x="777240" y="1783080"/>
            <a:ext cx="5029200" cy="17373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~100,000 examples across five professional domains</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Each example ships its own documents plus reference TRACe scores</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Reference labels let us validate our scoring, not just report it</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Built with GPT-4 judging deliberately weaker writers — the same arrangement we adopted</a:t>
            </a:r>
            <a:endParaRPr lang="en-US" sz="1200" dirty="0"/>
          </a:p>
        </p:txBody>
      </p:sp>
      <p:sp>
        <p:nvSpPr>
          <p:cNvPr id="10" name="Shape 8"/>
          <p:cNvSpPr/>
          <p:nvPr/>
        </p:nvSpPr>
        <p:spPr>
          <a:xfrm>
            <a:off x="6172200" y="1325880"/>
            <a:ext cx="5486400" cy="2286000"/>
          </a:xfrm>
          <a:prstGeom prst="roundRect">
            <a:avLst>
              <a:gd name="adj" fmla="val 3200"/>
            </a:avLst>
          </a:prstGeom>
          <a:solidFill>
            <a:srgbClr val="FFFFFF"/>
          </a:solidFill>
          <a:ln w="9525">
            <a:solidFill>
              <a:srgbClr val="C9B195"/>
            </a:solidFill>
            <a:prstDash val="solid"/>
          </a:ln>
        </p:spPr>
        <p:txBody>
          <a:bodyPr/>
          <a:lstStyle/>
          <a:p>
            <a:endParaRPr lang="en-IN" sz="2000"/>
          </a:p>
        </p:txBody>
      </p:sp>
      <p:sp>
        <p:nvSpPr>
          <p:cNvPr id="11" name="Text 9"/>
          <p:cNvSpPr/>
          <p:nvPr/>
        </p:nvSpPr>
        <p:spPr>
          <a:xfrm>
            <a:off x="6400800" y="1463040"/>
            <a:ext cx="5029200" cy="274320"/>
          </a:xfrm>
          <a:prstGeom prst="rect">
            <a:avLst/>
          </a:prstGeom>
          <a:noFill/>
          <a:ln/>
        </p:spPr>
        <p:txBody>
          <a:bodyPr wrap="square" lIns="0" tIns="0" rIns="0" bIns="0" rtlCol="0" anchor="ctr"/>
          <a:lstStyle/>
          <a:p>
            <a:pPr marL="0" indent="0">
              <a:buNone/>
            </a:pPr>
            <a:r>
              <a:rPr lang="en-US" sz="1600" b="1" dirty="0">
                <a:solidFill>
                  <a:srgbClr val="8C6E52"/>
                </a:solidFill>
                <a:latin typeface="Calibri" pitchFamily="34" charset="0"/>
                <a:ea typeface="Calibri" pitchFamily="34" charset="-122"/>
                <a:cs typeface="Calibri" pitchFamily="34" charset="-120"/>
              </a:rPr>
              <a:t>RGB — behaviour when retrieval fails</a:t>
            </a:r>
            <a:endParaRPr lang="en-US" sz="1600" dirty="0"/>
          </a:p>
        </p:txBody>
      </p:sp>
      <p:sp>
        <p:nvSpPr>
          <p:cNvPr id="12" name="Text 10"/>
          <p:cNvSpPr/>
          <p:nvPr/>
        </p:nvSpPr>
        <p:spPr>
          <a:xfrm>
            <a:off x="6400800" y="1783080"/>
            <a:ext cx="5029200" cy="17373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300 English questions per ability test</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Noise robustness · negative rejection · information integration · counterfactual robustness</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Tests each failure in isolation, so a poor score points at a specific weakness</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In production, retrieval failing is the normal case — not the edge case</a:t>
            </a:r>
            <a:endParaRPr lang="en-US" sz="1200" dirty="0"/>
          </a:p>
        </p:txBody>
      </p:sp>
      <p:sp>
        <p:nvSpPr>
          <p:cNvPr id="13" name="Shape 11"/>
          <p:cNvSpPr/>
          <p:nvPr/>
        </p:nvSpPr>
        <p:spPr>
          <a:xfrm>
            <a:off x="548640" y="3794760"/>
            <a:ext cx="10652760" cy="384048"/>
          </a:xfrm>
          <a:prstGeom prst="roundRect">
            <a:avLst>
              <a:gd name="adj" fmla="val 11905"/>
            </a:avLst>
          </a:prstGeom>
          <a:solidFill>
            <a:srgbClr val="5C4A38"/>
          </a:solidFill>
          <a:ln/>
        </p:spPr>
        <p:txBody>
          <a:bodyPr/>
          <a:lstStyle/>
          <a:p>
            <a:endParaRPr lang="en-IN" sz="2800"/>
          </a:p>
        </p:txBody>
      </p:sp>
      <p:sp>
        <p:nvSpPr>
          <p:cNvPr id="14" name="Text 12"/>
          <p:cNvSpPr/>
          <p:nvPr/>
        </p:nvSpPr>
        <p:spPr>
          <a:xfrm>
            <a:off x="685800" y="3794760"/>
            <a:ext cx="155448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p:txBody>
      </p:sp>
      <p:sp>
        <p:nvSpPr>
          <p:cNvPr id="15" name="Text 13"/>
          <p:cNvSpPr/>
          <p:nvPr/>
        </p:nvSpPr>
        <p:spPr>
          <a:xfrm>
            <a:off x="2286000" y="3794760"/>
            <a:ext cx="96012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Dataset</a:t>
            </a:r>
            <a:endParaRPr lang="en-US" sz="1100" dirty="0"/>
          </a:p>
        </p:txBody>
      </p:sp>
      <p:sp>
        <p:nvSpPr>
          <p:cNvPr id="16" name="Text 14"/>
          <p:cNvSpPr/>
          <p:nvPr/>
        </p:nvSpPr>
        <p:spPr>
          <a:xfrm>
            <a:off x="3291840" y="3794760"/>
            <a:ext cx="352044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the documents look like</a:t>
            </a:r>
            <a:endParaRPr lang="en-US" sz="1100" dirty="0"/>
          </a:p>
        </p:txBody>
      </p:sp>
      <p:sp>
        <p:nvSpPr>
          <p:cNvPr id="17" name="Text 15"/>
          <p:cNvSpPr/>
          <p:nvPr/>
        </p:nvSpPr>
        <p:spPr>
          <a:xfrm>
            <a:off x="6858000" y="3794760"/>
            <a:ext cx="4480560" cy="38404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makes it hard</a:t>
            </a:r>
            <a:endParaRPr lang="en-US" sz="1100" dirty="0"/>
          </a:p>
        </p:txBody>
      </p:sp>
      <p:sp>
        <p:nvSpPr>
          <p:cNvPr id="18" name="Shape 16"/>
          <p:cNvSpPr/>
          <p:nvPr/>
        </p:nvSpPr>
        <p:spPr>
          <a:xfrm>
            <a:off x="548640" y="4215384"/>
            <a:ext cx="10652760" cy="384048"/>
          </a:xfrm>
          <a:prstGeom prst="roundRect">
            <a:avLst>
              <a:gd name="adj" fmla="val 9524"/>
            </a:avLst>
          </a:prstGeom>
          <a:solidFill>
            <a:srgbClr val="FFFFFF"/>
          </a:solidFill>
          <a:ln w="7620">
            <a:solidFill>
              <a:srgbClr val="C9B195"/>
            </a:solidFill>
            <a:prstDash val="solid"/>
          </a:ln>
        </p:spPr>
        <p:txBody>
          <a:bodyPr/>
          <a:lstStyle/>
          <a:p>
            <a:endParaRPr lang="en-IN" sz="2800"/>
          </a:p>
        </p:txBody>
      </p:sp>
      <p:sp>
        <p:nvSpPr>
          <p:cNvPr id="19" name="Text 17"/>
          <p:cNvSpPr/>
          <p:nvPr/>
        </p:nvSpPr>
        <p:spPr>
          <a:xfrm>
            <a:off x="685800" y="4215384"/>
            <a:ext cx="1554480" cy="38404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Customer Support</a:t>
            </a:r>
            <a:endParaRPr lang="en-US" sz="1100" dirty="0"/>
          </a:p>
        </p:txBody>
      </p:sp>
      <p:sp>
        <p:nvSpPr>
          <p:cNvPr id="20" name="Text 18"/>
          <p:cNvSpPr/>
          <p:nvPr/>
        </p:nvSpPr>
        <p:spPr>
          <a:xfrm>
            <a:off x="2286000" y="4215384"/>
            <a:ext cx="96012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techqa</a:t>
            </a:r>
            <a:endParaRPr lang="en-US" sz="1100" dirty="0"/>
          </a:p>
        </p:txBody>
      </p:sp>
      <p:sp>
        <p:nvSpPr>
          <p:cNvPr id="21" name="Text 19"/>
          <p:cNvSpPr/>
          <p:nvPr/>
        </p:nvSpPr>
        <p:spPr>
          <a:xfrm>
            <a:off x="3291840" y="4215384"/>
            <a:ext cx="352044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Short technical support notes</a:t>
            </a:r>
            <a:endParaRPr lang="en-US" sz="1100" dirty="0"/>
          </a:p>
        </p:txBody>
      </p:sp>
      <p:sp>
        <p:nvSpPr>
          <p:cNvPr id="22" name="Text 20"/>
          <p:cNvSpPr/>
          <p:nvPr/>
        </p:nvSpPr>
        <p:spPr>
          <a:xfrm>
            <a:off x="6858000" y="4215384"/>
            <a:ext cx="448056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Articles overlap heavily — telling them apart is harder than finding them</a:t>
            </a:r>
            <a:endParaRPr lang="en-US" sz="1100" dirty="0"/>
          </a:p>
        </p:txBody>
      </p:sp>
      <p:sp>
        <p:nvSpPr>
          <p:cNvPr id="23" name="Shape 21"/>
          <p:cNvSpPr/>
          <p:nvPr/>
        </p:nvSpPr>
        <p:spPr>
          <a:xfrm>
            <a:off x="548640" y="4636008"/>
            <a:ext cx="10652760" cy="384048"/>
          </a:xfrm>
          <a:prstGeom prst="roundRect">
            <a:avLst>
              <a:gd name="adj" fmla="val 9524"/>
            </a:avLst>
          </a:prstGeom>
          <a:solidFill>
            <a:srgbClr val="F0E7DA"/>
          </a:solidFill>
          <a:ln w="7620">
            <a:solidFill>
              <a:srgbClr val="C9B195"/>
            </a:solidFill>
            <a:prstDash val="solid"/>
          </a:ln>
        </p:spPr>
        <p:txBody>
          <a:bodyPr/>
          <a:lstStyle/>
          <a:p>
            <a:endParaRPr lang="en-IN" sz="2800"/>
          </a:p>
        </p:txBody>
      </p:sp>
      <p:sp>
        <p:nvSpPr>
          <p:cNvPr id="24" name="Text 22"/>
          <p:cNvSpPr/>
          <p:nvPr/>
        </p:nvSpPr>
        <p:spPr>
          <a:xfrm>
            <a:off x="685800" y="4636008"/>
            <a:ext cx="1554480" cy="38404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Legal</a:t>
            </a:r>
            <a:endParaRPr lang="en-US" sz="1100" dirty="0"/>
          </a:p>
        </p:txBody>
      </p:sp>
      <p:sp>
        <p:nvSpPr>
          <p:cNvPr id="25" name="Text 23"/>
          <p:cNvSpPr/>
          <p:nvPr/>
        </p:nvSpPr>
        <p:spPr>
          <a:xfrm>
            <a:off x="2286000" y="4636008"/>
            <a:ext cx="96012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cuad</a:t>
            </a:r>
            <a:endParaRPr lang="en-US" sz="1100" dirty="0"/>
          </a:p>
        </p:txBody>
      </p:sp>
      <p:sp>
        <p:nvSpPr>
          <p:cNvPr id="26" name="Text 24"/>
          <p:cNvSpPr/>
          <p:nvPr/>
        </p:nvSpPr>
        <p:spPr>
          <a:xfrm>
            <a:off x="3291840" y="4636008"/>
            <a:ext cx="352044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Commercial contracts</a:t>
            </a:r>
            <a:endParaRPr lang="en-US" sz="1100" dirty="0"/>
          </a:p>
        </p:txBody>
      </p:sp>
      <p:sp>
        <p:nvSpPr>
          <p:cNvPr id="27" name="Text 25"/>
          <p:cNvSpPr/>
          <p:nvPr/>
        </p:nvSpPr>
        <p:spPr>
          <a:xfrm>
            <a:off x="6858000" y="4636008"/>
            <a:ext cx="448056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8,000–109,000 characters, hierarchical clause numbering</a:t>
            </a:r>
            <a:endParaRPr lang="en-US" sz="1100" dirty="0"/>
          </a:p>
        </p:txBody>
      </p:sp>
      <p:sp>
        <p:nvSpPr>
          <p:cNvPr id="28" name="Shape 26"/>
          <p:cNvSpPr/>
          <p:nvPr/>
        </p:nvSpPr>
        <p:spPr>
          <a:xfrm>
            <a:off x="548640" y="5056632"/>
            <a:ext cx="10652760" cy="384048"/>
          </a:xfrm>
          <a:prstGeom prst="roundRect">
            <a:avLst>
              <a:gd name="adj" fmla="val 9524"/>
            </a:avLst>
          </a:prstGeom>
          <a:solidFill>
            <a:srgbClr val="FFFFFF"/>
          </a:solidFill>
          <a:ln w="7620">
            <a:solidFill>
              <a:srgbClr val="C9B195"/>
            </a:solidFill>
            <a:prstDash val="solid"/>
          </a:ln>
        </p:spPr>
        <p:txBody>
          <a:bodyPr/>
          <a:lstStyle/>
          <a:p>
            <a:endParaRPr lang="en-IN" sz="2800"/>
          </a:p>
        </p:txBody>
      </p:sp>
      <p:sp>
        <p:nvSpPr>
          <p:cNvPr id="29" name="Text 27"/>
          <p:cNvSpPr/>
          <p:nvPr/>
        </p:nvSpPr>
        <p:spPr>
          <a:xfrm>
            <a:off x="685800" y="5056632"/>
            <a:ext cx="1554480" cy="38404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Finance</a:t>
            </a:r>
            <a:endParaRPr lang="en-US" sz="1100" dirty="0"/>
          </a:p>
        </p:txBody>
      </p:sp>
      <p:sp>
        <p:nvSpPr>
          <p:cNvPr id="30" name="Text 28"/>
          <p:cNvSpPr/>
          <p:nvPr/>
        </p:nvSpPr>
        <p:spPr>
          <a:xfrm>
            <a:off x="2286000" y="5056632"/>
            <a:ext cx="96012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finqa</a:t>
            </a:r>
            <a:endParaRPr lang="en-US" sz="1100" dirty="0"/>
          </a:p>
        </p:txBody>
      </p:sp>
      <p:sp>
        <p:nvSpPr>
          <p:cNvPr id="31" name="Text 29"/>
          <p:cNvSpPr/>
          <p:nvPr/>
        </p:nvSpPr>
        <p:spPr>
          <a:xfrm>
            <a:off x="3291840" y="5056632"/>
            <a:ext cx="352044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Reports with tables and figures</a:t>
            </a:r>
            <a:endParaRPr lang="en-US" sz="1100" dirty="0"/>
          </a:p>
        </p:txBody>
      </p:sp>
      <p:sp>
        <p:nvSpPr>
          <p:cNvPr id="32" name="Text 30"/>
          <p:cNvSpPr/>
          <p:nvPr/>
        </p:nvSpPr>
        <p:spPr>
          <a:xfrm>
            <a:off x="6858000" y="5056632"/>
            <a:ext cx="448056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 fact is a number plus its qualifying sentence — split them and it is destroyed</a:t>
            </a:r>
            <a:endParaRPr lang="en-US" sz="1100" dirty="0"/>
          </a:p>
        </p:txBody>
      </p:sp>
      <p:sp>
        <p:nvSpPr>
          <p:cNvPr id="33" name="Shape 31"/>
          <p:cNvSpPr/>
          <p:nvPr/>
        </p:nvSpPr>
        <p:spPr>
          <a:xfrm>
            <a:off x="548640" y="5477256"/>
            <a:ext cx="10652760" cy="384048"/>
          </a:xfrm>
          <a:prstGeom prst="roundRect">
            <a:avLst>
              <a:gd name="adj" fmla="val 9524"/>
            </a:avLst>
          </a:prstGeom>
          <a:solidFill>
            <a:srgbClr val="F0E7DA"/>
          </a:solidFill>
          <a:ln w="7620">
            <a:solidFill>
              <a:srgbClr val="C9B195"/>
            </a:solidFill>
            <a:prstDash val="solid"/>
          </a:ln>
        </p:spPr>
        <p:txBody>
          <a:bodyPr/>
          <a:lstStyle/>
          <a:p>
            <a:endParaRPr lang="en-IN" sz="2800"/>
          </a:p>
        </p:txBody>
      </p:sp>
      <p:sp>
        <p:nvSpPr>
          <p:cNvPr id="34" name="Text 32"/>
          <p:cNvSpPr/>
          <p:nvPr/>
        </p:nvSpPr>
        <p:spPr>
          <a:xfrm>
            <a:off x="685800" y="5477256"/>
            <a:ext cx="1554480" cy="38404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General Knowledge</a:t>
            </a:r>
            <a:endParaRPr lang="en-US" sz="1100" dirty="0"/>
          </a:p>
        </p:txBody>
      </p:sp>
      <p:sp>
        <p:nvSpPr>
          <p:cNvPr id="35" name="Text 33"/>
          <p:cNvSpPr/>
          <p:nvPr/>
        </p:nvSpPr>
        <p:spPr>
          <a:xfrm>
            <a:off x="2286000" y="5477256"/>
            <a:ext cx="96012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hotpotqa</a:t>
            </a:r>
            <a:endParaRPr lang="en-US" sz="1100" dirty="0"/>
          </a:p>
        </p:txBody>
      </p:sp>
      <p:sp>
        <p:nvSpPr>
          <p:cNvPr id="36" name="Text 34"/>
          <p:cNvSpPr/>
          <p:nvPr/>
        </p:nvSpPr>
        <p:spPr>
          <a:xfrm>
            <a:off x="3291840" y="5477256"/>
            <a:ext cx="352044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Wikipedia passages</a:t>
            </a:r>
            <a:endParaRPr lang="en-US" sz="1100" dirty="0"/>
          </a:p>
        </p:txBody>
      </p:sp>
      <p:sp>
        <p:nvSpPr>
          <p:cNvPr id="37" name="Text 35"/>
          <p:cNvSpPr/>
          <p:nvPr/>
        </p:nvSpPr>
        <p:spPr>
          <a:xfrm>
            <a:off x="6858000" y="5477256"/>
            <a:ext cx="4480560" cy="38404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Needs two or more documents combined; distractors planted deliberately</a:t>
            </a:r>
            <a:endParaRPr lang="en-US" sz="1100" dirty="0"/>
          </a:p>
        </p:txBody>
      </p:sp>
      <p:sp>
        <p:nvSpPr>
          <p:cNvPr id="39" name="Text 37"/>
          <p:cNvSpPr/>
          <p:nvPr/>
        </p:nvSpPr>
        <p:spPr>
          <a:xfrm>
            <a:off x="685800" y="5897880"/>
            <a:ext cx="1554480" cy="384048"/>
          </a:xfrm>
          <a:prstGeom prst="rect">
            <a:avLst/>
          </a:prstGeom>
          <a:noFill/>
          <a:ln/>
        </p:spPr>
        <p:txBody>
          <a:bodyPr wrap="square" lIns="0" tIns="0" rIns="0" bIns="0" rtlCol="0" anchor="ctr"/>
          <a:lstStyle/>
          <a:p>
            <a:pPr marL="0" indent="0">
              <a:buNone/>
            </a:pPr>
            <a:r>
              <a:rPr lang="en-US" sz="1100" b="1" dirty="0">
                <a:latin typeface="Calibri" pitchFamily="34" charset="0"/>
                <a:ea typeface="Calibri" pitchFamily="34" charset="-122"/>
                <a:cs typeface="Calibri" pitchFamily="34" charset="-120"/>
              </a:rPr>
              <a:t>Biomedical</a:t>
            </a:r>
            <a:endParaRPr lang="en-US" sz="1100" b="1" dirty="0"/>
          </a:p>
        </p:txBody>
      </p:sp>
      <p:sp>
        <p:nvSpPr>
          <p:cNvPr id="40" name="Text 38"/>
          <p:cNvSpPr/>
          <p:nvPr/>
        </p:nvSpPr>
        <p:spPr>
          <a:xfrm>
            <a:off x="2286000" y="5897880"/>
            <a:ext cx="960120" cy="384048"/>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covidqa</a:t>
            </a:r>
            <a:endParaRPr lang="en-US" sz="1100" dirty="0"/>
          </a:p>
        </p:txBody>
      </p:sp>
      <p:sp>
        <p:nvSpPr>
          <p:cNvPr id="41" name="Text 39"/>
          <p:cNvSpPr/>
          <p:nvPr/>
        </p:nvSpPr>
        <p:spPr>
          <a:xfrm>
            <a:off x="3291840" y="5897880"/>
            <a:ext cx="3520440" cy="384048"/>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COVID-19 research literature</a:t>
            </a:r>
            <a:endParaRPr lang="en-US" sz="1100" dirty="0"/>
          </a:p>
        </p:txBody>
      </p:sp>
      <p:sp>
        <p:nvSpPr>
          <p:cNvPr id="42" name="Text 40"/>
          <p:cNvSpPr/>
          <p:nvPr/>
        </p:nvSpPr>
        <p:spPr>
          <a:xfrm>
            <a:off x="6858000" y="5897880"/>
            <a:ext cx="4480560" cy="384048"/>
          </a:xfrm>
          <a:prstGeom prst="rect">
            <a:avLst/>
          </a:prstGeom>
          <a:noFill/>
          <a:ln/>
        </p:spPr>
        <p:txBody>
          <a:bodyPr wrap="square" lIns="0" tIns="0" rIns="0" bIns="0" rtlCol="0" anchor="ctr"/>
          <a:lstStyle/>
          <a:p>
            <a:pPr marL="0" indent="0">
              <a:buNone/>
            </a:pPr>
            <a:r>
              <a:rPr lang="en-US" sz="1100" dirty="0">
                <a:latin typeface="Calibri" pitchFamily="34" charset="0"/>
                <a:ea typeface="Calibri" pitchFamily="34" charset="-122"/>
                <a:cs typeface="Calibri" pitchFamily="34" charset="-120"/>
              </a:rPr>
              <a:t>Complex terms, long texts, high hallucination; needs precise retrieval and grounding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Pipeline Architecture</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Every stage is a setting, not a code change — one engine, four domains</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4.1</a:t>
            </a:r>
            <a:endParaRPr lang="en-US" sz="1000" dirty="0"/>
          </a:p>
        </p:txBody>
      </p:sp>
      <p:sp>
        <p:nvSpPr>
          <p:cNvPr id="7" name="Shape 5"/>
          <p:cNvSpPr/>
          <p:nvPr/>
        </p:nvSpPr>
        <p:spPr>
          <a:xfrm>
            <a:off x="457200" y="1298448"/>
            <a:ext cx="11338560" cy="1170432"/>
          </a:xfrm>
          <a:prstGeom prst="roundRect">
            <a:avLst>
              <a:gd name="adj" fmla="val 4688"/>
            </a:avLst>
          </a:prstGeom>
          <a:ln w="12700">
            <a:solidFill>
              <a:srgbClr val="8C6E52"/>
            </a:solidFill>
            <a:prstDash val="dash"/>
          </a:ln>
        </p:spPr>
        <p:txBody>
          <a:bodyPr/>
          <a:lstStyle/>
          <a:p>
            <a:endParaRPr lang="en-IN"/>
          </a:p>
        </p:txBody>
      </p:sp>
      <p:sp>
        <p:nvSpPr>
          <p:cNvPr id="8" name="Text 6"/>
          <p:cNvSpPr/>
          <p:nvPr/>
        </p:nvSpPr>
        <p:spPr>
          <a:xfrm>
            <a:off x="566928" y="1271016"/>
            <a:ext cx="4206240" cy="219456"/>
          </a:xfrm>
          <a:prstGeom prst="rect">
            <a:avLst/>
          </a:prstGeom>
          <a:noFill/>
          <a:ln/>
        </p:spPr>
        <p:txBody>
          <a:bodyPr wrap="square" lIns="0" tIns="0" rIns="0" bIns="0" rtlCol="0" anchor="ctr"/>
          <a:lstStyle/>
          <a:p>
            <a:pPr marL="0" indent="0">
              <a:buNone/>
            </a:pPr>
            <a:r>
              <a:rPr lang="en-US" sz="850" b="1" dirty="0">
                <a:solidFill>
                  <a:srgbClr val="8C6E52"/>
                </a:solidFill>
                <a:latin typeface="Calibri" pitchFamily="34" charset="0"/>
                <a:ea typeface="Calibri" pitchFamily="34" charset="-122"/>
                <a:cs typeface="Calibri" pitchFamily="34" charset="-120"/>
              </a:rPr>
              <a:t>A · PREPARE &amp; INDEX  (per example — each one brings its own documents)</a:t>
            </a:r>
            <a:endParaRPr lang="en-US" sz="850" dirty="0"/>
          </a:p>
        </p:txBody>
      </p:sp>
      <p:sp>
        <p:nvSpPr>
          <p:cNvPr id="9" name="Text 7"/>
          <p:cNvSpPr/>
          <p:nvPr/>
        </p:nvSpPr>
        <p:spPr>
          <a:xfrm>
            <a:off x="621792" y="1536192"/>
            <a:ext cx="1664208" cy="822960"/>
          </a:xfrm>
          <a:prstGeom prst="roundRect">
            <a:avLst>
              <a:gd name="adj" fmla="val 7778"/>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RAGBench example</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question + documents</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 reference scores</a:t>
            </a:r>
            <a:endParaRPr lang="en-US" sz="1000" dirty="0"/>
          </a:p>
        </p:txBody>
      </p:sp>
      <p:sp>
        <p:nvSpPr>
          <p:cNvPr id="10" name="Text 8"/>
          <p:cNvSpPr/>
          <p:nvPr/>
        </p:nvSpPr>
        <p:spPr>
          <a:xfrm>
            <a:off x="2450592" y="1536192"/>
            <a:ext cx="1664208" cy="822960"/>
          </a:xfrm>
          <a:prstGeom prst="roundRect">
            <a:avLst>
              <a:gd name="adj" fmla="val 7778"/>
            </a:avLst>
          </a:prstGeom>
          <a:solidFill>
            <a:srgbClr val="8C6E52"/>
          </a:solidFill>
          <a:ln w="12700">
            <a:solidFill>
              <a:srgbClr val="8C6E52"/>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Chunker</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whole_doc · sentence</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sliding · fixed · clause</a:t>
            </a:r>
            <a:endParaRPr lang="en-US" sz="1000" dirty="0"/>
          </a:p>
        </p:txBody>
      </p:sp>
      <p:sp>
        <p:nvSpPr>
          <p:cNvPr id="11" name="Text 9"/>
          <p:cNvSpPr/>
          <p:nvPr/>
        </p:nvSpPr>
        <p:spPr>
          <a:xfrm>
            <a:off x="4279392" y="1536192"/>
            <a:ext cx="1664208" cy="822960"/>
          </a:xfrm>
          <a:prstGeom prst="roundRect">
            <a:avLst>
              <a:gd name="adj" fmla="val 7778"/>
            </a:avLst>
          </a:prstGeom>
          <a:solidFill>
            <a:srgbClr val="8C6E52"/>
          </a:solidFill>
          <a:ln w="12700">
            <a:solidFill>
              <a:srgbClr val="8C6E52"/>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Embedder</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MiniLM · e5-large · bge</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FinBERT · legal-BERT</a:t>
            </a:r>
            <a:endParaRPr lang="en-US" sz="1000" dirty="0"/>
          </a:p>
        </p:txBody>
      </p:sp>
      <p:sp>
        <p:nvSpPr>
          <p:cNvPr id="12" name="Text 10"/>
          <p:cNvSpPr/>
          <p:nvPr/>
        </p:nvSpPr>
        <p:spPr>
          <a:xfrm>
            <a:off x="6108192" y="1536192"/>
            <a:ext cx="1664208" cy="822960"/>
          </a:xfrm>
          <a:prstGeom prst="roundRect">
            <a:avLst>
              <a:gd name="adj" fmla="val 7778"/>
            </a:avLst>
          </a:prstGeom>
          <a:solidFill>
            <a:srgbClr val="4A6B4F"/>
          </a:solidFill>
          <a:ln w="12700">
            <a:solidFill>
              <a:srgbClr val="4A6B4F"/>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FAISS index</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exact search,</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no approximation</a:t>
            </a:r>
            <a:endParaRPr lang="en-US" sz="1000" dirty="0"/>
          </a:p>
        </p:txBody>
      </p:sp>
      <p:sp>
        <p:nvSpPr>
          <p:cNvPr id="13" name="Text 11"/>
          <p:cNvSpPr/>
          <p:nvPr/>
        </p:nvSpPr>
        <p:spPr>
          <a:xfrm>
            <a:off x="7936992" y="1536192"/>
            <a:ext cx="1664208" cy="822960"/>
          </a:xfrm>
          <a:prstGeom prst="roundRect">
            <a:avLst>
              <a:gd name="adj" fmla="val 7778"/>
            </a:avLst>
          </a:prstGeom>
          <a:solidFill>
            <a:srgbClr val="4A6B4F"/>
          </a:solidFill>
          <a:ln w="12700">
            <a:solidFill>
              <a:srgbClr val="4A6B4F"/>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BM25 index</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same chunks —</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one unit of retrieval</a:t>
            </a:r>
            <a:endParaRPr lang="en-US" sz="1000" dirty="0"/>
          </a:p>
        </p:txBody>
      </p:sp>
      <p:sp>
        <p:nvSpPr>
          <p:cNvPr id="14" name="Text 12"/>
          <p:cNvSpPr/>
          <p:nvPr/>
        </p:nvSpPr>
        <p:spPr>
          <a:xfrm>
            <a:off x="9765792" y="1536192"/>
            <a:ext cx="1664208" cy="822960"/>
          </a:xfrm>
          <a:prstGeom prst="roundRect">
            <a:avLst>
              <a:gd name="adj" fmla="val 7778"/>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Sentence keys</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base-26, stable to</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any document length</a:t>
            </a:r>
            <a:endParaRPr lang="en-US" sz="1000" dirty="0"/>
          </a:p>
        </p:txBody>
      </p:sp>
      <p:sp>
        <p:nvSpPr>
          <p:cNvPr id="15" name="Shape 13"/>
          <p:cNvSpPr/>
          <p:nvPr/>
        </p:nvSpPr>
        <p:spPr>
          <a:xfrm>
            <a:off x="2304288" y="1947672"/>
            <a:ext cx="128016" cy="0"/>
          </a:xfrm>
          <a:prstGeom prst="line">
            <a:avLst/>
          </a:prstGeom>
          <a:noFill/>
          <a:ln w="19050">
            <a:solidFill>
              <a:srgbClr val="8C6E52"/>
            </a:solidFill>
            <a:prstDash val="solid"/>
            <a:tailEnd type="triangle"/>
          </a:ln>
        </p:spPr>
        <p:txBody>
          <a:bodyPr/>
          <a:lstStyle/>
          <a:p>
            <a:endParaRPr lang="en-IN"/>
          </a:p>
        </p:txBody>
      </p:sp>
      <p:sp>
        <p:nvSpPr>
          <p:cNvPr id="16" name="Shape 14"/>
          <p:cNvSpPr/>
          <p:nvPr/>
        </p:nvSpPr>
        <p:spPr>
          <a:xfrm>
            <a:off x="4133088" y="1947672"/>
            <a:ext cx="128016" cy="0"/>
          </a:xfrm>
          <a:prstGeom prst="line">
            <a:avLst/>
          </a:prstGeom>
          <a:noFill/>
          <a:ln w="19050">
            <a:solidFill>
              <a:srgbClr val="8C6E52"/>
            </a:solidFill>
            <a:prstDash val="solid"/>
            <a:tailEnd type="triangle"/>
          </a:ln>
        </p:spPr>
        <p:txBody>
          <a:bodyPr/>
          <a:lstStyle/>
          <a:p>
            <a:endParaRPr lang="en-IN"/>
          </a:p>
        </p:txBody>
      </p:sp>
      <p:sp>
        <p:nvSpPr>
          <p:cNvPr id="17" name="Shape 15"/>
          <p:cNvSpPr/>
          <p:nvPr/>
        </p:nvSpPr>
        <p:spPr>
          <a:xfrm>
            <a:off x="5961888" y="1947672"/>
            <a:ext cx="128016" cy="0"/>
          </a:xfrm>
          <a:prstGeom prst="line">
            <a:avLst/>
          </a:prstGeom>
          <a:noFill/>
          <a:ln w="19050">
            <a:solidFill>
              <a:srgbClr val="8C6E52"/>
            </a:solidFill>
            <a:prstDash val="solid"/>
            <a:tailEnd type="triangle"/>
          </a:ln>
        </p:spPr>
        <p:txBody>
          <a:bodyPr/>
          <a:lstStyle/>
          <a:p>
            <a:endParaRPr lang="en-IN"/>
          </a:p>
        </p:txBody>
      </p:sp>
      <p:sp>
        <p:nvSpPr>
          <p:cNvPr id="18" name="Shape 16"/>
          <p:cNvSpPr/>
          <p:nvPr/>
        </p:nvSpPr>
        <p:spPr>
          <a:xfrm>
            <a:off x="7790688" y="1947672"/>
            <a:ext cx="128016" cy="0"/>
          </a:xfrm>
          <a:prstGeom prst="line">
            <a:avLst/>
          </a:prstGeom>
          <a:noFill/>
          <a:ln w="19050">
            <a:solidFill>
              <a:srgbClr val="8C6E52"/>
            </a:solidFill>
            <a:prstDash val="solid"/>
            <a:tailEnd type="triangle"/>
          </a:ln>
        </p:spPr>
        <p:txBody>
          <a:bodyPr/>
          <a:lstStyle/>
          <a:p>
            <a:endParaRPr lang="en-IN"/>
          </a:p>
        </p:txBody>
      </p:sp>
      <p:sp>
        <p:nvSpPr>
          <p:cNvPr id="19" name="Shape 17"/>
          <p:cNvSpPr/>
          <p:nvPr/>
        </p:nvSpPr>
        <p:spPr>
          <a:xfrm>
            <a:off x="457200" y="2651760"/>
            <a:ext cx="11338560" cy="1170432"/>
          </a:xfrm>
          <a:prstGeom prst="roundRect">
            <a:avLst>
              <a:gd name="adj" fmla="val 4688"/>
            </a:avLst>
          </a:prstGeom>
          <a:ln w="12700">
            <a:solidFill>
              <a:srgbClr val="4A6B4F"/>
            </a:solidFill>
            <a:prstDash val="dash"/>
          </a:ln>
        </p:spPr>
        <p:txBody>
          <a:bodyPr/>
          <a:lstStyle/>
          <a:p>
            <a:endParaRPr lang="en-IN"/>
          </a:p>
        </p:txBody>
      </p:sp>
      <p:sp>
        <p:nvSpPr>
          <p:cNvPr id="20" name="Text 18"/>
          <p:cNvSpPr/>
          <p:nvPr/>
        </p:nvSpPr>
        <p:spPr>
          <a:xfrm>
            <a:off x="566928" y="2624328"/>
            <a:ext cx="4206240" cy="219456"/>
          </a:xfrm>
          <a:prstGeom prst="rect">
            <a:avLst/>
          </a:prstGeom>
          <a:noFill/>
          <a:ln/>
        </p:spPr>
        <p:txBody>
          <a:bodyPr wrap="square" lIns="0" tIns="0" rIns="0" bIns="0" rtlCol="0" anchor="ctr"/>
          <a:lstStyle/>
          <a:p>
            <a:pPr marL="0" indent="0">
              <a:buNone/>
            </a:pPr>
            <a:r>
              <a:rPr lang="en-US" sz="850" b="1" dirty="0">
                <a:solidFill>
                  <a:srgbClr val="4A6B4F"/>
                </a:solidFill>
                <a:latin typeface="Calibri" pitchFamily="34" charset="0"/>
                <a:ea typeface="Calibri" pitchFamily="34" charset="-122"/>
                <a:cs typeface="Calibri" pitchFamily="34" charset="-120"/>
              </a:rPr>
              <a:t>B · ANSWER A QUESTION</a:t>
            </a:r>
            <a:endParaRPr lang="en-US" sz="850" dirty="0"/>
          </a:p>
        </p:txBody>
      </p:sp>
      <p:sp>
        <p:nvSpPr>
          <p:cNvPr id="21" name="Text 19"/>
          <p:cNvSpPr/>
          <p:nvPr/>
        </p:nvSpPr>
        <p:spPr>
          <a:xfrm>
            <a:off x="621792" y="2889504"/>
            <a:ext cx="1664208" cy="822960"/>
          </a:xfrm>
          <a:prstGeom prst="roundRect">
            <a:avLst>
              <a:gd name="adj" fmla="val 7778"/>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Question</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embedded once,</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prefix applied</a:t>
            </a:r>
            <a:endParaRPr lang="en-US" sz="1000" dirty="0"/>
          </a:p>
        </p:txBody>
      </p:sp>
      <p:sp>
        <p:nvSpPr>
          <p:cNvPr id="22" name="Text 20"/>
          <p:cNvSpPr/>
          <p:nvPr/>
        </p:nvSpPr>
        <p:spPr>
          <a:xfrm>
            <a:off x="2450592" y="2889504"/>
            <a:ext cx="1664208" cy="822960"/>
          </a:xfrm>
          <a:prstGeom prst="roundRect">
            <a:avLst>
              <a:gd name="adj" fmla="val 7778"/>
            </a:avLst>
          </a:prstGeom>
          <a:solidFill>
            <a:srgbClr val="4A6B4F"/>
          </a:solidFill>
          <a:ln w="12700">
            <a:solidFill>
              <a:srgbClr val="4A6B4F"/>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Retrieval</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dense · BM25 · hybrid</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RRF, keep k = 5</a:t>
            </a:r>
            <a:endParaRPr lang="en-US" sz="1000" dirty="0"/>
          </a:p>
        </p:txBody>
      </p:sp>
      <p:sp>
        <p:nvSpPr>
          <p:cNvPr id="23" name="Text 21"/>
          <p:cNvSpPr/>
          <p:nvPr/>
        </p:nvSpPr>
        <p:spPr>
          <a:xfrm>
            <a:off x="4279392" y="2889504"/>
            <a:ext cx="1664208" cy="822960"/>
          </a:xfrm>
          <a:prstGeom prst="roundRect">
            <a:avLst>
              <a:gd name="adj" fmla="val 7778"/>
            </a:avLst>
          </a:prstGeom>
          <a:solidFill>
            <a:srgbClr val="8C6E52"/>
          </a:solidFill>
          <a:ln w="12700">
            <a:solidFill>
              <a:srgbClr val="8C6E52"/>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Rerank (optional)</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cross-encoder</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re-scores shortlist</a:t>
            </a:r>
            <a:endParaRPr lang="en-US" sz="1000" dirty="0"/>
          </a:p>
        </p:txBody>
      </p:sp>
      <p:sp>
        <p:nvSpPr>
          <p:cNvPr id="24" name="Text 22"/>
          <p:cNvSpPr/>
          <p:nvPr/>
        </p:nvSpPr>
        <p:spPr>
          <a:xfrm>
            <a:off x="6108192" y="2889504"/>
            <a:ext cx="1664208" cy="822960"/>
          </a:xfrm>
          <a:prstGeom prst="roundRect">
            <a:avLst>
              <a:gd name="adj" fmla="val 7778"/>
            </a:avLst>
          </a:prstGeom>
          <a:solidFill>
            <a:srgbClr val="8C6E52"/>
          </a:solidFill>
          <a:ln w="12700">
            <a:solidFill>
              <a:srgbClr val="8C6E52"/>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Context order</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forward · reverse</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sides</a:t>
            </a:r>
            <a:endParaRPr lang="en-US" sz="1000" dirty="0"/>
          </a:p>
        </p:txBody>
      </p:sp>
      <p:sp>
        <p:nvSpPr>
          <p:cNvPr id="25" name="Text 23"/>
          <p:cNvSpPr/>
          <p:nvPr/>
        </p:nvSpPr>
        <p:spPr>
          <a:xfrm>
            <a:off x="7936992" y="2889504"/>
            <a:ext cx="1664208" cy="822960"/>
          </a:xfrm>
          <a:prstGeom prst="roundRect">
            <a:avLst>
              <a:gd name="adj" fmla="val 7778"/>
            </a:avLst>
          </a:prstGeom>
          <a:solidFill>
            <a:srgbClr val="B5714B"/>
          </a:solidFill>
          <a:ln w="12700">
            <a:solidFill>
              <a:srgbClr val="B5714B"/>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Generator</a:t>
            </a:r>
            <a:endParaRPr lang="en-US" sz="1000" dirty="0"/>
          </a:p>
          <a:p>
            <a:pPr marL="0" indent="0" algn="ctr">
              <a:buNone/>
            </a:pPr>
            <a:r>
              <a:rPr lang="en-US" sz="850" dirty="0">
                <a:solidFill>
                  <a:srgbClr val="F5DCCB"/>
                </a:solidFill>
                <a:latin typeface="Calibri" pitchFamily="34" charset="0"/>
                <a:ea typeface="Calibri" pitchFamily="34" charset="-122"/>
                <a:cs typeface="Calibri" pitchFamily="34" charset="-120"/>
              </a:rPr>
              <a:t>llama-3.3-70b</a:t>
            </a:r>
            <a:endParaRPr lang="en-US" sz="1000" dirty="0"/>
          </a:p>
          <a:p>
            <a:pPr marL="0" indent="0" algn="ctr">
              <a:buNone/>
            </a:pPr>
            <a:r>
              <a:rPr lang="en-US" sz="850" dirty="0">
                <a:solidFill>
                  <a:srgbClr val="F5DCCB"/>
                </a:solidFill>
                <a:latin typeface="Calibri" pitchFamily="34" charset="0"/>
                <a:ea typeface="Calibri" pitchFamily="34" charset="-122"/>
                <a:cs typeface="Calibri" pitchFamily="34" charset="-120"/>
              </a:rPr>
              <a:t>temp 0, strict refusal</a:t>
            </a:r>
            <a:endParaRPr lang="en-US" sz="1000" dirty="0"/>
          </a:p>
        </p:txBody>
      </p:sp>
      <p:sp>
        <p:nvSpPr>
          <p:cNvPr id="26" name="Text 24"/>
          <p:cNvSpPr/>
          <p:nvPr/>
        </p:nvSpPr>
        <p:spPr>
          <a:xfrm>
            <a:off x="9765792" y="2889504"/>
            <a:ext cx="1664208" cy="822960"/>
          </a:xfrm>
          <a:prstGeom prst="roundRect">
            <a:avLst>
              <a:gd name="adj" fmla="val 7778"/>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Grounded answer</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 cited chunks</a:t>
            </a:r>
            <a:endParaRPr lang="en-US" sz="1000" dirty="0"/>
          </a:p>
        </p:txBody>
      </p:sp>
      <p:sp>
        <p:nvSpPr>
          <p:cNvPr id="27" name="Shape 25"/>
          <p:cNvSpPr/>
          <p:nvPr/>
        </p:nvSpPr>
        <p:spPr>
          <a:xfrm>
            <a:off x="2304288" y="3300984"/>
            <a:ext cx="128016" cy="0"/>
          </a:xfrm>
          <a:prstGeom prst="line">
            <a:avLst/>
          </a:prstGeom>
          <a:noFill/>
          <a:ln w="19050">
            <a:solidFill>
              <a:srgbClr val="8C6E52"/>
            </a:solidFill>
            <a:prstDash val="solid"/>
            <a:tailEnd type="triangle"/>
          </a:ln>
        </p:spPr>
        <p:txBody>
          <a:bodyPr/>
          <a:lstStyle/>
          <a:p>
            <a:endParaRPr lang="en-IN"/>
          </a:p>
        </p:txBody>
      </p:sp>
      <p:sp>
        <p:nvSpPr>
          <p:cNvPr id="28" name="Shape 26"/>
          <p:cNvSpPr/>
          <p:nvPr/>
        </p:nvSpPr>
        <p:spPr>
          <a:xfrm>
            <a:off x="4133088" y="3300984"/>
            <a:ext cx="128016" cy="0"/>
          </a:xfrm>
          <a:prstGeom prst="line">
            <a:avLst/>
          </a:prstGeom>
          <a:noFill/>
          <a:ln w="19050">
            <a:solidFill>
              <a:srgbClr val="8C6E52"/>
            </a:solidFill>
            <a:prstDash val="solid"/>
            <a:tailEnd type="triangle"/>
          </a:ln>
        </p:spPr>
        <p:txBody>
          <a:bodyPr/>
          <a:lstStyle/>
          <a:p>
            <a:endParaRPr lang="en-IN"/>
          </a:p>
        </p:txBody>
      </p:sp>
      <p:sp>
        <p:nvSpPr>
          <p:cNvPr id="29" name="Shape 27"/>
          <p:cNvSpPr/>
          <p:nvPr/>
        </p:nvSpPr>
        <p:spPr>
          <a:xfrm>
            <a:off x="5961888" y="3300984"/>
            <a:ext cx="128016" cy="0"/>
          </a:xfrm>
          <a:prstGeom prst="line">
            <a:avLst/>
          </a:prstGeom>
          <a:noFill/>
          <a:ln w="19050">
            <a:solidFill>
              <a:srgbClr val="8C6E52"/>
            </a:solidFill>
            <a:prstDash val="solid"/>
            <a:tailEnd type="triangle"/>
          </a:ln>
        </p:spPr>
        <p:txBody>
          <a:bodyPr/>
          <a:lstStyle/>
          <a:p>
            <a:endParaRPr lang="en-IN"/>
          </a:p>
        </p:txBody>
      </p:sp>
      <p:sp>
        <p:nvSpPr>
          <p:cNvPr id="30" name="Shape 28"/>
          <p:cNvSpPr/>
          <p:nvPr/>
        </p:nvSpPr>
        <p:spPr>
          <a:xfrm>
            <a:off x="7790688" y="3300984"/>
            <a:ext cx="128016" cy="0"/>
          </a:xfrm>
          <a:prstGeom prst="line">
            <a:avLst/>
          </a:prstGeom>
          <a:noFill/>
          <a:ln w="19050">
            <a:solidFill>
              <a:srgbClr val="8C6E52"/>
            </a:solidFill>
            <a:prstDash val="solid"/>
            <a:tailEnd type="triangle"/>
          </a:ln>
        </p:spPr>
        <p:txBody>
          <a:bodyPr/>
          <a:lstStyle/>
          <a:p>
            <a:endParaRPr lang="en-IN"/>
          </a:p>
        </p:txBody>
      </p:sp>
      <p:sp>
        <p:nvSpPr>
          <p:cNvPr id="31" name="Shape 29"/>
          <p:cNvSpPr/>
          <p:nvPr/>
        </p:nvSpPr>
        <p:spPr>
          <a:xfrm>
            <a:off x="9619488" y="3300984"/>
            <a:ext cx="128016" cy="0"/>
          </a:xfrm>
          <a:prstGeom prst="line">
            <a:avLst/>
          </a:prstGeom>
          <a:noFill/>
          <a:ln w="19050">
            <a:solidFill>
              <a:srgbClr val="8C6E52"/>
            </a:solidFill>
            <a:prstDash val="solid"/>
            <a:tailEnd type="triangle"/>
          </a:ln>
        </p:spPr>
        <p:txBody>
          <a:bodyPr/>
          <a:lstStyle/>
          <a:p>
            <a:endParaRPr lang="en-IN"/>
          </a:p>
        </p:txBody>
      </p:sp>
      <p:sp>
        <p:nvSpPr>
          <p:cNvPr id="32" name="Shape 30"/>
          <p:cNvSpPr/>
          <p:nvPr/>
        </p:nvSpPr>
        <p:spPr>
          <a:xfrm>
            <a:off x="6940296" y="2377440"/>
            <a:ext cx="0" cy="457200"/>
          </a:xfrm>
          <a:prstGeom prst="line">
            <a:avLst/>
          </a:prstGeom>
          <a:noFill/>
          <a:ln w="15240">
            <a:solidFill>
              <a:srgbClr val="4A6B4F"/>
            </a:solidFill>
            <a:prstDash val="dash"/>
            <a:tailEnd type="triangle"/>
          </a:ln>
        </p:spPr>
        <p:txBody>
          <a:bodyPr/>
          <a:lstStyle/>
          <a:p>
            <a:endParaRPr lang="en-IN"/>
          </a:p>
        </p:txBody>
      </p:sp>
      <p:sp>
        <p:nvSpPr>
          <p:cNvPr id="33" name="Shape 31"/>
          <p:cNvSpPr/>
          <p:nvPr/>
        </p:nvSpPr>
        <p:spPr>
          <a:xfrm>
            <a:off x="457200" y="4005072"/>
            <a:ext cx="11338560" cy="1170432"/>
          </a:xfrm>
          <a:prstGeom prst="roundRect">
            <a:avLst>
              <a:gd name="adj" fmla="val 4688"/>
            </a:avLst>
          </a:prstGeom>
          <a:ln w="12700">
            <a:solidFill>
              <a:srgbClr val="B5714B"/>
            </a:solidFill>
            <a:prstDash val="dash"/>
          </a:ln>
        </p:spPr>
        <p:txBody>
          <a:bodyPr/>
          <a:lstStyle/>
          <a:p>
            <a:endParaRPr lang="en-IN"/>
          </a:p>
        </p:txBody>
      </p:sp>
      <p:sp>
        <p:nvSpPr>
          <p:cNvPr id="34" name="Text 32"/>
          <p:cNvSpPr/>
          <p:nvPr/>
        </p:nvSpPr>
        <p:spPr>
          <a:xfrm>
            <a:off x="566928" y="3977640"/>
            <a:ext cx="4206240" cy="219456"/>
          </a:xfrm>
          <a:prstGeom prst="rect">
            <a:avLst/>
          </a:prstGeom>
          <a:noFill/>
          <a:ln/>
        </p:spPr>
        <p:txBody>
          <a:bodyPr wrap="square" lIns="0" tIns="0" rIns="0" bIns="0" rtlCol="0" anchor="ctr"/>
          <a:lstStyle/>
          <a:p>
            <a:pPr marL="0" indent="0">
              <a:buNone/>
            </a:pPr>
            <a:r>
              <a:rPr lang="en-US" sz="850" b="1" dirty="0">
                <a:solidFill>
                  <a:srgbClr val="B5714B"/>
                </a:solidFill>
                <a:latin typeface="Calibri" pitchFamily="34" charset="0"/>
                <a:ea typeface="Calibri" pitchFamily="34" charset="-122"/>
                <a:cs typeface="Calibri" pitchFamily="34" charset="-120"/>
              </a:rPr>
              <a:t>C · SCORE THE ANSWER  (separate model, separate path)</a:t>
            </a:r>
            <a:endParaRPr lang="en-US" sz="850" dirty="0"/>
          </a:p>
        </p:txBody>
      </p:sp>
      <p:sp>
        <p:nvSpPr>
          <p:cNvPr id="35" name="Text 33"/>
          <p:cNvSpPr/>
          <p:nvPr/>
        </p:nvSpPr>
        <p:spPr>
          <a:xfrm>
            <a:off x="621792" y="4242816"/>
            <a:ext cx="2103120" cy="822960"/>
          </a:xfrm>
          <a:prstGeom prst="roundRect">
            <a:avLst>
              <a:gd name="adj" fmla="val 7778"/>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Judge input</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question · raw nested</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[[key, sentence]] · answer</a:t>
            </a:r>
            <a:endParaRPr lang="en-US" sz="1000" dirty="0"/>
          </a:p>
        </p:txBody>
      </p:sp>
      <p:sp>
        <p:nvSpPr>
          <p:cNvPr id="36" name="Text 34"/>
          <p:cNvSpPr/>
          <p:nvPr/>
        </p:nvSpPr>
        <p:spPr>
          <a:xfrm>
            <a:off x="2907792" y="4242816"/>
            <a:ext cx="2103120" cy="822960"/>
          </a:xfrm>
          <a:prstGeom prst="roundRect">
            <a:avLst>
              <a:gd name="adj" fmla="val 7778"/>
            </a:avLst>
          </a:prstGeom>
          <a:solidFill>
            <a:srgbClr val="5C4A38"/>
          </a:solidFill>
          <a:ln w="12700">
            <a:solidFill>
              <a:srgbClr val="5C4A38"/>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Judge model</a:t>
            </a:r>
            <a:endParaRPr lang="en-US" sz="1000" dirty="0"/>
          </a:p>
          <a:p>
            <a:pPr marL="0" indent="0" algn="ctr">
              <a:buNone/>
            </a:pPr>
            <a:r>
              <a:rPr lang="en-US" sz="850" dirty="0">
                <a:solidFill>
                  <a:srgbClr val="C9B195"/>
                </a:solidFill>
                <a:latin typeface="Calibri" pitchFamily="34" charset="0"/>
                <a:ea typeface="Calibri" pitchFamily="34" charset="-122"/>
                <a:cs typeface="Calibri" pitchFamily="34" charset="-120"/>
              </a:rPr>
              <a:t>gpt-oss-120b — LARGER</a:t>
            </a:r>
            <a:endParaRPr lang="en-US" sz="1000" dirty="0"/>
          </a:p>
          <a:p>
            <a:pPr marL="0" indent="0" algn="ctr">
              <a:buNone/>
            </a:pPr>
            <a:r>
              <a:rPr lang="en-US" sz="850" dirty="0">
                <a:solidFill>
                  <a:srgbClr val="C9B195"/>
                </a:solidFill>
                <a:latin typeface="Calibri" pitchFamily="34" charset="0"/>
                <a:ea typeface="Calibri" pitchFamily="34" charset="-122"/>
                <a:cs typeface="Calibri" pitchFamily="34" charset="-120"/>
              </a:rPr>
              <a:t>than the generator</a:t>
            </a:r>
            <a:endParaRPr lang="en-US" sz="1000" dirty="0"/>
          </a:p>
        </p:txBody>
      </p:sp>
      <p:sp>
        <p:nvSpPr>
          <p:cNvPr id="37" name="Text 35"/>
          <p:cNvSpPr/>
          <p:nvPr/>
        </p:nvSpPr>
        <p:spPr>
          <a:xfrm>
            <a:off x="5193792" y="4242816"/>
            <a:ext cx="2103120" cy="822960"/>
          </a:xfrm>
          <a:prstGeom prst="roundRect">
            <a:avLst>
              <a:gd name="adj" fmla="val 7778"/>
            </a:avLst>
          </a:prstGeom>
          <a:solidFill>
            <a:srgbClr val="8C6E52"/>
          </a:solidFill>
          <a:ln w="12700">
            <a:solidFill>
              <a:srgbClr val="8C6E52"/>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Discard invented labels</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keep only labels matching</a:t>
            </a:r>
            <a:endParaRPr lang="en-US" sz="1000" dirty="0"/>
          </a:p>
          <a:p>
            <a:pPr marL="0" indent="0" algn="ctr">
              <a:buNone/>
            </a:pPr>
            <a:r>
              <a:rPr lang="en-US" sz="850" dirty="0">
                <a:solidFill>
                  <a:srgbClr val="F0E7DA"/>
                </a:solidFill>
                <a:latin typeface="Calibri" pitchFamily="34" charset="0"/>
                <a:ea typeface="Calibri" pitchFamily="34" charset="-122"/>
                <a:cs typeface="Calibri" pitchFamily="34" charset="-120"/>
              </a:rPr>
              <a:t>real retrieved sentences</a:t>
            </a:r>
            <a:endParaRPr lang="en-US" sz="1000" dirty="0"/>
          </a:p>
        </p:txBody>
      </p:sp>
      <p:sp>
        <p:nvSpPr>
          <p:cNvPr id="38" name="Text 36"/>
          <p:cNvSpPr/>
          <p:nvPr/>
        </p:nvSpPr>
        <p:spPr>
          <a:xfrm>
            <a:off x="7479792" y="4242816"/>
            <a:ext cx="2103120" cy="822960"/>
          </a:xfrm>
          <a:prstGeom prst="roundRect">
            <a:avLst>
              <a:gd name="adj" fmla="val 7778"/>
            </a:avLst>
          </a:prstGeom>
          <a:solidFill>
            <a:srgbClr val="4A6B4F"/>
          </a:solidFill>
          <a:ln w="12700">
            <a:solidFill>
              <a:srgbClr val="4A6B4F"/>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TRACe metrics</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relevance · utilization</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completeness · adherence</a:t>
            </a:r>
            <a:endParaRPr lang="en-US" sz="1000" dirty="0"/>
          </a:p>
        </p:txBody>
      </p:sp>
      <p:sp>
        <p:nvSpPr>
          <p:cNvPr id="39" name="Text 37"/>
          <p:cNvSpPr/>
          <p:nvPr/>
        </p:nvSpPr>
        <p:spPr>
          <a:xfrm>
            <a:off x="9765792" y="4242816"/>
            <a:ext cx="2103120" cy="822960"/>
          </a:xfrm>
          <a:prstGeom prst="roundRect">
            <a:avLst>
              <a:gd name="adj" fmla="val 7778"/>
            </a:avLst>
          </a:prstGeom>
          <a:solidFill>
            <a:srgbClr val="7D9B76"/>
          </a:solidFill>
          <a:ln w="12700">
            <a:solidFill>
              <a:srgbClr val="7D9B76"/>
            </a:solidFill>
          </a:ln>
        </p:spPr>
        <p:txBody>
          <a:bodyPr wrap="square" lIns="38100" tIns="38100" rIns="38100" bIns="381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Compare to reference</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RMSE ↓  ·  AUCROC ↑</a:t>
            </a:r>
            <a:endParaRPr lang="en-US" sz="1000" dirty="0"/>
          </a:p>
          <a:p>
            <a:pPr marL="0" indent="0" algn="ctr">
              <a:buNone/>
            </a:pPr>
            <a:r>
              <a:rPr lang="en-US" sz="850" dirty="0">
                <a:solidFill>
                  <a:srgbClr val="E3EDE0"/>
                </a:solidFill>
                <a:latin typeface="Calibri" pitchFamily="34" charset="0"/>
                <a:ea typeface="Calibri" pitchFamily="34" charset="-122"/>
                <a:cs typeface="Calibri" pitchFamily="34" charset="-120"/>
              </a:rPr>
              <a:t>at 200 examples</a:t>
            </a:r>
            <a:endParaRPr lang="en-US" sz="1000" dirty="0"/>
          </a:p>
        </p:txBody>
      </p:sp>
      <p:sp>
        <p:nvSpPr>
          <p:cNvPr id="40" name="Shape 38"/>
          <p:cNvSpPr/>
          <p:nvPr/>
        </p:nvSpPr>
        <p:spPr>
          <a:xfrm>
            <a:off x="2752344" y="4654296"/>
            <a:ext cx="128016" cy="0"/>
          </a:xfrm>
          <a:prstGeom prst="line">
            <a:avLst/>
          </a:prstGeom>
          <a:noFill/>
          <a:ln w="19050">
            <a:solidFill>
              <a:srgbClr val="8C6E52"/>
            </a:solidFill>
            <a:prstDash val="solid"/>
            <a:tailEnd type="triangle"/>
          </a:ln>
        </p:spPr>
        <p:txBody>
          <a:bodyPr/>
          <a:lstStyle/>
          <a:p>
            <a:endParaRPr lang="en-IN"/>
          </a:p>
        </p:txBody>
      </p:sp>
      <p:sp>
        <p:nvSpPr>
          <p:cNvPr id="41" name="Shape 39"/>
          <p:cNvSpPr/>
          <p:nvPr/>
        </p:nvSpPr>
        <p:spPr>
          <a:xfrm>
            <a:off x="5038344" y="4654296"/>
            <a:ext cx="128016" cy="0"/>
          </a:xfrm>
          <a:prstGeom prst="line">
            <a:avLst/>
          </a:prstGeom>
          <a:noFill/>
          <a:ln w="19050">
            <a:solidFill>
              <a:srgbClr val="8C6E52"/>
            </a:solidFill>
            <a:prstDash val="solid"/>
            <a:tailEnd type="triangle"/>
          </a:ln>
        </p:spPr>
        <p:txBody>
          <a:bodyPr/>
          <a:lstStyle/>
          <a:p>
            <a:endParaRPr lang="en-IN"/>
          </a:p>
        </p:txBody>
      </p:sp>
      <p:sp>
        <p:nvSpPr>
          <p:cNvPr id="42" name="Shape 40"/>
          <p:cNvSpPr/>
          <p:nvPr/>
        </p:nvSpPr>
        <p:spPr>
          <a:xfrm>
            <a:off x="7324344" y="4654296"/>
            <a:ext cx="128016" cy="0"/>
          </a:xfrm>
          <a:prstGeom prst="line">
            <a:avLst/>
          </a:prstGeom>
          <a:noFill/>
          <a:ln w="19050">
            <a:solidFill>
              <a:srgbClr val="8C6E52"/>
            </a:solidFill>
            <a:prstDash val="solid"/>
            <a:tailEnd type="triangle"/>
          </a:ln>
        </p:spPr>
        <p:txBody>
          <a:bodyPr/>
          <a:lstStyle/>
          <a:p>
            <a:endParaRPr lang="en-IN"/>
          </a:p>
        </p:txBody>
      </p:sp>
      <p:sp>
        <p:nvSpPr>
          <p:cNvPr id="43" name="Shape 41"/>
          <p:cNvSpPr/>
          <p:nvPr/>
        </p:nvSpPr>
        <p:spPr>
          <a:xfrm>
            <a:off x="9610344" y="4654296"/>
            <a:ext cx="128016" cy="0"/>
          </a:xfrm>
          <a:prstGeom prst="line">
            <a:avLst/>
          </a:prstGeom>
          <a:noFill/>
          <a:ln w="19050">
            <a:solidFill>
              <a:srgbClr val="8C6E52"/>
            </a:solidFill>
            <a:prstDash val="solid"/>
            <a:tailEnd type="triangle"/>
          </a:ln>
        </p:spPr>
        <p:txBody>
          <a:bodyPr/>
          <a:lstStyle/>
          <a:p>
            <a:endParaRPr lang="en-IN"/>
          </a:p>
        </p:txBody>
      </p:sp>
      <p:sp>
        <p:nvSpPr>
          <p:cNvPr id="44" name="Shape 42"/>
          <p:cNvSpPr/>
          <p:nvPr/>
        </p:nvSpPr>
        <p:spPr>
          <a:xfrm>
            <a:off x="457200" y="5358384"/>
            <a:ext cx="11338560" cy="1170432"/>
          </a:xfrm>
          <a:prstGeom prst="roundRect">
            <a:avLst>
              <a:gd name="adj" fmla="val 6250"/>
            </a:avLst>
          </a:prstGeom>
          <a:solidFill>
            <a:srgbClr val="F0E7DA"/>
          </a:solidFill>
          <a:ln w="9525">
            <a:solidFill>
              <a:srgbClr val="C9B195"/>
            </a:solidFill>
            <a:prstDash val="solid"/>
          </a:ln>
        </p:spPr>
        <p:txBody>
          <a:bodyPr/>
          <a:lstStyle/>
          <a:p>
            <a:endParaRPr lang="en-IN"/>
          </a:p>
        </p:txBody>
      </p:sp>
      <p:sp>
        <p:nvSpPr>
          <p:cNvPr id="45" name="Text 43"/>
          <p:cNvSpPr/>
          <p:nvPr/>
        </p:nvSpPr>
        <p:spPr>
          <a:xfrm>
            <a:off x="621792" y="5431536"/>
            <a:ext cx="7315200" cy="237744"/>
          </a:xfrm>
          <a:prstGeom prst="rect">
            <a:avLst/>
          </a:prstGeom>
          <a:noFill/>
          <a:ln/>
        </p:spPr>
        <p:txBody>
          <a:bodyPr wrap="square" lIns="0" tIns="0" rIns="0" bIns="0" rtlCol="0" anchor="ctr"/>
          <a:lstStyle/>
          <a:p>
            <a:pPr marL="0" indent="0">
              <a:buNone/>
            </a:pPr>
            <a:r>
              <a:rPr lang="en-US" sz="850" b="1" dirty="0">
                <a:solidFill>
                  <a:srgbClr val="5C4A38"/>
                </a:solidFill>
                <a:latin typeface="Calibri" pitchFamily="34" charset="0"/>
                <a:ea typeface="Calibri" pitchFamily="34" charset="-122"/>
                <a:cs typeface="Calibri" pitchFamily="34" charset="-120"/>
              </a:rPr>
              <a:t>D · KEEPING IT RUNNING — the layer textbook diagrams leave out</a:t>
            </a:r>
            <a:endParaRPr lang="en-US" sz="850" dirty="0"/>
          </a:p>
        </p:txBody>
      </p:sp>
      <p:sp>
        <p:nvSpPr>
          <p:cNvPr id="46" name="Text 44"/>
          <p:cNvSpPr/>
          <p:nvPr/>
        </p:nvSpPr>
        <p:spPr>
          <a:xfrm>
            <a:off x="621792" y="5705856"/>
            <a:ext cx="2651760" cy="713232"/>
          </a:xfrm>
          <a:prstGeom prst="roundRect">
            <a:avLst>
              <a:gd name="adj" fmla="val 8974"/>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Triple-save checkpoints</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every 5 examples → Colab → Drive → GitHub</a:t>
            </a:r>
            <a:endParaRPr lang="en-US" sz="1000" dirty="0"/>
          </a:p>
        </p:txBody>
      </p:sp>
      <p:sp>
        <p:nvSpPr>
          <p:cNvPr id="47" name="Text 45"/>
          <p:cNvSpPr/>
          <p:nvPr/>
        </p:nvSpPr>
        <p:spPr>
          <a:xfrm>
            <a:off x="3456432" y="5705856"/>
            <a:ext cx="2651760" cy="713232"/>
          </a:xfrm>
          <a:prstGeom prst="roundRect">
            <a:avLst>
              <a:gd name="adj" fmla="val 8974"/>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API key rotation</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6 Groq keys + paid OpenRouter overflow</a:t>
            </a:r>
            <a:endParaRPr lang="en-US" sz="1000" dirty="0"/>
          </a:p>
        </p:txBody>
      </p:sp>
      <p:sp>
        <p:nvSpPr>
          <p:cNvPr id="48" name="Text 46"/>
          <p:cNvSpPr/>
          <p:nvPr/>
        </p:nvSpPr>
        <p:spPr>
          <a:xfrm>
            <a:off x="6291072" y="5705856"/>
            <a:ext cx="2651760" cy="713232"/>
          </a:xfrm>
          <a:prstGeom prst="roundRect">
            <a:avLst>
              <a:gd name="adj" fmla="val 8974"/>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Defensive JSON repair</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contracts break parsers — we repair and salvage</a:t>
            </a:r>
            <a:endParaRPr lang="en-US" sz="1000" dirty="0"/>
          </a:p>
        </p:txBody>
      </p:sp>
      <p:sp>
        <p:nvSpPr>
          <p:cNvPr id="49" name="Text 47"/>
          <p:cNvSpPr/>
          <p:nvPr/>
        </p:nvSpPr>
        <p:spPr>
          <a:xfrm>
            <a:off x="9125712" y="5705856"/>
            <a:ext cx="2651760" cy="713232"/>
          </a:xfrm>
          <a:prstGeom prst="roundRect">
            <a:avLst>
              <a:gd name="adj" fmla="val 8974"/>
            </a:avLst>
          </a:prstGeom>
          <a:solidFill>
            <a:srgbClr val="FFFFFF"/>
          </a:solidFill>
          <a:ln w="12700">
            <a:solidFill>
              <a:srgbClr val="C9B195"/>
            </a:solidFill>
          </a:ln>
        </p:spPr>
        <p:txBody>
          <a:bodyPr wrap="square" lIns="38100" tIns="38100" rIns="38100" bIns="381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Reproducibility contract</a:t>
            </a:r>
            <a:endParaRPr lang="en-US" sz="1000" dirty="0"/>
          </a:p>
          <a:p>
            <a:pPr marL="0" indent="0" algn="ctr">
              <a:buNone/>
            </a:pPr>
            <a:r>
              <a:rPr lang="en-US" sz="850" dirty="0">
                <a:solidFill>
                  <a:srgbClr val="7A6A5A"/>
                </a:solidFill>
                <a:latin typeface="Calibri" pitchFamily="34" charset="0"/>
                <a:ea typeface="Calibri" pitchFamily="34" charset="-122"/>
                <a:cs typeface="Calibri" pitchFamily="34" charset="-120"/>
              </a:rPr>
              <a:t>seed 42 · k=5 · 25 screen / 200 report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Methodology — Stage-Wise Elimination</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Sweep everything cheaply, work out what carries the variation, spend the expensive runs there</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4.3</a:t>
            </a:r>
            <a:endParaRPr lang="en-US" sz="1000" dirty="0"/>
          </a:p>
        </p:txBody>
      </p:sp>
      <p:sp>
        <p:nvSpPr>
          <p:cNvPr id="7" name="Shape 5"/>
          <p:cNvSpPr/>
          <p:nvPr/>
        </p:nvSpPr>
        <p:spPr>
          <a:xfrm>
            <a:off x="548640" y="1371600"/>
            <a:ext cx="2057400" cy="1143000"/>
          </a:xfrm>
          <a:prstGeom prst="roundRect">
            <a:avLst>
              <a:gd name="adj" fmla="val 6400"/>
            </a:avLst>
          </a:prstGeom>
          <a:solidFill>
            <a:srgbClr val="8C6E52"/>
          </a:solidFill>
          <a:ln/>
        </p:spPr>
        <p:txBody>
          <a:bodyPr/>
          <a:lstStyle/>
          <a:p>
            <a:endParaRPr lang="en-IN"/>
          </a:p>
        </p:txBody>
      </p:sp>
      <p:sp>
        <p:nvSpPr>
          <p:cNvPr id="8" name="Text 6"/>
          <p:cNvSpPr/>
          <p:nvPr/>
        </p:nvSpPr>
        <p:spPr>
          <a:xfrm>
            <a:off x="548640" y="1481328"/>
            <a:ext cx="205740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Smoke test</a:t>
            </a:r>
            <a:endParaRPr lang="en-US" sz="1300" dirty="0"/>
          </a:p>
        </p:txBody>
      </p:sp>
      <p:sp>
        <p:nvSpPr>
          <p:cNvPr id="9" name="Text 7"/>
          <p:cNvSpPr/>
          <p:nvPr/>
        </p:nvSpPr>
        <p:spPr>
          <a:xfrm>
            <a:off x="548640" y="1810512"/>
            <a:ext cx="2057400" cy="603504"/>
          </a:xfrm>
          <a:prstGeom prst="rect">
            <a:avLst/>
          </a:prstGeom>
          <a:noFill/>
          <a:ln/>
        </p:spPr>
        <p:txBody>
          <a:bodyPr wrap="square" lIns="0" tIns="0" rIns="0" bIns="0" rtlCol="0" anchor="ctr"/>
          <a:lstStyle/>
          <a:p>
            <a:pPr marL="0" indent="0" algn="ctr">
              <a:buNone/>
            </a:pPr>
            <a:r>
              <a:rPr lang="en-US" sz="950" dirty="0">
                <a:solidFill>
                  <a:srgbClr val="F0E7DA"/>
                </a:solidFill>
                <a:latin typeface="Calibri" pitchFamily="34" charset="0"/>
                <a:ea typeface="Calibri" pitchFamily="34" charset="-122"/>
                <a:cs typeface="Calibri" pitchFamily="34" charset="-120"/>
              </a:rPr>
              <a:t>N = 1 — does</a:t>
            </a:r>
            <a:endParaRPr lang="en-US" sz="950" dirty="0"/>
          </a:p>
          <a:p>
            <a:pPr marL="0" indent="0" algn="ctr">
              <a:buNone/>
            </a:pPr>
            <a:r>
              <a:rPr lang="en-US" sz="950" dirty="0">
                <a:solidFill>
                  <a:srgbClr val="F0E7DA"/>
                </a:solidFill>
                <a:latin typeface="Calibri" pitchFamily="34" charset="0"/>
                <a:ea typeface="Calibri" pitchFamily="34" charset="-122"/>
                <a:cs typeface="Calibri" pitchFamily="34" charset="-120"/>
              </a:rPr>
              <a:t>every cell run?</a:t>
            </a:r>
            <a:endParaRPr lang="en-US" sz="950" dirty="0"/>
          </a:p>
        </p:txBody>
      </p:sp>
      <p:sp>
        <p:nvSpPr>
          <p:cNvPr id="10" name="Shape 8"/>
          <p:cNvSpPr/>
          <p:nvPr/>
        </p:nvSpPr>
        <p:spPr>
          <a:xfrm>
            <a:off x="2624328" y="1938528"/>
            <a:ext cx="182880" cy="0"/>
          </a:xfrm>
          <a:prstGeom prst="line">
            <a:avLst/>
          </a:prstGeom>
          <a:noFill/>
          <a:ln w="19050">
            <a:solidFill>
              <a:srgbClr val="5C4A38"/>
            </a:solidFill>
            <a:prstDash val="solid"/>
            <a:tailEnd type="triangle"/>
          </a:ln>
        </p:spPr>
        <p:txBody>
          <a:bodyPr/>
          <a:lstStyle/>
          <a:p>
            <a:endParaRPr lang="en-IN"/>
          </a:p>
        </p:txBody>
      </p:sp>
      <p:sp>
        <p:nvSpPr>
          <p:cNvPr id="11" name="Shape 9"/>
          <p:cNvSpPr/>
          <p:nvPr/>
        </p:nvSpPr>
        <p:spPr>
          <a:xfrm>
            <a:off x="2834640" y="1371600"/>
            <a:ext cx="2057400" cy="1143000"/>
          </a:xfrm>
          <a:prstGeom prst="roundRect">
            <a:avLst>
              <a:gd name="adj" fmla="val 6400"/>
            </a:avLst>
          </a:prstGeom>
          <a:solidFill>
            <a:srgbClr val="8C6E52"/>
          </a:solidFill>
          <a:ln/>
        </p:spPr>
        <p:txBody>
          <a:bodyPr/>
          <a:lstStyle/>
          <a:p>
            <a:endParaRPr lang="en-IN"/>
          </a:p>
        </p:txBody>
      </p:sp>
      <p:sp>
        <p:nvSpPr>
          <p:cNvPr id="12" name="Text 10"/>
          <p:cNvSpPr/>
          <p:nvPr/>
        </p:nvSpPr>
        <p:spPr>
          <a:xfrm>
            <a:off x="2834640" y="1481328"/>
            <a:ext cx="205740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Full sweep</a:t>
            </a:r>
            <a:endParaRPr lang="en-US" sz="1300" dirty="0"/>
          </a:p>
        </p:txBody>
      </p:sp>
      <p:sp>
        <p:nvSpPr>
          <p:cNvPr id="13" name="Text 11"/>
          <p:cNvSpPr/>
          <p:nvPr/>
        </p:nvSpPr>
        <p:spPr>
          <a:xfrm>
            <a:off x="2834640" y="1810512"/>
            <a:ext cx="2057400" cy="603504"/>
          </a:xfrm>
          <a:prstGeom prst="rect">
            <a:avLst/>
          </a:prstGeom>
          <a:noFill/>
          <a:ln/>
        </p:spPr>
        <p:txBody>
          <a:bodyPr wrap="square" lIns="0" tIns="0" rIns="0" bIns="0" rtlCol="0" anchor="ctr"/>
          <a:lstStyle/>
          <a:p>
            <a:pPr marL="0" indent="0" algn="ctr">
              <a:buNone/>
            </a:pPr>
            <a:r>
              <a:rPr lang="en-US" sz="950" dirty="0">
                <a:solidFill>
                  <a:srgbClr val="F0E7DA"/>
                </a:solidFill>
                <a:latin typeface="Calibri" pitchFamily="34" charset="0"/>
                <a:ea typeface="Calibri" pitchFamily="34" charset="-122"/>
                <a:cs typeface="Calibri" pitchFamily="34" charset="-120"/>
              </a:rPr>
              <a:t>all 96 cells at</a:t>
            </a:r>
            <a:endParaRPr lang="en-US" sz="950" dirty="0"/>
          </a:p>
          <a:p>
            <a:pPr marL="0" indent="0" algn="ctr">
              <a:buNone/>
            </a:pPr>
            <a:r>
              <a:rPr lang="en-US" sz="950" dirty="0">
                <a:solidFill>
                  <a:srgbClr val="F0E7DA"/>
                </a:solidFill>
                <a:latin typeface="Calibri" pitchFamily="34" charset="0"/>
                <a:ea typeface="Calibri" pitchFamily="34" charset="-122"/>
                <a:cs typeface="Calibri" pitchFamily="34" charset="-120"/>
              </a:rPr>
              <a:t>N = 25, seed 42</a:t>
            </a:r>
            <a:endParaRPr lang="en-US" sz="950" dirty="0"/>
          </a:p>
        </p:txBody>
      </p:sp>
      <p:sp>
        <p:nvSpPr>
          <p:cNvPr id="14" name="Shape 12"/>
          <p:cNvSpPr/>
          <p:nvPr/>
        </p:nvSpPr>
        <p:spPr>
          <a:xfrm>
            <a:off x="4910328" y="1938528"/>
            <a:ext cx="182880" cy="0"/>
          </a:xfrm>
          <a:prstGeom prst="line">
            <a:avLst/>
          </a:prstGeom>
          <a:noFill/>
          <a:ln w="19050">
            <a:solidFill>
              <a:srgbClr val="5C4A38"/>
            </a:solidFill>
            <a:prstDash val="solid"/>
            <a:tailEnd type="triangle"/>
          </a:ln>
        </p:spPr>
        <p:txBody>
          <a:bodyPr/>
          <a:lstStyle/>
          <a:p>
            <a:endParaRPr lang="en-IN"/>
          </a:p>
        </p:txBody>
      </p:sp>
      <p:sp>
        <p:nvSpPr>
          <p:cNvPr id="15" name="Shape 13"/>
          <p:cNvSpPr/>
          <p:nvPr/>
        </p:nvSpPr>
        <p:spPr>
          <a:xfrm>
            <a:off x="5120640" y="1371600"/>
            <a:ext cx="2057400" cy="1143000"/>
          </a:xfrm>
          <a:prstGeom prst="roundRect">
            <a:avLst>
              <a:gd name="adj" fmla="val 6400"/>
            </a:avLst>
          </a:prstGeom>
          <a:solidFill>
            <a:srgbClr val="B5714B"/>
          </a:solidFill>
          <a:ln/>
        </p:spPr>
        <p:txBody>
          <a:bodyPr/>
          <a:lstStyle/>
          <a:p>
            <a:endParaRPr lang="en-IN"/>
          </a:p>
        </p:txBody>
      </p:sp>
      <p:sp>
        <p:nvSpPr>
          <p:cNvPr id="16" name="Text 14"/>
          <p:cNvSpPr/>
          <p:nvPr/>
        </p:nvSpPr>
        <p:spPr>
          <a:xfrm>
            <a:off x="5120640" y="1481328"/>
            <a:ext cx="205740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Diagnose</a:t>
            </a:r>
            <a:endParaRPr lang="en-US" sz="1300" dirty="0"/>
          </a:p>
        </p:txBody>
      </p:sp>
      <p:sp>
        <p:nvSpPr>
          <p:cNvPr id="17" name="Text 15"/>
          <p:cNvSpPr/>
          <p:nvPr/>
        </p:nvSpPr>
        <p:spPr>
          <a:xfrm>
            <a:off x="5120640" y="1810512"/>
            <a:ext cx="2057400" cy="603504"/>
          </a:xfrm>
          <a:prstGeom prst="rect">
            <a:avLst/>
          </a:prstGeom>
          <a:noFill/>
          <a:ln/>
        </p:spPr>
        <p:txBody>
          <a:bodyPr wrap="square" lIns="0" tIns="0" rIns="0" bIns="0" rtlCol="0" anchor="ctr"/>
          <a:lstStyle/>
          <a:p>
            <a:pPr marL="0" indent="0" algn="ctr">
              <a:buNone/>
            </a:pPr>
            <a:r>
              <a:rPr lang="en-US" sz="950" dirty="0">
                <a:solidFill>
                  <a:srgbClr val="F0E7DA"/>
                </a:solidFill>
                <a:latin typeface="Calibri" pitchFamily="34" charset="0"/>
                <a:ea typeface="Calibri" pitchFamily="34" charset="-122"/>
                <a:cs typeface="Calibri" pitchFamily="34" charset="-120"/>
              </a:rPr>
              <a:t>marginal spread</a:t>
            </a:r>
            <a:endParaRPr lang="en-US" sz="950" dirty="0"/>
          </a:p>
          <a:p>
            <a:pPr marL="0" indent="0" algn="ctr">
              <a:buNone/>
            </a:pPr>
            <a:r>
              <a:rPr lang="en-US" sz="950" dirty="0">
                <a:solidFill>
                  <a:srgbClr val="F0E7DA"/>
                </a:solidFill>
                <a:latin typeface="Calibri" pitchFamily="34" charset="0"/>
                <a:ea typeface="Calibri" pitchFamily="34" charset="-122"/>
                <a:cs typeface="Calibri" pitchFamily="34" charset="-120"/>
              </a:rPr>
              <a:t>per component</a:t>
            </a:r>
            <a:endParaRPr lang="en-US" sz="950" dirty="0"/>
          </a:p>
        </p:txBody>
      </p:sp>
      <p:sp>
        <p:nvSpPr>
          <p:cNvPr id="18" name="Shape 16"/>
          <p:cNvSpPr/>
          <p:nvPr/>
        </p:nvSpPr>
        <p:spPr>
          <a:xfrm>
            <a:off x="7196328" y="1938528"/>
            <a:ext cx="182880" cy="0"/>
          </a:xfrm>
          <a:prstGeom prst="line">
            <a:avLst/>
          </a:prstGeom>
          <a:noFill/>
          <a:ln w="19050">
            <a:solidFill>
              <a:srgbClr val="5C4A38"/>
            </a:solidFill>
            <a:prstDash val="solid"/>
            <a:tailEnd type="triangle"/>
          </a:ln>
        </p:spPr>
        <p:txBody>
          <a:bodyPr/>
          <a:lstStyle/>
          <a:p>
            <a:endParaRPr lang="en-IN"/>
          </a:p>
        </p:txBody>
      </p:sp>
      <p:sp>
        <p:nvSpPr>
          <p:cNvPr id="19" name="Shape 17"/>
          <p:cNvSpPr/>
          <p:nvPr/>
        </p:nvSpPr>
        <p:spPr>
          <a:xfrm>
            <a:off x="7406640" y="1371600"/>
            <a:ext cx="2057400" cy="1143000"/>
          </a:xfrm>
          <a:prstGeom prst="roundRect">
            <a:avLst>
              <a:gd name="adj" fmla="val 6400"/>
            </a:avLst>
          </a:prstGeom>
          <a:solidFill>
            <a:srgbClr val="8C6E52"/>
          </a:solidFill>
          <a:ln/>
        </p:spPr>
        <p:txBody>
          <a:bodyPr/>
          <a:lstStyle/>
          <a:p>
            <a:endParaRPr lang="en-IN"/>
          </a:p>
        </p:txBody>
      </p:sp>
      <p:sp>
        <p:nvSpPr>
          <p:cNvPr id="20" name="Text 18"/>
          <p:cNvSpPr/>
          <p:nvPr/>
        </p:nvSpPr>
        <p:spPr>
          <a:xfrm>
            <a:off x="7406640" y="1481328"/>
            <a:ext cx="205740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Shortlist</a:t>
            </a:r>
            <a:endParaRPr lang="en-US" sz="1300" dirty="0"/>
          </a:p>
        </p:txBody>
      </p:sp>
      <p:sp>
        <p:nvSpPr>
          <p:cNvPr id="21" name="Text 19"/>
          <p:cNvSpPr/>
          <p:nvPr/>
        </p:nvSpPr>
        <p:spPr>
          <a:xfrm>
            <a:off x="7406640" y="1810512"/>
            <a:ext cx="2057400" cy="603504"/>
          </a:xfrm>
          <a:prstGeom prst="rect">
            <a:avLst/>
          </a:prstGeom>
          <a:noFill/>
          <a:ln/>
        </p:spPr>
        <p:txBody>
          <a:bodyPr wrap="square" lIns="0" tIns="0" rIns="0" bIns="0" rtlCol="0" anchor="ctr"/>
          <a:lstStyle/>
          <a:p>
            <a:pPr marL="0" indent="0" algn="ctr">
              <a:buNone/>
            </a:pPr>
            <a:r>
              <a:rPr lang="en-US" sz="950" dirty="0">
                <a:solidFill>
                  <a:srgbClr val="F0E7DA"/>
                </a:solidFill>
                <a:latin typeface="Calibri" pitchFamily="34" charset="0"/>
                <a:ea typeface="Calibri" pitchFamily="34" charset="-122"/>
                <a:cs typeface="Calibri" pitchFamily="34" charset="-120"/>
              </a:rPr>
              <a:t>carry leaders</a:t>
            </a:r>
            <a:endParaRPr lang="en-US" sz="950" dirty="0"/>
          </a:p>
          <a:p>
            <a:pPr marL="0" indent="0" algn="ctr">
              <a:buNone/>
            </a:pPr>
            <a:r>
              <a:rPr lang="en-US" sz="950" dirty="0">
                <a:solidFill>
                  <a:srgbClr val="F0E7DA"/>
                </a:solidFill>
                <a:latin typeface="Calibri" pitchFamily="34" charset="0"/>
                <a:ea typeface="Calibri" pitchFamily="34" charset="-122"/>
                <a:cs typeface="Calibri" pitchFamily="34" charset="-120"/>
              </a:rPr>
              <a:t>forward</a:t>
            </a:r>
            <a:endParaRPr lang="en-US" sz="950" dirty="0"/>
          </a:p>
        </p:txBody>
      </p:sp>
      <p:sp>
        <p:nvSpPr>
          <p:cNvPr id="22" name="Shape 20"/>
          <p:cNvSpPr/>
          <p:nvPr/>
        </p:nvSpPr>
        <p:spPr>
          <a:xfrm>
            <a:off x="9482328" y="1938528"/>
            <a:ext cx="182880" cy="0"/>
          </a:xfrm>
          <a:prstGeom prst="line">
            <a:avLst/>
          </a:prstGeom>
          <a:noFill/>
          <a:ln w="19050">
            <a:solidFill>
              <a:srgbClr val="5C4A38"/>
            </a:solidFill>
            <a:prstDash val="solid"/>
            <a:tailEnd type="triangle"/>
          </a:ln>
        </p:spPr>
        <p:txBody>
          <a:bodyPr/>
          <a:lstStyle/>
          <a:p>
            <a:endParaRPr lang="en-IN"/>
          </a:p>
        </p:txBody>
      </p:sp>
      <p:sp>
        <p:nvSpPr>
          <p:cNvPr id="23" name="Shape 21"/>
          <p:cNvSpPr/>
          <p:nvPr/>
        </p:nvSpPr>
        <p:spPr>
          <a:xfrm>
            <a:off x="9692640" y="1371600"/>
            <a:ext cx="2057400" cy="1143000"/>
          </a:xfrm>
          <a:prstGeom prst="roundRect">
            <a:avLst>
              <a:gd name="adj" fmla="val 6400"/>
            </a:avLst>
          </a:prstGeom>
          <a:solidFill>
            <a:srgbClr val="4A6B4F"/>
          </a:solidFill>
          <a:ln/>
        </p:spPr>
        <p:txBody>
          <a:bodyPr/>
          <a:lstStyle/>
          <a:p>
            <a:endParaRPr lang="en-IN"/>
          </a:p>
        </p:txBody>
      </p:sp>
      <p:sp>
        <p:nvSpPr>
          <p:cNvPr id="24" name="Text 22"/>
          <p:cNvSpPr/>
          <p:nvPr/>
        </p:nvSpPr>
        <p:spPr>
          <a:xfrm>
            <a:off x="9692640" y="1481328"/>
            <a:ext cx="205740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Validate</a:t>
            </a:r>
            <a:endParaRPr lang="en-US" sz="1300" dirty="0"/>
          </a:p>
        </p:txBody>
      </p:sp>
      <p:sp>
        <p:nvSpPr>
          <p:cNvPr id="25" name="Text 23"/>
          <p:cNvSpPr/>
          <p:nvPr/>
        </p:nvSpPr>
        <p:spPr>
          <a:xfrm>
            <a:off x="9692640" y="1810512"/>
            <a:ext cx="2057400" cy="603504"/>
          </a:xfrm>
          <a:prstGeom prst="rect">
            <a:avLst/>
          </a:prstGeom>
          <a:noFill/>
          <a:ln/>
        </p:spPr>
        <p:txBody>
          <a:bodyPr wrap="square" lIns="0" tIns="0" rIns="0" bIns="0" rtlCol="0" anchor="ctr"/>
          <a:lstStyle/>
          <a:p>
            <a:pPr marL="0" indent="0" algn="ctr">
              <a:buNone/>
            </a:pPr>
            <a:r>
              <a:rPr lang="en-US" sz="950" dirty="0">
                <a:solidFill>
                  <a:srgbClr val="F0E7DA"/>
                </a:solidFill>
                <a:latin typeface="Calibri" pitchFamily="34" charset="0"/>
                <a:ea typeface="Calibri" pitchFamily="34" charset="-122"/>
                <a:cs typeface="Calibri" pitchFamily="34" charset="-120"/>
              </a:rPr>
              <a:t>N = 200 — the only</a:t>
            </a:r>
            <a:endParaRPr lang="en-US" sz="950" dirty="0"/>
          </a:p>
          <a:p>
            <a:pPr marL="0" indent="0" algn="ctr">
              <a:buNone/>
            </a:pPr>
            <a:r>
              <a:rPr lang="en-US" sz="950" dirty="0">
                <a:solidFill>
                  <a:srgbClr val="F0E7DA"/>
                </a:solidFill>
                <a:latin typeface="Calibri" pitchFamily="34" charset="0"/>
                <a:ea typeface="Calibri" pitchFamily="34" charset="-122"/>
                <a:cs typeface="Calibri" pitchFamily="34" charset="-120"/>
              </a:rPr>
              <a:t>reported number</a:t>
            </a:r>
            <a:endParaRPr lang="en-US" sz="950" dirty="0"/>
          </a:p>
        </p:txBody>
      </p:sp>
      <p:sp>
        <p:nvSpPr>
          <p:cNvPr id="26" name="Shape 24"/>
          <p:cNvSpPr/>
          <p:nvPr/>
        </p:nvSpPr>
        <p:spPr>
          <a:xfrm>
            <a:off x="548640" y="2743200"/>
            <a:ext cx="5486400" cy="1874520"/>
          </a:xfrm>
          <a:prstGeom prst="roundRect">
            <a:avLst>
              <a:gd name="adj" fmla="val 3902"/>
            </a:avLst>
          </a:prstGeom>
          <a:solidFill>
            <a:srgbClr val="FFFFFF"/>
          </a:solidFill>
          <a:ln w="9525">
            <a:solidFill>
              <a:srgbClr val="C9B195"/>
            </a:solidFill>
            <a:prstDash val="solid"/>
          </a:ln>
        </p:spPr>
        <p:txBody>
          <a:bodyPr/>
          <a:lstStyle/>
          <a:p>
            <a:endParaRPr lang="en-IN"/>
          </a:p>
        </p:txBody>
      </p:sp>
      <p:sp>
        <p:nvSpPr>
          <p:cNvPr id="27" name="Text 25"/>
          <p:cNvSpPr/>
          <p:nvPr/>
        </p:nvSpPr>
        <p:spPr>
          <a:xfrm>
            <a:off x="777240" y="2880360"/>
            <a:ext cx="5029200" cy="274320"/>
          </a:xfrm>
          <a:prstGeom prst="rect">
            <a:avLst/>
          </a:prstGeom>
          <a:noFill/>
          <a:ln/>
        </p:spPr>
        <p:txBody>
          <a:bodyPr wrap="square" lIns="0" tIns="0" rIns="0" bIns="0" rtlCol="0" anchor="ctr"/>
          <a:lstStyle/>
          <a:p>
            <a:pPr marL="0" indent="0">
              <a:buNone/>
            </a:pPr>
            <a:r>
              <a:rPr lang="en-US" sz="1300" b="1" dirty="0">
                <a:solidFill>
                  <a:srgbClr val="5C4A38"/>
                </a:solidFill>
                <a:latin typeface="Calibri" pitchFamily="34" charset="0"/>
                <a:ea typeface="Calibri" pitchFamily="34" charset="-122"/>
                <a:cs typeface="Calibri" pitchFamily="34" charset="-120"/>
              </a:rPr>
              <a:t>The grid: 96 configurations per domain</a:t>
            </a:r>
            <a:endParaRPr lang="en-US" sz="1300" dirty="0"/>
          </a:p>
        </p:txBody>
      </p:sp>
      <p:sp>
        <p:nvSpPr>
          <p:cNvPr id="28" name="Text 26"/>
          <p:cNvSpPr/>
          <p:nvPr/>
        </p:nvSpPr>
        <p:spPr>
          <a:xfrm>
            <a:off x="822960" y="3200400"/>
            <a:ext cx="365760" cy="237744"/>
          </a:xfrm>
          <a:prstGeom prst="rect">
            <a:avLst/>
          </a:prstGeom>
          <a:noFill/>
          <a:ln/>
        </p:spPr>
        <p:txBody>
          <a:bodyPr wrap="square" lIns="0" tIns="0" rIns="0" bIns="0" rtlCol="0" anchor="ctr"/>
          <a:lstStyle/>
          <a:p>
            <a:pPr marL="0" indent="0">
              <a:buNone/>
            </a:pPr>
            <a:r>
              <a:rPr lang="en-US" sz="1100" b="1" dirty="0">
                <a:solidFill>
                  <a:srgbClr val="4A6B4F"/>
                </a:solidFill>
                <a:latin typeface="Calibri" pitchFamily="34" charset="0"/>
                <a:ea typeface="Calibri" pitchFamily="34" charset="-122"/>
                <a:cs typeface="Calibri" pitchFamily="34" charset="-120"/>
              </a:rPr>
              <a:t>2</a:t>
            </a:r>
            <a:endParaRPr lang="en-US" sz="1100" dirty="0"/>
          </a:p>
        </p:txBody>
      </p:sp>
      <p:sp>
        <p:nvSpPr>
          <p:cNvPr id="29" name="Text 27"/>
          <p:cNvSpPr/>
          <p:nvPr/>
        </p:nvSpPr>
        <p:spPr>
          <a:xfrm>
            <a:off x="1188720" y="3200400"/>
            <a:ext cx="4206240" cy="237744"/>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  embedding models</a:t>
            </a:r>
            <a:endParaRPr lang="en-US" sz="1200" dirty="0"/>
          </a:p>
        </p:txBody>
      </p:sp>
      <p:sp>
        <p:nvSpPr>
          <p:cNvPr id="30" name="Text 28"/>
          <p:cNvSpPr/>
          <p:nvPr/>
        </p:nvSpPr>
        <p:spPr>
          <a:xfrm>
            <a:off x="822960" y="3456432"/>
            <a:ext cx="365760" cy="237744"/>
          </a:xfrm>
          <a:prstGeom prst="rect">
            <a:avLst/>
          </a:prstGeom>
          <a:noFill/>
          <a:ln/>
        </p:spPr>
        <p:txBody>
          <a:bodyPr wrap="square" lIns="0" tIns="0" rIns="0" bIns="0" rtlCol="0" anchor="ctr"/>
          <a:lstStyle/>
          <a:p>
            <a:pPr marL="0" indent="0">
              <a:buNone/>
            </a:pPr>
            <a:r>
              <a:rPr lang="en-US" sz="1100" b="1" dirty="0">
                <a:solidFill>
                  <a:srgbClr val="4A6B4F"/>
                </a:solidFill>
                <a:latin typeface="Calibri" pitchFamily="34" charset="0"/>
                <a:ea typeface="Calibri" pitchFamily="34" charset="-122"/>
                <a:cs typeface="Calibri" pitchFamily="34" charset="-120"/>
              </a:rPr>
              <a:t>4</a:t>
            </a:r>
            <a:endParaRPr lang="en-US" sz="1100" dirty="0"/>
          </a:p>
        </p:txBody>
      </p:sp>
      <p:sp>
        <p:nvSpPr>
          <p:cNvPr id="31" name="Text 29"/>
          <p:cNvSpPr/>
          <p:nvPr/>
        </p:nvSpPr>
        <p:spPr>
          <a:xfrm>
            <a:off x="1188720" y="3456432"/>
            <a:ext cx="4206240" cy="237744"/>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  chunking strategies</a:t>
            </a:r>
            <a:endParaRPr lang="en-US" sz="1200" dirty="0"/>
          </a:p>
        </p:txBody>
      </p:sp>
      <p:sp>
        <p:nvSpPr>
          <p:cNvPr id="32" name="Text 30"/>
          <p:cNvSpPr/>
          <p:nvPr/>
        </p:nvSpPr>
        <p:spPr>
          <a:xfrm>
            <a:off x="822960" y="3712464"/>
            <a:ext cx="365760" cy="237744"/>
          </a:xfrm>
          <a:prstGeom prst="rect">
            <a:avLst/>
          </a:prstGeom>
          <a:noFill/>
          <a:ln/>
        </p:spPr>
        <p:txBody>
          <a:bodyPr wrap="square" lIns="0" tIns="0" rIns="0" bIns="0" rtlCol="0" anchor="ctr"/>
          <a:lstStyle/>
          <a:p>
            <a:pPr marL="0" indent="0">
              <a:buNone/>
            </a:pPr>
            <a:r>
              <a:rPr lang="en-US" sz="1100" b="1" dirty="0">
                <a:solidFill>
                  <a:srgbClr val="4A6B4F"/>
                </a:solidFill>
                <a:latin typeface="Calibri" pitchFamily="34" charset="0"/>
                <a:ea typeface="Calibri" pitchFamily="34" charset="-122"/>
                <a:cs typeface="Calibri" pitchFamily="34" charset="-120"/>
              </a:rPr>
              <a:t>2</a:t>
            </a:r>
            <a:endParaRPr lang="en-US" sz="1100" dirty="0"/>
          </a:p>
        </p:txBody>
      </p:sp>
      <p:sp>
        <p:nvSpPr>
          <p:cNvPr id="33" name="Text 31"/>
          <p:cNvSpPr/>
          <p:nvPr/>
        </p:nvSpPr>
        <p:spPr>
          <a:xfrm>
            <a:off x="1188720" y="3712464"/>
            <a:ext cx="4206240" cy="237744"/>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  retrieval methods</a:t>
            </a:r>
            <a:endParaRPr lang="en-US" sz="1200" dirty="0"/>
          </a:p>
        </p:txBody>
      </p:sp>
      <p:sp>
        <p:nvSpPr>
          <p:cNvPr id="34" name="Text 32"/>
          <p:cNvSpPr/>
          <p:nvPr/>
        </p:nvSpPr>
        <p:spPr>
          <a:xfrm>
            <a:off x="822960" y="3968496"/>
            <a:ext cx="365760" cy="237744"/>
          </a:xfrm>
          <a:prstGeom prst="rect">
            <a:avLst/>
          </a:prstGeom>
          <a:noFill/>
          <a:ln/>
        </p:spPr>
        <p:txBody>
          <a:bodyPr wrap="square" lIns="0" tIns="0" rIns="0" bIns="0" rtlCol="0" anchor="ctr"/>
          <a:lstStyle/>
          <a:p>
            <a:pPr marL="0" indent="0">
              <a:buNone/>
            </a:pPr>
            <a:r>
              <a:rPr lang="en-US" sz="1100" b="1" dirty="0">
                <a:solidFill>
                  <a:srgbClr val="4A6B4F"/>
                </a:solidFill>
                <a:latin typeface="Calibri" pitchFamily="34" charset="0"/>
                <a:ea typeface="Calibri" pitchFamily="34" charset="-122"/>
                <a:cs typeface="Calibri" pitchFamily="34" charset="-120"/>
              </a:rPr>
              <a:t>2</a:t>
            </a:r>
            <a:endParaRPr lang="en-US" sz="1100" dirty="0"/>
          </a:p>
        </p:txBody>
      </p:sp>
      <p:sp>
        <p:nvSpPr>
          <p:cNvPr id="35" name="Text 33"/>
          <p:cNvSpPr/>
          <p:nvPr/>
        </p:nvSpPr>
        <p:spPr>
          <a:xfrm>
            <a:off x="1188720" y="3968496"/>
            <a:ext cx="4206240" cy="237744"/>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  reranking settings</a:t>
            </a:r>
            <a:endParaRPr lang="en-US" sz="1200" dirty="0"/>
          </a:p>
        </p:txBody>
      </p:sp>
      <p:sp>
        <p:nvSpPr>
          <p:cNvPr id="36" name="Text 34"/>
          <p:cNvSpPr/>
          <p:nvPr/>
        </p:nvSpPr>
        <p:spPr>
          <a:xfrm>
            <a:off x="822960" y="4224528"/>
            <a:ext cx="365760" cy="237744"/>
          </a:xfrm>
          <a:prstGeom prst="rect">
            <a:avLst/>
          </a:prstGeom>
          <a:noFill/>
          <a:ln/>
        </p:spPr>
        <p:txBody>
          <a:bodyPr wrap="square" lIns="0" tIns="0" rIns="0" bIns="0" rtlCol="0" anchor="ctr"/>
          <a:lstStyle/>
          <a:p>
            <a:pPr marL="0" indent="0">
              <a:buNone/>
            </a:pPr>
            <a:r>
              <a:rPr lang="en-US" sz="1100" b="1" dirty="0">
                <a:solidFill>
                  <a:srgbClr val="4A6B4F"/>
                </a:solidFill>
                <a:latin typeface="Calibri" pitchFamily="34" charset="0"/>
                <a:ea typeface="Calibri" pitchFamily="34" charset="-122"/>
                <a:cs typeface="Calibri" pitchFamily="34" charset="-120"/>
              </a:rPr>
              <a:t>3</a:t>
            </a:r>
            <a:endParaRPr lang="en-US" sz="1100" dirty="0"/>
          </a:p>
        </p:txBody>
      </p:sp>
      <p:sp>
        <p:nvSpPr>
          <p:cNvPr id="37" name="Text 35"/>
          <p:cNvSpPr/>
          <p:nvPr/>
        </p:nvSpPr>
        <p:spPr>
          <a:xfrm>
            <a:off x="1188720" y="4224528"/>
            <a:ext cx="4206240" cy="237744"/>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  context orderings</a:t>
            </a:r>
            <a:endParaRPr lang="en-US" sz="1200" dirty="0"/>
          </a:p>
        </p:txBody>
      </p:sp>
      <p:sp>
        <p:nvSpPr>
          <p:cNvPr id="38" name="Text 36"/>
          <p:cNvSpPr/>
          <p:nvPr/>
        </p:nvSpPr>
        <p:spPr>
          <a:xfrm>
            <a:off x="822960" y="4409487"/>
            <a:ext cx="5029200" cy="256032"/>
          </a:xfrm>
          <a:prstGeom prst="rect">
            <a:avLst/>
          </a:prstGeom>
          <a:noFill/>
          <a:ln/>
        </p:spPr>
        <p:txBody>
          <a:bodyPr wrap="square" lIns="0" tIns="0" rIns="0" bIns="0" rtlCol="0" anchor="ctr"/>
          <a:lstStyle/>
          <a:p>
            <a:pPr marL="0" indent="0">
              <a:buNone/>
            </a:pPr>
            <a:r>
              <a:rPr lang="en-US" sz="1150" b="1" dirty="0">
                <a:solidFill>
                  <a:srgbClr val="4A6B4F"/>
                </a:solidFill>
                <a:latin typeface="Calibri" pitchFamily="34" charset="0"/>
                <a:ea typeface="Calibri" pitchFamily="34" charset="-122"/>
                <a:cs typeface="Calibri" pitchFamily="34" charset="-120"/>
              </a:rPr>
              <a:t>=  96 configurations  ×  4 domains  =  384 experiments</a:t>
            </a:r>
            <a:endParaRPr lang="en-US" sz="1150" dirty="0"/>
          </a:p>
        </p:txBody>
      </p:sp>
      <p:sp>
        <p:nvSpPr>
          <p:cNvPr id="39" name="Shape 37"/>
          <p:cNvSpPr/>
          <p:nvPr/>
        </p:nvSpPr>
        <p:spPr>
          <a:xfrm>
            <a:off x="6172200" y="2743200"/>
            <a:ext cx="5486400" cy="1874520"/>
          </a:xfrm>
          <a:prstGeom prst="roundRect">
            <a:avLst>
              <a:gd name="adj" fmla="val 3902"/>
            </a:avLst>
          </a:prstGeom>
          <a:solidFill>
            <a:srgbClr val="E3EDE0"/>
          </a:solidFill>
          <a:ln w="15240">
            <a:solidFill>
              <a:srgbClr val="A8C0A0"/>
            </a:solidFill>
            <a:prstDash val="solid"/>
          </a:ln>
        </p:spPr>
        <p:txBody>
          <a:bodyPr/>
          <a:lstStyle/>
          <a:p>
            <a:endParaRPr lang="en-IN" sz="2800"/>
          </a:p>
        </p:txBody>
      </p:sp>
      <p:sp>
        <p:nvSpPr>
          <p:cNvPr id="40" name="Text 38"/>
          <p:cNvSpPr/>
          <p:nvPr/>
        </p:nvSpPr>
        <p:spPr>
          <a:xfrm>
            <a:off x="6400800" y="2880360"/>
            <a:ext cx="5029200" cy="274320"/>
          </a:xfrm>
          <a:prstGeom prst="rect">
            <a:avLst/>
          </a:prstGeom>
          <a:noFill/>
          <a:ln/>
        </p:spPr>
        <p:txBody>
          <a:bodyPr wrap="square" lIns="0" tIns="0" rIns="0" bIns="0" rtlCol="0" anchor="ctr"/>
          <a:lstStyle/>
          <a:p>
            <a:pPr marL="0" indent="0">
              <a:buNone/>
            </a:pPr>
            <a:r>
              <a:rPr lang="en-US" sz="1300" b="1" dirty="0">
                <a:solidFill>
                  <a:srgbClr val="4A6B4F"/>
                </a:solidFill>
                <a:latin typeface="Calibri" pitchFamily="34" charset="0"/>
                <a:ea typeface="Calibri" pitchFamily="34" charset="-122"/>
                <a:cs typeface="Calibri" pitchFamily="34" charset="-120"/>
              </a:rPr>
              <a:t>The diagnostic rule — what the scores tell us to fix</a:t>
            </a:r>
            <a:endParaRPr lang="en-US" sz="1300" dirty="0"/>
          </a:p>
        </p:txBody>
      </p:sp>
      <p:sp>
        <p:nvSpPr>
          <p:cNvPr id="41" name="Text 39"/>
          <p:cNvSpPr/>
          <p:nvPr/>
        </p:nvSpPr>
        <p:spPr>
          <a:xfrm>
            <a:off x="6400800" y="3218688"/>
            <a:ext cx="2286000" cy="384048"/>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Relevance low</a:t>
            </a:r>
            <a:endParaRPr lang="en-US" sz="1100" dirty="0"/>
          </a:p>
        </p:txBody>
      </p:sp>
      <p:sp>
        <p:nvSpPr>
          <p:cNvPr id="42" name="Text 40"/>
          <p:cNvSpPr/>
          <p:nvPr/>
        </p:nvSpPr>
        <p:spPr>
          <a:xfrm>
            <a:off x="8732520" y="3218688"/>
            <a:ext cx="2788920" cy="384048"/>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 chunking / embedder / retrieval</a:t>
            </a:r>
            <a:endParaRPr lang="en-US" sz="1100" dirty="0"/>
          </a:p>
        </p:txBody>
      </p:sp>
      <p:sp>
        <p:nvSpPr>
          <p:cNvPr id="43" name="Text 41"/>
          <p:cNvSpPr/>
          <p:nvPr/>
        </p:nvSpPr>
        <p:spPr>
          <a:xfrm>
            <a:off x="6400800" y="3657600"/>
            <a:ext cx="2286000" cy="384048"/>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Relevance OK, utilization low</a:t>
            </a:r>
            <a:endParaRPr lang="en-US" sz="1100" dirty="0"/>
          </a:p>
        </p:txBody>
      </p:sp>
      <p:sp>
        <p:nvSpPr>
          <p:cNvPr id="44" name="Text 42"/>
          <p:cNvSpPr/>
          <p:nvPr/>
        </p:nvSpPr>
        <p:spPr>
          <a:xfrm>
            <a:off x="8732520" y="3657600"/>
            <a:ext cx="2788920" cy="384048"/>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 context ordering / reranker</a:t>
            </a:r>
            <a:endParaRPr lang="en-US" sz="1100" dirty="0"/>
          </a:p>
        </p:txBody>
      </p:sp>
      <p:sp>
        <p:nvSpPr>
          <p:cNvPr id="45" name="Text 43"/>
          <p:cNvSpPr/>
          <p:nvPr/>
        </p:nvSpPr>
        <p:spPr>
          <a:xfrm>
            <a:off x="6400800" y="4096512"/>
            <a:ext cx="2286000" cy="384048"/>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Relevance OK, adherence low</a:t>
            </a:r>
            <a:endParaRPr lang="en-US" sz="1100" dirty="0"/>
          </a:p>
        </p:txBody>
      </p:sp>
      <p:sp>
        <p:nvSpPr>
          <p:cNvPr id="46" name="Text 44"/>
          <p:cNvSpPr/>
          <p:nvPr/>
        </p:nvSpPr>
        <p:spPr>
          <a:xfrm>
            <a:off x="8732520" y="4096512"/>
            <a:ext cx="2788920" cy="384048"/>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 the generator or its instruction</a:t>
            </a:r>
            <a:endParaRPr lang="en-US" sz="1100" dirty="0"/>
          </a:p>
        </p:txBody>
      </p:sp>
      <p:sp>
        <p:nvSpPr>
          <p:cNvPr id="47" name="Shape 45"/>
          <p:cNvSpPr/>
          <p:nvPr/>
        </p:nvSpPr>
        <p:spPr>
          <a:xfrm>
            <a:off x="548640" y="4800600"/>
            <a:ext cx="11109960" cy="1417320"/>
          </a:xfrm>
          <a:prstGeom prst="roundRect">
            <a:avLst>
              <a:gd name="adj" fmla="val 5161"/>
            </a:avLst>
          </a:prstGeom>
          <a:solidFill>
            <a:srgbClr val="FFFFFF"/>
          </a:solidFill>
          <a:ln w="15240">
            <a:solidFill>
              <a:srgbClr val="B5714B"/>
            </a:solidFill>
            <a:prstDash val="solid"/>
          </a:ln>
        </p:spPr>
        <p:txBody>
          <a:bodyPr/>
          <a:lstStyle/>
          <a:p>
            <a:endParaRPr lang="en-IN" sz="2400"/>
          </a:p>
        </p:txBody>
      </p:sp>
      <p:sp>
        <p:nvSpPr>
          <p:cNvPr id="48" name="Text 46"/>
          <p:cNvSpPr/>
          <p:nvPr/>
        </p:nvSpPr>
        <p:spPr>
          <a:xfrm>
            <a:off x="822960" y="4937760"/>
            <a:ext cx="5486400" cy="274320"/>
          </a:xfrm>
          <a:prstGeom prst="rect">
            <a:avLst/>
          </a:prstGeom>
          <a:noFill/>
          <a:ln/>
        </p:spPr>
        <p:txBody>
          <a:bodyPr wrap="square" lIns="0" tIns="0" rIns="0" bIns="0" rtlCol="0" anchor="ctr"/>
          <a:lstStyle/>
          <a:p>
            <a:pPr marL="0" indent="0">
              <a:buNone/>
            </a:pPr>
            <a:r>
              <a:rPr lang="en-US" sz="1600" b="1" dirty="0">
                <a:solidFill>
                  <a:srgbClr val="B5714B"/>
                </a:solidFill>
                <a:latin typeface="Calibri" pitchFamily="34" charset="0"/>
                <a:ea typeface="Calibri" pitchFamily="34" charset="-122"/>
                <a:cs typeface="Calibri" pitchFamily="34" charset="-120"/>
              </a:rPr>
              <a:t>Why we never report a 25-example score</a:t>
            </a:r>
            <a:endParaRPr lang="en-US" sz="1600" dirty="0"/>
          </a:p>
        </p:txBody>
      </p:sp>
      <p:sp>
        <p:nvSpPr>
          <p:cNvPr id="49" name="Text 47"/>
          <p:cNvSpPr/>
          <p:nvPr/>
        </p:nvSpPr>
        <p:spPr>
          <a:xfrm>
            <a:off x="822960" y="5230368"/>
            <a:ext cx="10607040" cy="36576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At 25 examples the group of unsupported answers is tiny, so a few lucky calls move the score a long way — and the error runs in both directions. Biomedical is the clearest case: BIO-004 screened below chance and still won at full scale, while the screening leader fell from 0.773 to 0.590.</a:t>
            </a:r>
            <a:endParaRPr lang="en-US" sz="1400" dirty="0"/>
          </a:p>
        </p:txBody>
      </p:sp>
      <p:sp>
        <p:nvSpPr>
          <p:cNvPr id="50" name="Text 48"/>
          <p:cNvSpPr/>
          <p:nvPr/>
        </p:nvSpPr>
        <p:spPr>
          <a:xfrm>
            <a:off x="822960" y="5623560"/>
            <a:ext cx="3200400" cy="475488"/>
          </a:xfrm>
          <a:prstGeom prst="roundRect">
            <a:avLst>
              <a:gd name="adj" fmla="val 13462"/>
            </a:avLst>
          </a:prstGeom>
          <a:solidFill>
            <a:srgbClr val="F0E7DA"/>
          </a:solidFill>
          <a:ln w="12700">
            <a:solidFill>
              <a:srgbClr val="C9B195"/>
            </a:solidFill>
          </a:ln>
        </p:spPr>
        <p:txBody>
          <a:bodyPr wrap="square" lIns="38100" tIns="38100" rIns="38100" bIns="38100" rtlCol="0" anchor="ctr"/>
          <a:lstStyle/>
          <a:p>
            <a:pPr marL="0" indent="0" algn="ctr">
              <a:buNone/>
            </a:pPr>
            <a:r>
              <a:rPr lang="en-US" sz="1100" b="1" dirty="0">
                <a:solidFill>
                  <a:srgbClr val="5C4A38"/>
                </a:solidFill>
                <a:latin typeface="Calibri" pitchFamily="34" charset="0"/>
                <a:ea typeface="Calibri" pitchFamily="34" charset="-122"/>
                <a:cs typeface="Calibri" pitchFamily="34" charset="-120"/>
              </a:rPr>
              <a:t>Customer Support (CS-064)</a:t>
            </a:r>
            <a:endParaRPr lang="en-US" sz="1100" dirty="0"/>
          </a:p>
          <a:p>
            <a:pPr marL="0" indent="0" algn="ctr">
              <a:buNone/>
            </a:pPr>
            <a:r>
              <a:rPr lang="en-US" sz="1050" dirty="0">
                <a:solidFill>
                  <a:srgbClr val="7A6A5A"/>
                </a:solidFill>
                <a:latin typeface="Calibri" pitchFamily="34" charset="0"/>
                <a:ea typeface="Calibri" pitchFamily="34" charset="-122"/>
                <a:cs typeface="Calibri" pitchFamily="34" charset="-120"/>
              </a:rPr>
              <a:t>AUCROC  0.767 at N=25  →  0.528 at N=200</a:t>
            </a:r>
            <a:endParaRPr lang="en-US" sz="1100" dirty="0"/>
          </a:p>
        </p:txBody>
      </p:sp>
      <p:sp>
        <p:nvSpPr>
          <p:cNvPr id="51" name="Text 49"/>
          <p:cNvSpPr/>
          <p:nvPr/>
        </p:nvSpPr>
        <p:spPr>
          <a:xfrm>
            <a:off x="4206240" y="5623560"/>
            <a:ext cx="3200400" cy="475488"/>
          </a:xfrm>
          <a:prstGeom prst="roundRect">
            <a:avLst>
              <a:gd name="adj" fmla="val 13462"/>
            </a:avLst>
          </a:prstGeom>
          <a:solidFill>
            <a:srgbClr val="F0E7DA"/>
          </a:solidFill>
          <a:ln w="12700">
            <a:solidFill>
              <a:srgbClr val="C9B195"/>
            </a:solidFill>
          </a:ln>
        </p:spPr>
        <p:txBody>
          <a:bodyPr wrap="square" lIns="38100" tIns="38100" rIns="38100" bIns="38100" rtlCol="0" anchor="ctr"/>
          <a:lstStyle/>
          <a:p>
            <a:pPr marL="0" indent="0" algn="ctr">
              <a:buNone/>
            </a:pPr>
            <a:r>
              <a:rPr lang="en-US" sz="1100" b="1" dirty="0">
                <a:solidFill>
                  <a:srgbClr val="5C4A38"/>
                </a:solidFill>
                <a:latin typeface="Calibri" pitchFamily="34" charset="0"/>
                <a:ea typeface="Calibri" pitchFamily="34" charset="-122"/>
                <a:cs typeface="Calibri" pitchFamily="34" charset="-120"/>
              </a:rPr>
              <a:t>Biomedical (BIO-004)</a:t>
            </a:r>
            <a:endParaRPr lang="en-US" sz="1100" dirty="0"/>
          </a:p>
          <a:p>
            <a:pPr marL="0" indent="0" algn="ctr">
              <a:buNone/>
            </a:pPr>
            <a:r>
              <a:rPr lang="en-US" sz="1050" dirty="0">
                <a:solidFill>
                  <a:srgbClr val="7A6A5A"/>
                </a:solidFill>
                <a:latin typeface="Calibri" pitchFamily="34" charset="0"/>
                <a:ea typeface="Calibri" pitchFamily="34" charset="-122"/>
                <a:cs typeface="Calibri" pitchFamily="34" charset="-120"/>
              </a:rPr>
              <a:t>AUCROC  0.409 at N=25  →  0.628 at N=200</a:t>
            </a:r>
            <a:endParaRPr lang="en-US" sz="1100" dirty="0"/>
          </a:p>
        </p:txBody>
      </p:sp>
      <p:sp>
        <p:nvSpPr>
          <p:cNvPr id="52" name="Text 50"/>
          <p:cNvSpPr/>
          <p:nvPr/>
        </p:nvSpPr>
        <p:spPr>
          <a:xfrm>
            <a:off x="7680960" y="5623560"/>
            <a:ext cx="3749040" cy="475488"/>
          </a:xfrm>
          <a:prstGeom prst="rect">
            <a:avLst/>
          </a:prstGeom>
          <a:noFill/>
          <a:ln/>
        </p:spPr>
        <p:txBody>
          <a:bodyPr wrap="square" lIns="0" tIns="0" rIns="0" bIns="0" rtlCol="0" anchor="ctr"/>
          <a:lstStyle/>
          <a:p>
            <a:pPr marL="0" indent="0">
              <a:buNone/>
            </a:pPr>
            <a:r>
              <a:rPr lang="en-US" sz="1600" b="1" dirty="0">
                <a:solidFill>
                  <a:srgbClr val="B5714B"/>
                </a:solidFill>
                <a:latin typeface="Calibri" pitchFamily="34" charset="0"/>
                <a:ea typeface="Calibri" pitchFamily="34" charset="-122"/>
                <a:cs typeface="Calibri" pitchFamily="34" charset="-120"/>
              </a:rPr>
              <a:t>Screen at 25.  Report only at 200.</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How We Measure — TRACe</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Four separate measurements, so a poor score points at a specific stage</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5.1</a:t>
            </a:r>
            <a:endParaRPr lang="en-US" sz="1000" dirty="0"/>
          </a:p>
        </p:txBody>
      </p:sp>
      <p:sp>
        <p:nvSpPr>
          <p:cNvPr id="7" name="Shape 5"/>
          <p:cNvSpPr/>
          <p:nvPr/>
        </p:nvSpPr>
        <p:spPr>
          <a:xfrm>
            <a:off x="548640" y="1325880"/>
            <a:ext cx="10927080" cy="384048"/>
          </a:xfrm>
          <a:prstGeom prst="roundRect">
            <a:avLst>
              <a:gd name="adj" fmla="val 11905"/>
            </a:avLst>
          </a:prstGeom>
          <a:solidFill>
            <a:srgbClr val="5C4A38"/>
          </a:solidFill>
          <a:ln/>
        </p:spPr>
        <p:txBody>
          <a:bodyPr/>
          <a:lstStyle/>
          <a:p>
            <a:endParaRPr lang="en-IN" sz="2400"/>
          </a:p>
        </p:txBody>
      </p:sp>
      <p:sp>
        <p:nvSpPr>
          <p:cNvPr id="8" name="Text 6"/>
          <p:cNvSpPr/>
          <p:nvPr/>
        </p:nvSpPr>
        <p:spPr>
          <a:xfrm>
            <a:off x="685800" y="1325880"/>
            <a:ext cx="16916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p>
        </p:txBody>
      </p:sp>
      <p:sp>
        <p:nvSpPr>
          <p:cNvPr id="9" name="Text 7"/>
          <p:cNvSpPr/>
          <p:nvPr/>
        </p:nvSpPr>
        <p:spPr>
          <a:xfrm>
            <a:off x="2468880" y="1325880"/>
            <a:ext cx="338328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The question it answers</a:t>
            </a:r>
            <a:endParaRPr lang="en-US" sz="1050" dirty="0"/>
          </a:p>
        </p:txBody>
      </p:sp>
      <p:sp>
        <p:nvSpPr>
          <p:cNvPr id="10" name="Text 8"/>
          <p:cNvSpPr/>
          <p:nvPr/>
        </p:nvSpPr>
        <p:spPr>
          <a:xfrm>
            <a:off x="5943600" y="1325880"/>
            <a:ext cx="32918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Formula</a:t>
            </a:r>
            <a:endParaRPr lang="en-US" sz="1050" dirty="0"/>
          </a:p>
        </p:txBody>
      </p:sp>
      <p:sp>
        <p:nvSpPr>
          <p:cNvPr id="11" name="Text 9"/>
          <p:cNvSpPr/>
          <p:nvPr/>
        </p:nvSpPr>
        <p:spPr>
          <a:xfrm>
            <a:off x="9326880" y="1325880"/>
            <a:ext cx="228600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Checked using</a:t>
            </a:r>
            <a:endParaRPr lang="en-US" sz="1050" dirty="0"/>
          </a:p>
        </p:txBody>
      </p:sp>
      <p:sp>
        <p:nvSpPr>
          <p:cNvPr id="12" name="Shape 10"/>
          <p:cNvSpPr/>
          <p:nvPr/>
        </p:nvSpPr>
        <p:spPr>
          <a:xfrm>
            <a:off x="548640" y="1746504"/>
            <a:ext cx="10927080" cy="438912"/>
          </a:xfrm>
          <a:prstGeom prst="roundRect">
            <a:avLst>
              <a:gd name="adj" fmla="val 8333"/>
            </a:avLst>
          </a:prstGeom>
          <a:solidFill>
            <a:srgbClr val="FFFFFF"/>
          </a:solidFill>
          <a:ln w="7620">
            <a:solidFill>
              <a:srgbClr val="C9B195"/>
            </a:solidFill>
            <a:prstDash val="solid"/>
          </a:ln>
        </p:spPr>
        <p:txBody>
          <a:bodyPr/>
          <a:lstStyle/>
          <a:p>
            <a:endParaRPr lang="en-IN" sz="2400"/>
          </a:p>
        </p:txBody>
      </p:sp>
      <p:sp>
        <p:nvSpPr>
          <p:cNvPr id="13" name="Text 11"/>
          <p:cNvSpPr/>
          <p:nvPr/>
        </p:nvSpPr>
        <p:spPr>
          <a:xfrm>
            <a:off x="685800" y="1746504"/>
            <a:ext cx="1691640" cy="438912"/>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Context Relevance</a:t>
            </a:r>
            <a:endParaRPr lang="en-US" sz="1100" dirty="0"/>
          </a:p>
        </p:txBody>
      </p:sp>
      <p:sp>
        <p:nvSpPr>
          <p:cNvPr id="14" name="Text 12"/>
          <p:cNvSpPr/>
          <p:nvPr/>
        </p:nvSpPr>
        <p:spPr>
          <a:xfrm>
            <a:off x="2468880" y="1746504"/>
            <a:ext cx="338328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Was the retrieved material about the question?</a:t>
            </a:r>
            <a:endParaRPr lang="en-US" sz="1100" dirty="0"/>
          </a:p>
        </p:txBody>
      </p:sp>
      <p:sp>
        <p:nvSpPr>
          <p:cNvPr id="15" name="Text 13"/>
          <p:cNvSpPr/>
          <p:nvPr/>
        </p:nvSpPr>
        <p:spPr>
          <a:xfrm>
            <a:off x="5943600" y="1746504"/>
            <a:ext cx="329184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|relevant| ÷ |all context sentences|</a:t>
            </a:r>
            <a:endParaRPr lang="en-US" sz="1100" dirty="0"/>
          </a:p>
        </p:txBody>
      </p:sp>
      <p:sp>
        <p:nvSpPr>
          <p:cNvPr id="16" name="Text 14"/>
          <p:cNvSpPr/>
          <p:nvPr/>
        </p:nvSpPr>
        <p:spPr>
          <a:xfrm>
            <a:off x="9326880" y="1746504"/>
            <a:ext cx="228600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RMSE — lower is better</a:t>
            </a:r>
            <a:endParaRPr lang="en-US" sz="1100" dirty="0"/>
          </a:p>
        </p:txBody>
      </p:sp>
      <p:sp>
        <p:nvSpPr>
          <p:cNvPr id="17" name="Shape 15"/>
          <p:cNvSpPr/>
          <p:nvPr/>
        </p:nvSpPr>
        <p:spPr>
          <a:xfrm>
            <a:off x="548640" y="2221992"/>
            <a:ext cx="10927080" cy="438912"/>
          </a:xfrm>
          <a:prstGeom prst="roundRect">
            <a:avLst>
              <a:gd name="adj" fmla="val 8333"/>
            </a:avLst>
          </a:prstGeom>
          <a:solidFill>
            <a:srgbClr val="F0E7DA"/>
          </a:solidFill>
          <a:ln w="7620">
            <a:solidFill>
              <a:srgbClr val="C9B195"/>
            </a:solidFill>
            <a:prstDash val="solid"/>
          </a:ln>
        </p:spPr>
        <p:txBody>
          <a:bodyPr/>
          <a:lstStyle/>
          <a:p>
            <a:endParaRPr lang="en-IN" sz="2400"/>
          </a:p>
        </p:txBody>
      </p:sp>
      <p:sp>
        <p:nvSpPr>
          <p:cNvPr id="18" name="Text 16"/>
          <p:cNvSpPr/>
          <p:nvPr/>
        </p:nvSpPr>
        <p:spPr>
          <a:xfrm>
            <a:off x="685800" y="2221992"/>
            <a:ext cx="1691640" cy="438912"/>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Context Utilization</a:t>
            </a:r>
            <a:endParaRPr lang="en-US" sz="1100" dirty="0"/>
          </a:p>
        </p:txBody>
      </p:sp>
      <p:sp>
        <p:nvSpPr>
          <p:cNvPr id="19" name="Text 17"/>
          <p:cNvSpPr/>
          <p:nvPr/>
        </p:nvSpPr>
        <p:spPr>
          <a:xfrm>
            <a:off x="2468880" y="2221992"/>
            <a:ext cx="338328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Did the answer actually use that material?</a:t>
            </a:r>
            <a:endParaRPr lang="en-US" sz="1100" dirty="0"/>
          </a:p>
        </p:txBody>
      </p:sp>
      <p:sp>
        <p:nvSpPr>
          <p:cNvPr id="20" name="Text 18"/>
          <p:cNvSpPr/>
          <p:nvPr/>
        </p:nvSpPr>
        <p:spPr>
          <a:xfrm>
            <a:off x="5943600" y="2221992"/>
            <a:ext cx="329184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|utilized| ÷ |all context sentences|</a:t>
            </a:r>
            <a:endParaRPr lang="en-US" sz="1100" dirty="0"/>
          </a:p>
        </p:txBody>
      </p:sp>
      <p:sp>
        <p:nvSpPr>
          <p:cNvPr id="21" name="Text 19"/>
          <p:cNvSpPr/>
          <p:nvPr/>
        </p:nvSpPr>
        <p:spPr>
          <a:xfrm>
            <a:off x="9326880" y="2221992"/>
            <a:ext cx="228600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RMSE — lower is better</a:t>
            </a:r>
            <a:endParaRPr lang="en-US" sz="1100" dirty="0"/>
          </a:p>
        </p:txBody>
      </p:sp>
      <p:sp>
        <p:nvSpPr>
          <p:cNvPr id="22" name="Shape 20"/>
          <p:cNvSpPr/>
          <p:nvPr/>
        </p:nvSpPr>
        <p:spPr>
          <a:xfrm>
            <a:off x="548640" y="2697480"/>
            <a:ext cx="10927080" cy="438912"/>
          </a:xfrm>
          <a:prstGeom prst="roundRect">
            <a:avLst>
              <a:gd name="adj" fmla="val 8333"/>
            </a:avLst>
          </a:prstGeom>
          <a:solidFill>
            <a:srgbClr val="FFFFFF"/>
          </a:solidFill>
          <a:ln w="7620">
            <a:solidFill>
              <a:srgbClr val="C9B195"/>
            </a:solidFill>
            <a:prstDash val="solid"/>
          </a:ln>
        </p:spPr>
        <p:txBody>
          <a:bodyPr/>
          <a:lstStyle/>
          <a:p>
            <a:endParaRPr lang="en-IN" sz="2400"/>
          </a:p>
        </p:txBody>
      </p:sp>
      <p:sp>
        <p:nvSpPr>
          <p:cNvPr id="23" name="Text 21"/>
          <p:cNvSpPr/>
          <p:nvPr/>
        </p:nvSpPr>
        <p:spPr>
          <a:xfrm>
            <a:off x="685800" y="2697480"/>
            <a:ext cx="1691640" cy="438912"/>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Completeness</a:t>
            </a:r>
            <a:endParaRPr lang="en-US" sz="1100" dirty="0"/>
          </a:p>
        </p:txBody>
      </p:sp>
      <p:sp>
        <p:nvSpPr>
          <p:cNvPr id="24" name="Text 22"/>
          <p:cNvSpPr/>
          <p:nvPr/>
        </p:nvSpPr>
        <p:spPr>
          <a:xfrm>
            <a:off x="2468880" y="2697480"/>
            <a:ext cx="338328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Did it use all of the relevant material?</a:t>
            </a:r>
            <a:endParaRPr lang="en-US" sz="1100" dirty="0"/>
          </a:p>
        </p:txBody>
      </p:sp>
      <p:sp>
        <p:nvSpPr>
          <p:cNvPr id="25" name="Text 23"/>
          <p:cNvSpPr/>
          <p:nvPr/>
        </p:nvSpPr>
        <p:spPr>
          <a:xfrm>
            <a:off x="5943600" y="2697480"/>
            <a:ext cx="329184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|relevant ∩ utilized| ÷ |relevant|</a:t>
            </a:r>
            <a:endParaRPr lang="en-US" sz="1100" dirty="0"/>
          </a:p>
        </p:txBody>
      </p:sp>
      <p:sp>
        <p:nvSpPr>
          <p:cNvPr id="26" name="Text 24"/>
          <p:cNvSpPr/>
          <p:nvPr/>
        </p:nvSpPr>
        <p:spPr>
          <a:xfrm>
            <a:off x="9326880" y="2697480"/>
            <a:ext cx="228600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RMSE — lower is better</a:t>
            </a:r>
            <a:endParaRPr lang="en-US" sz="1100" dirty="0"/>
          </a:p>
        </p:txBody>
      </p:sp>
      <p:sp>
        <p:nvSpPr>
          <p:cNvPr id="27" name="Shape 25"/>
          <p:cNvSpPr/>
          <p:nvPr/>
        </p:nvSpPr>
        <p:spPr>
          <a:xfrm>
            <a:off x="548640" y="3172968"/>
            <a:ext cx="10927080" cy="438912"/>
          </a:xfrm>
          <a:prstGeom prst="roundRect">
            <a:avLst>
              <a:gd name="adj" fmla="val 8333"/>
            </a:avLst>
          </a:prstGeom>
          <a:solidFill>
            <a:srgbClr val="F0E7DA"/>
          </a:solidFill>
          <a:ln w="7620">
            <a:solidFill>
              <a:srgbClr val="C9B195"/>
            </a:solidFill>
            <a:prstDash val="solid"/>
          </a:ln>
        </p:spPr>
        <p:txBody>
          <a:bodyPr/>
          <a:lstStyle/>
          <a:p>
            <a:endParaRPr lang="en-IN" sz="2400"/>
          </a:p>
        </p:txBody>
      </p:sp>
      <p:sp>
        <p:nvSpPr>
          <p:cNvPr id="28" name="Text 26"/>
          <p:cNvSpPr/>
          <p:nvPr/>
        </p:nvSpPr>
        <p:spPr>
          <a:xfrm>
            <a:off x="685800" y="3172968"/>
            <a:ext cx="1691640" cy="438912"/>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Adherence</a:t>
            </a:r>
            <a:endParaRPr lang="en-US" sz="1100" dirty="0"/>
          </a:p>
        </p:txBody>
      </p:sp>
      <p:sp>
        <p:nvSpPr>
          <p:cNvPr id="29" name="Text 27"/>
          <p:cNvSpPr/>
          <p:nvPr/>
        </p:nvSpPr>
        <p:spPr>
          <a:xfrm>
            <a:off x="2468880" y="3172968"/>
            <a:ext cx="338328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Is every claim supported by the documents?</a:t>
            </a:r>
            <a:endParaRPr lang="en-US" sz="1100" dirty="0"/>
          </a:p>
        </p:txBody>
      </p:sp>
      <p:sp>
        <p:nvSpPr>
          <p:cNvPr id="30" name="Text 28"/>
          <p:cNvSpPr/>
          <p:nvPr/>
        </p:nvSpPr>
        <p:spPr>
          <a:xfrm>
            <a:off x="5943600" y="3172968"/>
            <a:ext cx="329184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1 if all answer sentences supported, else 0</a:t>
            </a:r>
            <a:endParaRPr lang="en-US" sz="1100" dirty="0"/>
          </a:p>
        </p:txBody>
      </p:sp>
      <p:sp>
        <p:nvSpPr>
          <p:cNvPr id="31" name="Text 29"/>
          <p:cNvSpPr/>
          <p:nvPr/>
        </p:nvSpPr>
        <p:spPr>
          <a:xfrm>
            <a:off x="9326880" y="3172968"/>
            <a:ext cx="2286000" cy="438912"/>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AUCROC — higher is better</a:t>
            </a:r>
            <a:endParaRPr lang="en-US" sz="1100" dirty="0"/>
          </a:p>
        </p:txBody>
      </p:sp>
      <p:sp>
        <p:nvSpPr>
          <p:cNvPr id="32" name="Shape 30"/>
          <p:cNvSpPr/>
          <p:nvPr/>
        </p:nvSpPr>
        <p:spPr>
          <a:xfrm>
            <a:off x="548640" y="3676305"/>
            <a:ext cx="10927080" cy="1417320"/>
          </a:xfrm>
          <a:prstGeom prst="roundRect">
            <a:avLst>
              <a:gd name="adj" fmla="val 5161"/>
            </a:avLst>
          </a:prstGeom>
          <a:solidFill>
            <a:srgbClr val="E3EDE0"/>
          </a:solidFill>
          <a:ln w="15240">
            <a:solidFill>
              <a:srgbClr val="A8C0A0"/>
            </a:solidFill>
            <a:prstDash val="solid"/>
          </a:ln>
        </p:spPr>
        <p:txBody>
          <a:bodyPr/>
          <a:lstStyle/>
          <a:p>
            <a:endParaRPr lang="en-IN" sz="2400"/>
          </a:p>
        </p:txBody>
      </p:sp>
      <p:sp>
        <p:nvSpPr>
          <p:cNvPr id="33" name="Text 31"/>
          <p:cNvSpPr/>
          <p:nvPr/>
        </p:nvSpPr>
        <p:spPr>
          <a:xfrm>
            <a:off x="822960" y="3657600"/>
            <a:ext cx="10607040" cy="292608"/>
          </a:xfrm>
          <a:prstGeom prst="rect">
            <a:avLst/>
          </a:prstGeom>
          <a:noFill/>
          <a:ln/>
        </p:spPr>
        <p:txBody>
          <a:bodyPr wrap="square" lIns="0" tIns="0" rIns="0" bIns="0" rtlCol="0" anchor="ctr"/>
          <a:lstStyle/>
          <a:p>
            <a:pPr marL="0" indent="0">
              <a:buNone/>
            </a:pPr>
            <a:r>
              <a:rPr lang="en-US" b="1" dirty="0">
                <a:solidFill>
                  <a:srgbClr val="4A6B4F"/>
                </a:solidFill>
                <a:latin typeface="Calibri" pitchFamily="34" charset="0"/>
                <a:ea typeface="Calibri" pitchFamily="34" charset="-122"/>
                <a:cs typeface="Calibri" pitchFamily="34" charset="-120"/>
              </a:rPr>
              <a:t>The rule that changed most during the project:  the judge must be STRONGER than the generator</a:t>
            </a:r>
            <a:endParaRPr lang="en-US" dirty="0"/>
          </a:p>
        </p:txBody>
      </p:sp>
      <p:sp>
        <p:nvSpPr>
          <p:cNvPr id="34" name="Text 32"/>
          <p:cNvSpPr/>
          <p:nvPr/>
        </p:nvSpPr>
        <p:spPr>
          <a:xfrm>
            <a:off x="822960" y="3968496"/>
            <a:ext cx="10607040" cy="86868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Early runs used the same model to write and to judge, and in some cases a smaller model judging a larger one. Both are wrong: a model grading its own output is not an independent measurement, and a weaker model cannot reliably tell whether a subtle claim is supported. On an identical pipeline, an 8b judge scored 0.639 where a 70b judge scored 0.875 — the pipeline had not changed, the instrument had.</a:t>
            </a:r>
            <a:endParaRPr lang="en-US" sz="1400" dirty="0"/>
          </a:p>
        </p:txBody>
      </p:sp>
      <p:sp>
        <p:nvSpPr>
          <p:cNvPr id="35" name="Text 33"/>
          <p:cNvSpPr/>
          <p:nvPr/>
        </p:nvSpPr>
        <p:spPr>
          <a:xfrm>
            <a:off x="548640" y="5074920"/>
            <a:ext cx="3566160" cy="777240"/>
          </a:xfrm>
          <a:prstGeom prst="roundRect">
            <a:avLst>
              <a:gd name="adj" fmla="val 8235"/>
            </a:avLst>
          </a:prstGeom>
          <a:solidFill>
            <a:srgbClr val="8C6E52"/>
          </a:solidFill>
          <a:ln w="12700">
            <a:solidFill>
              <a:srgbClr val="8C6E52"/>
            </a:solidFill>
          </a:ln>
        </p:spPr>
        <p:txBody>
          <a:bodyPr wrap="square" lIns="38100" tIns="38100" rIns="38100" bIns="3810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Generator</a:t>
            </a:r>
            <a:endParaRPr lang="en-US" dirty="0"/>
          </a:p>
          <a:p>
            <a:pPr marL="0" indent="0" algn="ctr">
              <a:buNone/>
            </a:pPr>
            <a:r>
              <a:rPr lang="en-US" sz="1200" dirty="0">
                <a:solidFill>
                  <a:srgbClr val="F0E7DA"/>
                </a:solidFill>
                <a:latin typeface="Calibri" pitchFamily="34" charset="0"/>
                <a:ea typeface="Calibri" pitchFamily="34" charset="-122"/>
                <a:cs typeface="Calibri" pitchFamily="34" charset="-120"/>
              </a:rPr>
              <a:t>llama-3.3-70b-versatile</a:t>
            </a:r>
            <a:endParaRPr lang="en-US" dirty="0"/>
          </a:p>
          <a:p>
            <a:pPr marL="0" indent="0" algn="ctr">
              <a:buNone/>
            </a:pPr>
            <a:r>
              <a:rPr lang="en-US" sz="1200" dirty="0">
                <a:solidFill>
                  <a:srgbClr val="F0E7DA"/>
                </a:solidFill>
                <a:latin typeface="Calibri" pitchFamily="34" charset="0"/>
                <a:ea typeface="Calibri" pitchFamily="34" charset="-122"/>
                <a:cs typeface="Calibri" pitchFamily="34" charset="-120"/>
              </a:rPr>
              <a:t>temperature 0</a:t>
            </a:r>
            <a:endParaRPr lang="en-US" dirty="0"/>
          </a:p>
        </p:txBody>
      </p:sp>
      <p:sp>
        <p:nvSpPr>
          <p:cNvPr id="36" name="Text 34"/>
          <p:cNvSpPr/>
          <p:nvPr/>
        </p:nvSpPr>
        <p:spPr>
          <a:xfrm>
            <a:off x="4206240" y="5074920"/>
            <a:ext cx="1188720" cy="777240"/>
          </a:xfrm>
          <a:prstGeom prst="rect">
            <a:avLst/>
          </a:prstGeom>
          <a:noFill/>
          <a:ln/>
        </p:spPr>
        <p:txBody>
          <a:bodyPr wrap="square" lIns="0" tIns="0" rIns="0" bIns="0" rtlCol="0" anchor="ctr"/>
          <a:lstStyle/>
          <a:p>
            <a:pPr marL="0" indent="0" algn="ctr">
              <a:buNone/>
            </a:pPr>
            <a:r>
              <a:rPr lang="en-US" sz="1400" b="1" dirty="0">
                <a:solidFill>
                  <a:srgbClr val="7A6A5A"/>
                </a:solidFill>
                <a:latin typeface="Calibri" pitchFamily="34" charset="0"/>
                <a:ea typeface="Calibri" pitchFamily="34" charset="-122"/>
                <a:cs typeface="Calibri" pitchFamily="34" charset="-120"/>
              </a:rPr>
              <a:t>judged by  →</a:t>
            </a:r>
            <a:endParaRPr lang="en-US" sz="1400" dirty="0"/>
          </a:p>
        </p:txBody>
      </p:sp>
      <p:sp>
        <p:nvSpPr>
          <p:cNvPr id="37" name="Text 35"/>
          <p:cNvSpPr/>
          <p:nvPr/>
        </p:nvSpPr>
        <p:spPr>
          <a:xfrm>
            <a:off x="5486400" y="5074920"/>
            <a:ext cx="3566160" cy="777240"/>
          </a:xfrm>
          <a:prstGeom prst="roundRect">
            <a:avLst>
              <a:gd name="adj" fmla="val 8235"/>
            </a:avLst>
          </a:prstGeom>
          <a:solidFill>
            <a:srgbClr val="4A6B4F"/>
          </a:solidFill>
          <a:ln w="12700">
            <a:solidFill>
              <a:srgbClr val="4A6B4F"/>
            </a:solidFill>
          </a:ln>
        </p:spPr>
        <p:txBody>
          <a:bodyPr wrap="square" lIns="38100" tIns="38100" rIns="38100" bIns="38100"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Judge</a:t>
            </a:r>
            <a:endParaRPr lang="en-US" dirty="0"/>
          </a:p>
          <a:p>
            <a:pPr marL="0" indent="0" algn="ctr">
              <a:buNone/>
            </a:pPr>
            <a:r>
              <a:rPr lang="en-US" sz="1200" dirty="0">
                <a:solidFill>
                  <a:srgbClr val="E3EDE0"/>
                </a:solidFill>
                <a:latin typeface="Calibri" pitchFamily="34" charset="0"/>
                <a:ea typeface="Calibri" pitchFamily="34" charset="-122"/>
                <a:cs typeface="Calibri" pitchFamily="34" charset="-120"/>
              </a:rPr>
              <a:t>openai/gpt-oss-120b</a:t>
            </a:r>
            <a:endParaRPr lang="en-US" dirty="0"/>
          </a:p>
          <a:p>
            <a:pPr marL="0" indent="0" algn="ctr">
              <a:buNone/>
            </a:pPr>
            <a:r>
              <a:rPr lang="en-US" sz="1200" dirty="0">
                <a:solidFill>
                  <a:srgbClr val="E3EDE0"/>
                </a:solidFill>
                <a:latin typeface="Calibri" pitchFamily="34" charset="0"/>
                <a:ea typeface="Calibri" pitchFamily="34" charset="-122"/>
                <a:cs typeface="Calibri" pitchFamily="34" charset="-120"/>
              </a:rPr>
              <a:t>independent AND larger</a:t>
            </a:r>
            <a:endParaRPr lang="en-US" dirty="0"/>
          </a:p>
        </p:txBody>
      </p:sp>
      <p:sp>
        <p:nvSpPr>
          <p:cNvPr id="38" name="Text 36"/>
          <p:cNvSpPr/>
          <p:nvPr/>
        </p:nvSpPr>
        <p:spPr>
          <a:xfrm>
            <a:off x="9235440" y="5074920"/>
            <a:ext cx="2423160" cy="777240"/>
          </a:xfrm>
          <a:prstGeom prst="roundRect">
            <a:avLst>
              <a:gd name="adj" fmla="val 8235"/>
            </a:avLst>
          </a:prstGeom>
          <a:solidFill>
            <a:srgbClr val="FFFFFF"/>
          </a:solidFill>
          <a:ln w="12700">
            <a:solidFill>
              <a:srgbClr val="C9B195"/>
            </a:solidFill>
          </a:ln>
        </p:spPr>
        <p:txBody>
          <a:bodyPr wrap="square" lIns="38100" tIns="38100" rIns="38100" bIns="38100" rtlCol="0" anchor="ctr"/>
          <a:lstStyle/>
          <a:p>
            <a:pPr marL="0" indent="0" algn="ctr">
              <a:buNone/>
            </a:pPr>
            <a:r>
              <a:rPr lang="en-US" sz="1400" b="1" dirty="0">
                <a:solidFill>
                  <a:srgbClr val="5C4A38"/>
                </a:solidFill>
                <a:latin typeface="Calibri" pitchFamily="34" charset="0"/>
                <a:ea typeface="Calibri" pitchFamily="34" charset="-122"/>
                <a:cs typeface="Calibri" pitchFamily="34" charset="-120"/>
              </a:rPr>
              <a:t>Matches RAGBench</a:t>
            </a:r>
            <a:endParaRPr lang="en-US" sz="1400" dirty="0"/>
          </a:p>
          <a:p>
            <a:pPr marL="0" indent="0" algn="ctr">
              <a:buNone/>
            </a:pPr>
            <a:r>
              <a:rPr lang="en-US" sz="1050" dirty="0">
                <a:solidFill>
                  <a:srgbClr val="7A6A5A"/>
                </a:solidFill>
                <a:latin typeface="Calibri" pitchFamily="34" charset="0"/>
                <a:ea typeface="Calibri" pitchFamily="34" charset="-122"/>
                <a:cs typeface="Calibri" pitchFamily="34" charset="-120"/>
              </a:rPr>
              <a:t>GPT-4 judged weaker writers</a:t>
            </a:r>
            <a:endParaRPr lang="en-US" sz="1400" dirty="0"/>
          </a:p>
        </p:txBody>
      </p:sp>
      <p:sp>
        <p:nvSpPr>
          <p:cNvPr id="39" name="Text 37"/>
          <p:cNvSpPr/>
          <p:nvPr/>
        </p:nvSpPr>
        <p:spPr>
          <a:xfrm>
            <a:off x="548640" y="5989320"/>
            <a:ext cx="11109960" cy="457200"/>
          </a:xfrm>
          <a:prstGeom prst="rect">
            <a:avLst/>
          </a:prstGeom>
          <a:noFill/>
          <a:ln/>
        </p:spPr>
        <p:txBody>
          <a:bodyPr wrap="square" lIns="0" tIns="0" rIns="0" bIns="0" rtlCol="0" anchor="ctr"/>
          <a:lstStyle/>
          <a:p>
            <a:pPr marL="0" indent="0">
              <a:buNone/>
            </a:pPr>
            <a:r>
              <a:rPr lang="en-US" sz="1200" i="1" dirty="0">
                <a:solidFill>
                  <a:srgbClr val="7A6A5A"/>
                </a:solidFill>
                <a:latin typeface="Calibri" pitchFamily="34" charset="0"/>
                <a:ea typeface="Calibri" pitchFamily="34" charset="-122"/>
                <a:cs typeface="Calibri" pitchFamily="34" charset="-120"/>
              </a:rPr>
              <a:t>Four judging rules never broken:  prompt pasted verbatim from Appendix 7.4  ·  documents sent as raw nested lists  ·  invented labels discarded  ·  documents renumbered in retrieval order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Which Component Actually Mattered</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Marginal spread: how far apart the best and worst averages are for each component</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7.1</a:t>
            </a:r>
            <a:endParaRPr lang="en-US" sz="1000" dirty="0"/>
          </a:p>
        </p:txBody>
      </p:sp>
      <p:graphicFrame>
        <p:nvGraphicFramePr>
          <p:cNvPr id="7" name="Chart 0"/>
          <p:cNvGraphicFramePr/>
          <p:nvPr/>
        </p:nvGraphicFramePr>
        <p:xfrm>
          <a:off x="548640" y="1371600"/>
          <a:ext cx="72237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8001000" y="1371600"/>
            <a:ext cx="3657600" cy="4846320"/>
          </a:xfrm>
          <a:prstGeom prst="roundRect">
            <a:avLst>
              <a:gd name="adj" fmla="val 2000"/>
            </a:avLst>
          </a:prstGeom>
          <a:solidFill>
            <a:srgbClr val="FFFFFF"/>
          </a:solidFill>
          <a:ln w="9525">
            <a:solidFill>
              <a:srgbClr val="C9B195"/>
            </a:solidFill>
            <a:prstDash val="solid"/>
          </a:ln>
        </p:spPr>
        <p:txBody>
          <a:bodyPr/>
          <a:lstStyle/>
          <a:p>
            <a:endParaRPr lang="en-IN" sz="2400"/>
          </a:p>
        </p:txBody>
      </p:sp>
      <p:sp>
        <p:nvSpPr>
          <p:cNvPr id="9" name="Text 6"/>
          <p:cNvSpPr/>
          <p:nvPr/>
        </p:nvSpPr>
        <p:spPr>
          <a:xfrm>
            <a:off x="8229600" y="1508760"/>
            <a:ext cx="3200400" cy="274320"/>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What this says</a:t>
            </a:r>
            <a:endParaRPr lang="en-US" sz="1600" dirty="0"/>
          </a:p>
        </p:txBody>
      </p:sp>
      <p:sp>
        <p:nvSpPr>
          <p:cNvPr id="10" name="Shape 7"/>
          <p:cNvSpPr/>
          <p:nvPr/>
        </p:nvSpPr>
        <p:spPr>
          <a:xfrm>
            <a:off x="8229600" y="1874520"/>
            <a:ext cx="73152" cy="1280160"/>
          </a:xfrm>
          <a:prstGeom prst="rect">
            <a:avLst/>
          </a:prstGeom>
          <a:solidFill>
            <a:srgbClr val="4A6B4F"/>
          </a:solidFill>
          <a:ln/>
        </p:spPr>
        <p:txBody>
          <a:bodyPr/>
          <a:lstStyle/>
          <a:p>
            <a:endParaRPr lang="en-IN" sz="2400"/>
          </a:p>
        </p:txBody>
      </p:sp>
      <p:sp>
        <p:nvSpPr>
          <p:cNvPr id="11" name="Text 8"/>
          <p:cNvSpPr/>
          <p:nvPr/>
        </p:nvSpPr>
        <p:spPr>
          <a:xfrm>
            <a:off x="8430768" y="1874520"/>
            <a:ext cx="3017520" cy="457200"/>
          </a:xfrm>
          <a:prstGeom prst="rect">
            <a:avLst/>
          </a:prstGeom>
          <a:noFill/>
          <a:ln/>
        </p:spPr>
        <p:txBody>
          <a:bodyPr wrap="square" lIns="0" tIns="0" rIns="0" bIns="0" rtlCol="0" anchor="ctr"/>
          <a:lstStyle/>
          <a:p>
            <a:pPr marL="0" indent="0">
              <a:buNone/>
            </a:pPr>
            <a:r>
              <a:rPr lang="en-US" sz="1400" b="1" dirty="0">
                <a:solidFill>
                  <a:srgbClr val="4A6B4F"/>
                </a:solidFill>
                <a:latin typeface="Calibri" pitchFamily="34" charset="0"/>
                <a:ea typeface="Calibri" pitchFamily="34" charset="-122"/>
                <a:cs typeface="Calibri" pitchFamily="34" charset="-120"/>
              </a:rPr>
              <a:t>Chunking leads in four of five domains</a:t>
            </a:r>
            <a:endParaRPr lang="en-US" sz="1400" dirty="0"/>
          </a:p>
        </p:txBody>
      </p:sp>
      <p:sp>
        <p:nvSpPr>
          <p:cNvPr id="12" name="Text 9"/>
          <p:cNvSpPr/>
          <p:nvPr/>
        </p:nvSpPr>
        <p:spPr>
          <a:xfrm>
            <a:off x="8430768" y="2331720"/>
            <a:ext cx="3017520" cy="82296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and in Legal it dwarfs everything else combined — contracts are long and structured, so how you cut them decides whether a clause survives intact.</a:t>
            </a:r>
            <a:endParaRPr lang="en-US" sz="1100" dirty="0"/>
          </a:p>
        </p:txBody>
      </p:sp>
      <p:sp>
        <p:nvSpPr>
          <p:cNvPr id="13" name="Shape 10"/>
          <p:cNvSpPr/>
          <p:nvPr/>
        </p:nvSpPr>
        <p:spPr>
          <a:xfrm>
            <a:off x="8229600" y="3337560"/>
            <a:ext cx="73152" cy="1280160"/>
          </a:xfrm>
          <a:prstGeom prst="rect">
            <a:avLst/>
          </a:prstGeom>
          <a:solidFill>
            <a:srgbClr val="8C6E52"/>
          </a:solidFill>
          <a:ln/>
        </p:spPr>
        <p:txBody>
          <a:bodyPr/>
          <a:lstStyle/>
          <a:p>
            <a:endParaRPr lang="en-IN" sz="2400"/>
          </a:p>
        </p:txBody>
      </p:sp>
      <p:sp>
        <p:nvSpPr>
          <p:cNvPr id="14" name="Text 11"/>
          <p:cNvSpPr/>
          <p:nvPr/>
        </p:nvSpPr>
        <p:spPr>
          <a:xfrm>
            <a:off x="8430768" y="3337560"/>
            <a:ext cx="3017520" cy="457200"/>
          </a:xfrm>
          <a:prstGeom prst="rect">
            <a:avLst/>
          </a:prstGeom>
          <a:noFill/>
          <a:ln/>
        </p:spPr>
        <p:txBody>
          <a:bodyPr wrap="square" lIns="0" tIns="0" rIns="0" bIns="0" rtlCol="0" anchor="ctr"/>
          <a:lstStyle/>
          <a:p>
            <a:pPr marL="0" indent="0">
              <a:buNone/>
            </a:pPr>
            <a:r>
              <a:rPr lang="en-US" sz="1400" b="1" dirty="0">
                <a:solidFill>
                  <a:srgbClr val="8C6E52"/>
                </a:solidFill>
                <a:latin typeface="Calibri" pitchFamily="34" charset="0"/>
                <a:ea typeface="Calibri" pitchFamily="34" charset="-122"/>
                <a:cs typeface="Calibri" pitchFamily="34" charset="-120"/>
              </a:rPr>
              <a:t>Context ordering leads only Finance</a:t>
            </a:r>
            <a:endParaRPr lang="en-US" sz="1400" dirty="0"/>
          </a:p>
        </p:txBody>
      </p:sp>
      <p:sp>
        <p:nvSpPr>
          <p:cNvPr id="15" name="Text 12"/>
          <p:cNvSpPr/>
          <p:nvPr/>
        </p:nvSpPr>
        <p:spPr>
          <a:xfrm>
            <a:off x="8430768" y="3794760"/>
            <a:ext cx="3017520" cy="82296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where a number and the sentence qualifying it have to stay close together.</a:t>
            </a:r>
            <a:endParaRPr lang="en-US" sz="1100" dirty="0"/>
          </a:p>
        </p:txBody>
      </p:sp>
      <p:sp>
        <p:nvSpPr>
          <p:cNvPr id="16" name="Shape 13"/>
          <p:cNvSpPr/>
          <p:nvPr/>
        </p:nvSpPr>
        <p:spPr>
          <a:xfrm>
            <a:off x="8229600" y="4800600"/>
            <a:ext cx="73152" cy="1280160"/>
          </a:xfrm>
          <a:prstGeom prst="rect">
            <a:avLst/>
          </a:prstGeom>
          <a:solidFill>
            <a:srgbClr val="B5714B"/>
          </a:solidFill>
          <a:ln/>
        </p:spPr>
        <p:txBody>
          <a:bodyPr/>
          <a:lstStyle/>
          <a:p>
            <a:endParaRPr lang="en-IN" sz="2400"/>
          </a:p>
        </p:txBody>
      </p:sp>
      <p:sp>
        <p:nvSpPr>
          <p:cNvPr id="17" name="Text 14"/>
          <p:cNvSpPr/>
          <p:nvPr/>
        </p:nvSpPr>
        <p:spPr>
          <a:xfrm>
            <a:off x="8430768" y="4800600"/>
            <a:ext cx="3017520" cy="457200"/>
          </a:xfrm>
          <a:prstGeom prst="rect">
            <a:avLst/>
          </a:prstGeom>
          <a:noFill/>
          <a:ln/>
        </p:spPr>
        <p:txBody>
          <a:bodyPr wrap="square" lIns="0" tIns="0" rIns="0" bIns="0" rtlCol="0" anchor="ctr"/>
          <a:lstStyle/>
          <a:p>
            <a:pPr marL="0" indent="0">
              <a:buNone/>
            </a:pPr>
            <a:r>
              <a:rPr lang="en-US" sz="1400" b="1" dirty="0">
                <a:solidFill>
                  <a:srgbClr val="B5714B"/>
                </a:solidFill>
                <a:latin typeface="Calibri" pitchFamily="34" charset="0"/>
                <a:ea typeface="Calibri" pitchFamily="34" charset="-122"/>
                <a:cs typeface="Calibri" pitchFamily="34" charset="-120"/>
              </a:rPr>
              <a:t>Retrieval and reranking move least</a:t>
            </a:r>
            <a:endParaRPr lang="en-US" sz="1400" dirty="0"/>
          </a:p>
        </p:txBody>
      </p:sp>
      <p:sp>
        <p:nvSpPr>
          <p:cNvPr id="18" name="Text 15"/>
          <p:cNvSpPr/>
          <p:nvPr/>
        </p:nvSpPr>
        <p:spPr>
          <a:xfrm>
            <a:off x="8430768" y="5257800"/>
            <a:ext cx="3017520" cy="82296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almost everywhere — in Biomedical they are 0.001 and 0.003, effectively nothing. The opposite of what we expected.</a:t>
            </a:r>
            <a:endParaRPr lang="en-US" sz="1100" dirty="0"/>
          </a:p>
        </p:txBody>
      </p:sp>
      <p:sp>
        <p:nvSpPr>
          <p:cNvPr id="19" name="Text 16"/>
          <p:cNvSpPr/>
          <p:nvPr/>
        </p:nvSpPr>
        <p:spPr>
          <a:xfrm>
            <a:off x="548640" y="6309360"/>
            <a:ext cx="7223760" cy="274320"/>
          </a:xfrm>
          <a:prstGeom prst="rect">
            <a:avLst/>
          </a:prstGeom>
          <a:noFill/>
          <a:ln/>
        </p:spPr>
        <p:txBody>
          <a:bodyPr wrap="square" lIns="0" tIns="0" rIns="0" bIns="0" rtlCol="0" anchor="ctr"/>
          <a:lstStyle/>
          <a:p>
            <a:pPr marL="0" indent="0">
              <a:buNone/>
            </a:pPr>
            <a:r>
              <a:rPr lang="en-US" sz="900" i="1" dirty="0">
                <a:solidFill>
                  <a:srgbClr val="7A6A5A"/>
                </a:solidFill>
                <a:latin typeface="Calibri" pitchFamily="34" charset="0"/>
                <a:ea typeface="Calibri" pitchFamily="34" charset="-122"/>
                <a:cs typeface="Calibri" pitchFamily="34" charset="-120"/>
              </a:rPr>
              <a:t>Chart is a native PowerPoint chart — right-click → Edit Data to update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Final Scores — Locked Configurations</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All five domains, 200 examples, generator llama-3.3-70b, judge gpt-oss-120b</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7</a:t>
            </a:r>
            <a:endParaRPr lang="en-US" sz="1000" dirty="0"/>
          </a:p>
        </p:txBody>
      </p:sp>
      <p:sp>
        <p:nvSpPr>
          <p:cNvPr id="7" name="Shape 5"/>
          <p:cNvSpPr/>
          <p:nvPr/>
        </p:nvSpPr>
        <p:spPr>
          <a:xfrm>
            <a:off x="457200" y="1325880"/>
            <a:ext cx="11137392" cy="384048"/>
          </a:xfrm>
          <a:prstGeom prst="roundRect">
            <a:avLst>
              <a:gd name="adj" fmla="val 11905"/>
            </a:avLst>
          </a:prstGeom>
          <a:solidFill>
            <a:srgbClr val="5C4A38"/>
          </a:solidFill>
          <a:ln/>
        </p:spPr>
        <p:txBody>
          <a:bodyPr/>
          <a:lstStyle/>
          <a:p>
            <a:endParaRPr lang="en-IN" sz="2400"/>
          </a:p>
        </p:txBody>
      </p:sp>
      <p:sp>
        <p:nvSpPr>
          <p:cNvPr id="8" name="Text 6"/>
          <p:cNvSpPr/>
          <p:nvPr/>
        </p:nvSpPr>
        <p:spPr>
          <a:xfrm>
            <a:off x="566928" y="1325880"/>
            <a:ext cx="150876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Domain</a:t>
            </a:r>
            <a:endParaRPr lang="en-US" sz="1050" dirty="0"/>
          </a:p>
        </p:txBody>
      </p:sp>
      <p:sp>
        <p:nvSpPr>
          <p:cNvPr id="9" name="Text 7"/>
          <p:cNvSpPr/>
          <p:nvPr/>
        </p:nvSpPr>
        <p:spPr>
          <a:xfrm>
            <a:off x="2148840" y="1325880"/>
            <a:ext cx="105156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Chunking</a:t>
            </a:r>
            <a:endParaRPr lang="en-US" sz="1050" dirty="0"/>
          </a:p>
        </p:txBody>
      </p:sp>
      <p:sp>
        <p:nvSpPr>
          <p:cNvPr id="10" name="Text 8"/>
          <p:cNvSpPr/>
          <p:nvPr/>
        </p:nvSpPr>
        <p:spPr>
          <a:xfrm>
            <a:off x="3246120" y="1325880"/>
            <a:ext cx="105156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Embedding</a:t>
            </a:r>
            <a:endParaRPr lang="en-US" sz="1050" dirty="0"/>
          </a:p>
        </p:txBody>
      </p:sp>
      <p:sp>
        <p:nvSpPr>
          <p:cNvPr id="11" name="Text 9"/>
          <p:cNvSpPr/>
          <p:nvPr/>
        </p:nvSpPr>
        <p:spPr>
          <a:xfrm>
            <a:off x="4343400" y="1325880"/>
            <a:ext cx="86868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Retrieval</a:t>
            </a:r>
            <a:endParaRPr lang="en-US" sz="1050" dirty="0"/>
          </a:p>
        </p:txBody>
      </p:sp>
      <p:sp>
        <p:nvSpPr>
          <p:cNvPr id="12" name="Text 10"/>
          <p:cNvSpPr/>
          <p:nvPr/>
        </p:nvSpPr>
        <p:spPr>
          <a:xfrm>
            <a:off x="5257800" y="1325880"/>
            <a:ext cx="12344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Rerank / order</a:t>
            </a:r>
            <a:endParaRPr lang="en-US" sz="1050" dirty="0"/>
          </a:p>
        </p:txBody>
      </p:sp>
      <p:sp>
        <p:nvSpPr>
          <p:cNvPr id="13" name="Text 11"/>
          <p:cNvSpPr/>
          <p:nvPr/>
        </p:nvSpPr>
        <p:spPr>
          <a:xfrm>
            <a:off x="6537960" y="1325880"/>
            <a:ext cx="91440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Rel ↓</a:t>
            </a:r>
            <a:endParaRPr lang="en-US" sz="1050" dirty="0"/>
          </a:p>
        </p:txBody>
      </p:sp>
      <p:sp>
        <p:nvSpPr>
          <p:cNvPr id="14" name="Text 12"/>
          <p:cNvSpPr/>
          <p:nvPr/>
        </p:nvSpPr>
        <p:spPr>
          <a:xfrm>
            <a:off x="7498080" y="1325880"/>
            <a:ext cx="10058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Util ↓</a:t>
            </a:r>
            <a:endParaRPr lang="en-US" sz="1050" dirty="0"/>
          </a:p>
        </p:txBody>
      </p:sp>
      <p:sp>
        <p:nvSpPr>
          <p:cNvPr id="15" name="Text 13"/>
          <p:cNvSpPr/>
          <p:nvPr/>
        </p:nvSpPr>
        <p:spPr>
          <a:xfrm>
            <a:off x="8549640" y="1325880"/>
            <a:ext cx="10058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Comp ↓</a:t>
            </a:r>
            <a:endParaRPr lang="en-US" sz="1050" dirty="0"/>
          </a:p>
        </p:txBody>
      </p:sp>
      <p:sp>
        <p:nvSpPr>
          <p:cNvPr id="16" name="Text 14"/>
          <p:cNvSpPr/>
          <p:nvPr/>
        </p:nvSpPr>
        <p:spPr>
          <a:xfrm>
            <a:off x="9601200" y="1325880"/>
            <a:ext cx="10058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Adherence</a:t>
            </a:r>
            <a:endParaRPr lang="en-US" sz="1050" dirty="0"/>
          </a:p>
        </p:txBody>
      </p:sp>
      <p:sp>
        <p:nvSpPr>
          <p:cNvPr id="17" name="Text 15"/>
          <p:cNvSpPr/>
          <p:nvPr/>
        </p:nvSpPr>
        <p:spPr>
          <a:xfrm>
            <a:off x="10652760" y="1325880"/>
            <a:ext cx="105156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AUCROC ↑</a:t>
            </a:r>
            <a:endParaRPr lang="en-US" sz="1050" dirty="0"/>
          </a:p>
        </p:txBody>
      </p:sp>
      <p:sp>
        <p:nvSpPr>
          <p:cNvPr id="18" name="Shape 16"/>
          <p:cNvSpPr/>
          <p:nvPr/>
        </p:nvSpPr>
        <p:spPr>
          <a:xfrm>
            <a:off x="457200" y="1746504"/>
            <a:ext cx="11137392" cy="420624"/>
          </a:xfrm>
          <a:prstGeom prst="roundRect">
            <a:avLst>
              <a:gd name="adj" fmla="val 8696"/>
            </a:avLst>
          </a:prstGeom>
          <a:solidFill>
            <a:srgbClr val="FFFFFF"/>
          </a:solidFill>
          <a:ln w="7620">
            <a:solidFill>
              <a:srgbClr val="C9B195"/>
            </a:solidFill>
            <a:prstDash val="solid"/>
          </a:ln>
        </p:spPr>
        <p:txBody>
          <a:bodyPr/>
          <a:lstStyle/>
          <a:p>
            <a:endParaRPr lang="en-IN" sz="2400"/>
          </a:p>
        </p:txBody>
      </p:sp>
      <p:sp>
        <p:nvSpPr>
          <p:cNvPr id="19" name="Text 17"/>
          <p:cNvSpPr/>
          <p:nvPr/>
        </p:nvSpPr>
        <p:spPr>
          <a:xfrm>
            <a:off x="566928" y="1746504"/>
            <a:ext cx="1508760" cy="420624"/>
          </a:xfrm>
          <a:prstGeom prst="rect">
            <a:avLst/>
          </a:prstGeom>
          <a:noFill/>
          <a:ln/>
        </p:spPr>
        <p:txBody>
          <a:bodyPr wrap="square" lIns="0" tIns="0" rIns="0" bIns="0" rtlCol="0" anchor="ctr"/>
          <a:lstStyle/>
          <a:p>
            <a:pPr marL="0" indent="0">
              <a:buNone/>
            </a:pPr>
            <a:r>
              <a:rPr lang="en-US" sz="1050" b="1" dirty="0">
                <a:solidFill>
                  <a:srgbClr val="3E3228"/>
                </a:solidFill>
                <a:latin typeface="Calibri" pitchFamily="34" charset="0"/>
                <a:ea typeface="Calibri" pitchFamily="34" charset="-122"/>
                <a:cs typeface="Calibri" pitchFamily="34" charset="-120"/>
              </a:rPr>
              <a:t>Customer Support</a:t>
            </a:r>
            <a:endParaRPr lang="en-US" sz="1050" dirty="0"/>
          </a:p>
        </p:txBody>
      </p:sp>
      <p:sp>
        <p:nvSpPr>
          <p:cNvPr id="20" name="Text 18"/>
          <p:cNvSpPr/>
          <p:nvPr/>
        </p:nvSpPr>
        <p:spPr>
          <a:xfrm>
            <a:off x="2148840" y="17465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sliding 5/2</a:t>
            </a:r>
            <a:endParaRPr lang="en-US" sz="1050" dirty="0"/>
          </a:p>
        </p:txBody>
      </p:sp>
      <p:sp>
        <p:nvSpPr>
          <p:cNvPr id="21" name="Text 19"/>
          <p:cNvSpPr/>
          <p:nvPr/>
        </p:nvSpPr>
        <p:spPr>
          <a:xfrm>
            <a:off x="3246120" y="17465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MiniLM-L6</a:t>
            </a:r>
            <a:endParaRPr lang="en-US" sz="1050" dirty="0"/>
          </a:p>
        </p:txBody>
      </p:sp>
      <p:sp>
        <p:nvSpPr>
          <p:cNvPr id="22" name="Text 20"/>
          <p:cNvSpPr/>
          <p:nvPr/>
        </p:nvSpPr>
        <p:spPr>
          <a:xfrm>
            <a:off x="4343400" y="1746504"/>
            <a:ext cx="86868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hybrid</a:t>
            </a:r>
            <a:endParaRPr lang="en-US" sz="1050" dirty="0"/>
          </a:p>
        </p:txBody>
      </p:sp>
      <p:sp>
        <p:nvSpPr>
          <p:cNvPr id="23" name="Text 21"/>
          <p:cNvSpPr/>
          <p:nvPr/>
        </p:nvSpPr>
        <p:spPr>
          <a:xfrm>
            <a:off x="5257800" y="1746504"/>
            <a:ext cx="12344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cross-enc · fwd</a:t>
            </a:r>
            <a:endParaRPr lang="en-US" sz="1050" dirty="0"/>
          </a:p>
        </p:txBody>
      </p:sp>
      <p:sp>
        <p:nvSpPr>
          <p:cNvPr id="24" name="Text 22"/>
          <p:cNvSpPr/>
          <p:nvPr/>
        </p:nvSpPr>
        <p:spPr>
          <a:xfrm>
            <a:off x="6537960" y="1746504"/>
            <a:ext cx="91440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0.2732</a:t>
            </a:r>
            <a:endParaRPr lang="en-US" sz="1050" dirty="0"/>
          </a:p>
        </p:txBody>
      </p:sp>
      <p:sp>
        <p:nvSpPr>
          <p:cNvPr id="25" name="Text 23"/>
          <p:cNvSpPr/>
          <p:nvPr/>
        </p:nvSpPr>
        <p:spPr>
          <a:xfrm>
            <a:off x="7498080" y="17465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0.1762</a:t>
            </a:r>
            <a:endParaRPr lang="en-US" sz="1050" dirty="0"/>
          </a:p>
        </p:txBody>
      </p:sp>
      <p:sp>
        <p:nvSpPr>
          <p:cNvPr id="26" name="Text 24"/>
          <p:cNvSpPr/>
          <p:nvPr/>
        </p:nvSpPr>
        <p:spPr>
          <a:xfrm>
            <a:off x="8549640" y="17465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0.6179</a:t>
            </a:r>
            <a:endParaRPr lang="en-US" sz="1050" dirty="0"/>
          </a:p>
        </p:txBody>
      </p:sp>
      <p:sp>
        <p:nvSpPr>
          <p:cNvPr id="27" name="Text 25"/>
          <p:cNvSpPr/>
          <p:nvPr/>
        </p:nvSpPr>
        <p:spPr>
          <a:xfrm>
            <a:off x="9601200" y="17465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0.6996</a:t>
            </a:r>
            <a:endParaRPr lang="en-US" sz="1050" dirty="0"/>
          </a:p>
        </p:txBody>
      </p:sp>
      <p:sp>
        <p:nvSpPr>
          <p:cNvPr id="28" name="Text 26"/>
          <p:cNvSpPr/>
          <p:nvPr/>
        </p:nvSpPr>
        <p:spPr>
          <a:xfrm>
            <a:off x="10652760" y="17465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0.5282</a:t>
            </a:r>
            <a:endParaRPr lang="en-US" sz="1050" dirty="0"/>
          </a:p>
        </p:txBody>
      </p:sp>
      <p:sp>
        <p:nvSpPr>
          <p:cNvPr id="29" name="Shape 27"/>
          <p:cNvSpPr/>
          <p:nvPr/>
        </p:nvSpPr>
        <p:spPr>
          <a:xfrm>
            <a:off x="457200" y="2203704"/>
            <a:ext cx="11137392" cy="420624"/>
          </a:xfrm>
          <a:prstGeom prst="roundRect">
            <a:avLst>
              <a:gd name="adj" fmla="val 8696"/>
            </a:avLst>
          </a:prstGeom>
          <a:solidFill>
            <a:srgbClr val="F0E7DA"/>
          </a:solidFill>
          <a:ln w="7620">
            <a:solidFill>
              <a:srgbClr val="C9B195"/>
            </a:solidFill>
            <a:prstDash val="solid"/>
          </a:ln>
        </p:spPr>
        <p:txBody>
          <a:bodyPr/>
          <a:lstStyle/>
          <a:p>
            <a:endParaRPr lang="en-IN" sz="2400"/>
          </a:p>
        </p:txBody>
      </p:sp>
      <p:sp>
        <p:nvSpPr>
          <p:cNvPr id="30" name="Text 28"/>
          <p:cNvSpPr/>
          <p:nvPr/>
        </p:nvSpPr>
        <p:spPr>
          <a:xfrm>
            <a:off x="566928" y="2203704"/>
            <a:ext cx="1508760" cy="420624"/>
          </a:xfrm>
          <a:prstGeom prst="rect">
            <a:avLst/>
          </a:prstGeom>
          <a:noFill/>
          <a:ln/>
        </p:spPr>
        <p:txBody>
          <a:bodyPr wrap="square" lIns="0" tIns="0" rIns="0" bIns="0" rtlCol="0" anchor="ctr"/>
          <a:lstStyle/>
          <a:p>
            <a:pPr marL="0" indent="0">
              <a:buNone/>
            </a:pPr>
            <a:r>
              <a:rPr lang="en-US" sz="1050" b="1" dirty="0">
                <a:solidFill>
                  <a:srgbClr val="3E3228"/>
                </a:solidFill>
                <a:latin typeface="Calibri" pitchFamily="34" charset="0"/>
                <a:ea typeface="Calibri" pitchFamily="34" charset="-122"/>
                <a:cs typeface="Calibri" pitchFamily="34" charset="-120"/>
              </a:rPr>
              <a:t>Finance</a:t>
            </a:r>
            <a:endParaRPr lang="en-US" sz="1050" dirty="0"/>
          </a:p>
        </p:txBody>
      </p:sp>
      <p:sp>
        <p:nvSpPr>
          <p:cNvPr id="31" name="Text 29"/>
          <p:cNvSpPr/>
          <p:nvPr/>
        </p:nvSpPr>
        <p:spPr>
          <a:xfrm>
            <a:off x="2148840" y="22037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fixed 150w</a:t>
            </a:r>
            <a:endParaRPr lang="en-US" sz="1050" dirty="0"/>
          </a:p>
        </p:txBody>
      </p:sp>
      <p:sp>
        <p:nvSpPr>
          <p:cNvPr id="32" name="Text 30"/>
          <p:cNvSpPr/>
          <p:nvPr/>
        </p:nvSpPr>
        <p:spPr>
          <a:xfrm>
            <a:off x="3246120" y="22037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FinBERT</a:t>
            </a:r>
            <a:endParaRPr lang="en-US" sz="1050" dirty="0"/>
          </a:p>
        </p:txBody>
      </p:sp>
      <p:sp>
        <p:nvSpPr>
          <p:cNvPr id="33" name="Text 31"/>
          <p:cNvSpPr/>
          <p:nvPr/>
        </p:nvSpPr>
        <p:spPr>
          <a:xfrm>
            <a:off x="4343400" y="2203704"/>
            <a:ext cx="86868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hybrid</a:t>
            </a:r>
            <a:endParaRPr lang="en-US" sz="1050" dirty="0"/>
          </a:p>
        </p:txBody>
      </p:sp>
      <p:sp>
        <p:nvSpPr>
          <p:cNvPr id="34" name="Text 32"/>
          <p:cNvSpPr/>
          <p:nvPr/>
        </p:nvSpPr>
        <p:spPr>
          <a:xfrm>
            <a:off x="5257800" y="2203704"/>
            <a:ext cx="12344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none · forward</a:t>
            </a:r>
            <a:endParaRPr lang="en-US" sz="1050" dirty="0"/>
          </a:p>
        </p:txBody>
      </p:sp>
      <p:sp>
        <p:nvSpPr>
          <p:cNvPr id="35" name="Text 33"/>
          <p:cNvSpPr/>
          <p:nvPr/>
        </p:nvSpPr>
        <p:spPr>
          <a:xfrm>
            <a:off x="6537960" y="2203704"/>
            <a:ext cx="91440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0.3275</a:t>
            </a:r>
            <a:endParaRPr lang="en-US" sz="1050" dirty="0"/>
          </a:p>
        </p:txBody>
      </p:sp>
      <p:sp>
        <p:nvSpPr>
          <p:cNvPr id="36" name="Text 34"/>
          <p:cNvSpPr/>
          <p:nvPr/>
        </p:nvSpPr>
        <p:spPr>
          <a:xfrm>
            <a:off x="7498080" y="22037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0.2815</a:t>
            </a:r>
            <a:endParaRPr lang="en-US" sz="1050" dirty="0"/>
          </a:p>
        </p:txBody>
      </p:sp>
      <p:sp>
        <p:nvSpPr>
          <p:cNvPr id="37" name="Text 35"/>
          <p:cNvSpPr/>
          <p:nvPr/>
        </p:nvSpPr>
        <p:spPr>
          <a:xfrm>
            <a:off x="8549640" y="22037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0.4496</a:t>
            </a:r>
            <a:endParaRPr lang="en-US" sz="1050" dirty="0"/>
          </a:p>
        </p:txBody>
      </p:sp>
      <p:sp>
        <p:nvSpPr>
          <p:cNvPr id="38" name="Text 36"/>
          <p:cNvSpPr/>
          <p:nvPr/>
        </p:nvSpPr>
        <p:spPr>
          <a:xfrm>
            <a:off x="9601200" y="22037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0.8254</a:t>
            </a:r>
            <a:endParaRPr lang="en-US" sz="1050" dirty="0"/>
          </a:p>
        </p:txBody>
      </p:sp>
      <p:sp>
        <p:nvSpPr>
          <p:cNvPr id="39" name="Text 37"/>
          <p:cNvSpPr/>
          <p:nvPr/>
        </p:nvSpPr>
        <p:spPr>
          <a:xfrm>
            <a:off x="10652760" y="22037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0.4480</a:t>
            </a:r>
            <a:endParaRPr lang="en-US" sz="1050" dirty="0"/>
          </a:p>
        </p:txBody>
      </p:sp>
      <p:sp>
        <p:nvSpPr>
          <p:cNvPr id="40" name="Shape 38"/>
          <p:cNvSpPr/>
          <p:nvPr/>
        </p:nvSpPr>
        <p:spPr>
          <a:xfrm>
            <a:off x="457200" y="2660904"/>
            <a:ext cx="11137392" cy="420624"/>
          </a:xfrm>
          <a:prstGeom prst="roundRect">
            <a:avLst>
              <a:gd name="adj" fmla="val 8696"/>
            </a:avLst>
          </a:prstGeom>
          <a:solidFill>
            <a:srgbClr val="FFFFFF"/>
          </a:solidFill>
          <a:ln w="7620">
            <a:solidFill>
              <a:srgbClr val="C9B195"/>
            </a:solidFill>
            <a:prstDash val="solid"/>
          </a:ln>
        </p:spPr>
        <p:txBody>
          <a:bodyPr/>
          <a:lstStyle/>
          <a:p>
            <a:endParaRPr lang="en-IN" sz="2400"/>
          </a:p>
        </p:txBody>
      </p:sp>
      <p:sp>
        <p:nvSpPr>
          <p:cNvPr id="41" name="Text 39"/>
          <p:cNvSpPr/>
          <p:nvPr/>
        </p:nvSpPr>
        <p:spPr>
          <a:xfrm>
            <a:off x="566928" y="2660904"/>
            <a:ext cx="1508760" cy="420624"/>
          </a:xfrm>
          <a:prstGeom prst="rect">
            <a:avLst/>
          </a:prstGeom>
          <a:noFill/>
          <a:ln/>
        </p:spPr>
        <p:txBody>
          <a:bodyPr wrap="square" lIns="0" tIns="0" rIns="0" bIns="0" rtlCol="0" anchor="ctr"/>
          <a:lstStyle/>
          <a:p>
            <a:pPr marL="0" indent="0">
              <a:buNone/>
            </a:pPr>
            <a:r>
              <a:rPr lang="en-US" sz="1050" b="1" dirty="0">
                <a:solidFill>
                  <a:srgbClr val="3E3228"/>
                </a:solidFill>
                <a:latin typeface="Calibri" pitchFamily="34" charset="0"/>
                <a:ea typeface="Calibri" pitchFamily="34" charset="-122"/>
                <a:cs typeface="Calibri" pitchFamily="34" charset="-120"/>
              </a:rPr>
              <a:t>General Knowledge</a:t>
            </a:r>
            <a:endParaRPr lang="en-US" sz="1050" dirty="0"/>
          </a:p>
        </p:txBody>
      </p:sp>
      <p:sp>
        <p:nvSpPr>
          <p:cNvPr id="42" name="Text 40"/>
          <p:cNvSpPr/>
          <p:nvPr/>
        </p:nvSpPr>
        <p:spPr>
          <a:xfrm>
            <a:off x="2148840" y="26609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sliding 5/2</a:t>
            </a:r>
            <a:endParaRPr lang="en-US" sz="1050" dirty="0"/>
          </a:p>
        </p:txBody>
      </p:sp>
      <p:sp>
        <p:nvSpPr>
          <p:cNvPr id="43" name="Text 41"/>
          <p:cNvSpPr/>
          <p:nvPr/>
        </p:nvSpPr>
        <p:spPr>
          <a:xfrm>
            <a:off x="3246120" y="26609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e5-large-v2</a:t>
            </a:r>
            <a:endParaRPr lang="en-US" sz="1050" dirty="0"/>
          </a:p>
        </p:txBody>
      </p:sp>
      <p:sp>
        <p:nvSpPr>
          <p:cNvPr id="44" name="Text 42"/>
          <p:cNvSpPr/>
          <p:nvPr/>
        </p:nvSpPr>
        <p:spPr>
          <a:xfrm>
            <a:off x="4343400" y="2660904"/>
            <a:ext cx="86868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hybrid</a:t>
            </a:r>
            <a:endParaRPr lang="en-US" sz="1050" dirty="0"/>
          </a:p>
        </p:txBody>
      </p:sp>
      <p:sp>
        <p:nvSpPr>
          <p:cNvPr id="45" name="Text 43"/>
          <p:cNvSpPr/>
          <p:nvPr/>
        </p:nvSpPr>
        <p:spPr>
          <a:xfrm>
            <a:off x="5257800" y="2660904"/>
            <a:ext cx="12344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none · forward</a:t>
            </a:r>
            <a:endParaRPr lang="en-US" sz="1050" dirty="0"/>
          </a:p>
        </p:txBody>
      </p:sp>
      <p:sp>
        <p:nvSpPr>
          <p:cNvPr id="46" name="Text 44"/>
          <p:cNvSpPr/>
          <p:nvPr/>
        </p:nvSpPr>
        <p:spPr>
          <a:xfrm>
            <a:off x="6537960" y="2660904"/>
            <a:ext cx="91440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0.1085</a:t>
            </a:r>
            <a:endParaRPr lang="en-US" sz="1050" dirty="0"/>
          </a:p>
        </p:txBody>
      </p:sp>
      <p:sp>
        <p:nvSpPr>
          <p:cNvPr id="47" name="Text 45"/>
          <p:cNvSpPr/>
          <p:nvPr/>
        </p:nvSpPr>
        <p:spPr>
          <a:xfrm>
            <a:off x="7498080" y="26609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0.0832</a:t>
            </a:r>
            <a:endParaRPr lang="en-US" sz="1050" dirty="0"/>
          </a:p>
        </p:txBody>
      </p:sp>
      <p:sp>
        <p:nvSpPr>
          <p:cNvPr id="48" name="Text 46"/>
          <p:cNvSpPr/>
          <p:nvPr/>
        </p:nvSpPr>
        <p:spPr>
          <a:xfrm>
            <a:off x="8549640" y="26609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0.3782</a:t>
            </a:r>
            <a:endParaRPr lang="en-US" sz="1050" dirty="0"/>
          </a:p>
        </p:txBody>
      </p:sp>
      <p:sp>
        <p:nvSpPr>
          <p:cNvPr id="49" name="Text 47"/>
          <p:cNvSpPr/>
          <p:nvPr/>
        </p:nvSpPr>
        <p:spPr>
          <a:xfrm>
            <a:off x="9601200" y="26609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0.8773</a:t>
            </a:r>
            <a:endParaRPr lang="en-US" sz="1050" dirty="0"/>
          </a:p>
        </p:txBody>
      </p:sp>
      <p:sp>
        <p:nvSpPr>
          <p:cNvPr id="50" name="Text 48"/>
          <p:cNvSpPr/>
          <p:nvPr/>
        </p:nvSpPr>
        <p:spPr>
          <a:xfrm>
            <a:off x="10652760" y="26609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0.6221</a:t>
            </a:r>
            <a:endParaRPr lang="en-US" sz="1050" dirty="0"/>
          </a:p>
        </p:txBody>
      </p:sp>
      <p:sp>
        <p:nvSpPr>
          <p:cNvPr id="51" name="Shape 49"/>
          <p:cNvSpPr/>
          <p:nvPr/>
        </p:nvSpPr>
        <p:spPr>
          <a:xfrm>
            <a:off x="457200" y="3118104"/>
            <a:ext cx="11137392" cy="420624"/>
          </a:xfrm>
          <a:prstGeom prst="roundRect">
            <a:avLst>
              <a:gd name="adj" fmla="val 8696"/>
            </a:avLst>
          </a:prstGeom>
          <a:solidFill>
            <a:srgbClr val="F0E7DA"/>
          </a:solidFill>
          <a:ln w="7620">
            <a:solidFill>
              <a:srgbClr val="C9B195"/>
            </a:solidFill>
            <a:prstDash val="solid"/>
          </a:ln>
        </p:spPr>
        <p:txBody>
          <a:bodyPr/>
          <a:lstStyle/>
          <a:p>
            <a:endParaRPr lang="en-IN" sz="2400"/>
          </a:p>
        </p:txBody>
      </p:sp>
      <p:sp>
        <p:nvSpPr>
          <p:cNvPr id="52" name="Text 50"/>
          <p:cNvSpPr/>
          <p:nvPr/>
        </p:nvSpPr>
        <p:spPr>
          <a:xfrm>
            <a:off x="566928" y="3118104"/>
            <a:ext cx="1508760" cy="420624"/>
          </a:xfrm>
          <a:prstGeom prst="rect">
            <a:avLst/>
          </a:prstGeom>
          <a:noFill/>
          <a:ln/>
        </p:spPr>
        <p:txBody>
          <a:bodyPr wrap="square" lIns="0" tIns="0" rIns="0" bIns="0" rtlCol="0" anchor="ctr"/>
          <a:lstStyle/>
          <a:p>
            <a:pPr marL="0" indent="0">
              <a:buNone/>
            </a:pPr>
            <a:r>
              <a:rPr lang="en-US" sz="1050" b="1" dirty="0">
                <a:solidFill>
                  <a:srgbClr val="3E3228"/>
                </a:solidFill>
                <a:latin typeface="Calibri" pitchFamily="34" charset="0"/>
                <a:ea typeface="Calibri" pitchFamily="34" charset="-122"/>
                <a:cs typeface="Calibri" pitchFamily="34" charset="-120"/>
              </a:rPr>
              <a:t>Legal</a:t>
            </a:r>
            <a:endParaRPr lang="en-US" sz="1050" dirty="0"/>
          </a:p>
        </p:txBody>
      </p:sp>
      <p:sp>
        <p:nvSpPr>
          <p:cNvPr id="53" name="Text 51"/>
          <p:cNvSpPr/>
          <p:nvPr/>
        </p:nvSpPr>
        <p:spPr>
          <a:xfrm>
            <a:off x="2148840" y="31181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sliding 5/2</a:t>
            </a:r>
            <a:endParaRPr lang="en-US" sz="1050" dirty="0"/>
          </a:p>
        </p:txBody>
      </p:sp>
      <p:sp>
        <p:nvSpPr>
          <p:cNvPr id="54" name="Text 52"/>
          <p:cNvSpPr/>
          <p:nvPr/>
        </p:nvSpPr>
        <p:spPr>
          <a:xfrm>
            <a:off x="3246120" y="31181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legal-BERT</a:t>
            </a:r>
            <a:endParaRPr lang="en-US" sz="1050" dirty="0"/>
          </a:p>
        </p:txBody>
      </p:sp>
      <p:sp>
        <p:nvSpPr>
          <p:cNvPr id="55" name="Text 53"/>
          <p:cNvSpPr/>
          <p:nvPr/>
        </p:nvSpPr>
        <p:spPr>
          <a:xfrm>
            <a:off x="4343400" y="3118104"/>
            <a:ext cx="86868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dense</a:t>
            </a:r>
            <a:endParaRPr lang="en-US" sz="1050" dirty="0"/>
          </a:p>
        </p:txBody>
      </p:sp>
      <p:sp>
        <p:nvSpPr>
          <p:cNvPr id="56" name="Text 54"/>
          <p:cNvSpPr/>
          <p:nvPr/>
        </p:nvSpPr>
        <p:spPr>
          <a:xfrm>
            <a:off x="5257800" y="3118104"/>
            <a:ext cx="12344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none · forward</a:t>
            </a:r>
            <a:endParaRPr lang="en-US" sz="1050" dirty="0"/>
          </a:p>
        </p:txBody>
      </p:sp>
      <p:sp>
        <p:nvSpPr>
          <p:cNvPr id="57" name="Text 55"/>
          <p:cNvSpPr/>
          <p:nvPr/>
        </p:nvSpPr>
        <p:spPr>
          <a:xfrm>
            <a:off x="6537960" y="3118104"/>
            <a:ext cx="91440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0.2651</a:t>
            </a:r>
            <a:endParaRPr lang="en-US" sz="1050" dirty="0"/>
          </a:p>
        </p:txBody>
      </p:sp>
      <p:sp>
        <p:nvSpPr>
          <p:cNvPr id="58" name="Text 56"/>
          <p:cNvSpPr/>
          <p:nvPr/>
        </p:nvSpPr>
        <p:spPr>
          <a:xfrm>
            <a:off x="7498080" y="31181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0.1346</a:t>
            </a:r>
            <a:endParaRPr lang="en-US" sz="1050" dirty="0"/>
          </a:p>
        </p:txBody>
      </p:sp>
      <p:sp>
        <p:nvSpPr>
          <p:cNvPr id="59" name="Text 57"/>
          <p:cNvSpPr/>
          <p:nvPr/>
        </p:nvSpPr>
        <p:spPr>
          <a:xfrm>
            <a:off x="8549640" y="31181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0.6911</a:t>
            </a:r>
            <a:endParaRPr lang="en-US" sz="1050" dirty="0"/>
          </a:p>
        </p:txBody>
      </p:sp>
      <p:sp>
        <p:nvSpPr>
          <p:cNvPr id="60" name="Text 58"/>
          <p:cNvSpPr/>
          <p:nvPr/>
        </p:nvSpPr>
        <p:spPr>
          <a:xfrm>
            <a:off x="9601200" y="31181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0.8825</a:t>
            </a:r>
            <a:endParaRPr lang="en-US" sz="1050" dirty="0"/>
          </a:p>
        </p:txBody>
      </p:sp>
      <p:sp>
        <p:nvSpPr>
          <p:cNvPr id="61" name="Text 59"/>
          <p:cNvSpPr/>
          <p:nvPr/>
        </p:nvSpPr>
        <p:spPr>
          <a:xfrm>
            <a:off x="10652760" y="31181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0.6524</a:t>
            </a:r>
            <a:endParaRPr lang="en-US" sz="1050" dirty="0"/>
          </a:p>
        </p:txBody>
      </p:sp>
      <p:sp>
        <p:nvSpPr>
          <p:cNvPr id="62" name="Shape 60"/>
          <p:cNvSpPr/>
          <p:nvPr/>
        </p:nvSpPr>
        <p:spPr>
          <a:xfrm>
            <a:off x="457200" y="3575304"/>
            <a:ext cx="11137392" cy="420624"/>
          </a:xfrm>
          <a:prstGeom prst="roundRect">
            <a:avLst>
              <a:gd name="adj" fmla="val 8696"/>
            </a:avLst>
          </a:prstGeom>
          <a:solidFill>
            <a:srgbClr val="FFFFFF"/>
          </a:solidFill>
          <a:ln w="7620">
            <a:solidFill>
              <a:srgbClr val="C9B195"/>
            </a:solidFill>
            <a:prstDash val="solid"/>
          </a:ln>
        </p:spPr>
        <p:txBody>
          <a:bodyPr/>
          <a:lstStyle/>
          <a:p>
            <a:endParaRPr lang="en-IN" sz="2400"/>
          </a:p>
        </p:txBody>
      </p:sp>
      <p:sp>
        <p:nvSpPr>
          <p:cNvPr id="63" name="Text 61"/>
          <p:cNvSpPr/>
          <p:nvPr/>
        </p:nvSpPr>
        <p:spPr>
          <a:xfrm>
            <a:off x="566928" y="3575304"/>
            <a:ext cx="1508760" cy="420624"/>
          </a:xfrm>
          <a:prstGeom prst="rect">
            <a:avLst/>
          </a:prstGeom>
          <a:noFill/>
          <a:ln/>
        </p:spPr>
        <p:txBody>
          <a:bodyPr wrap="square" lIns="0" tIns="0" rIns="0" bIns="0" rtlCol="0" anchor="ctr"/>
          <a:lstStyle/>
          <a:p>
            <a:pPr marL="0" indent="0">
              <a:buNone/>
            </a:pPr>
            <a:r>
              <a:rPr lang="en-US" sz="1050" b="1" dirty="0">
                <a:solidFill>
                  <a:srgbClr val="3E3228"/>
                </a:solidFill>
                <a:latin typeface="Calibri" pitchFamily="34" charset="0"/>
                <a:ea typeface="Calibri" pitchFamily="34" charset="-122"/>
                <a:cs typeface="Calibri" pitchFamily="34" charset="-120"/>
              </a:rPr>
              <a:t>Biomedical</a:t>
            </a:r>
            <a:endParaRPr lang="en-US" sz="1050" dirty="0"/>
          </a:p>
        </p:txBody>
      </p:sp>
      <p:sp>
        <p:nvSpPr>
          <p:cNvPr id="64" name="Text 62"/>
          <p:cNvSpPr/>
          <p:nvPr/>
        </p:nvSpPr>
        <p:spPr>
          <a:xfrm>
            <a:off x="2148840" y="35753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whole_doc</a:t>
            </a:r>
            <a:endParaRPr lang="en-US" sz="1050" dirty="0"/>
          </a:p>
        </p:txBody>
      </p:sp>
      <p:sp>
        <p:nvSpPr>
          <p:cNvPr id="65" name="Text 63"/>
          <p:cNvSpPr/>
          <p:nvPr/>
        </p:nvSpPr>
        <p:spPr>
          <a:xfrm>
            <a:off x="3246120" y="35753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S-PubMedBert</a:t>
            </a:r>
            <a:endParaRPr lang="en-US" sz="1050" dirty="0"/>
          </a:p>
        </p:txBody>
      </p:sp>
      <p:sp>
        <p:nvSpPr>
          <p:cNvPr id="66" name="Text 64"/>
          <p:cNvSpPr/>
          <p:nvPr/>
        </p:nvSpPr>
        <p:spPr>
          <a:xfrm>
            <a:off x="4343400" y="3575304"/>
            <a:ext cx="86868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dense</a:t>
            </a:r>
            <a:endParaRPr lang="en-US" sz="1050" dirty="0"/>
          </a:p>
        </p:txBody>
      </p:sp>
      <p:sp>
        <p:nvSpPr>
          <p:cNvPr id="67" name="Text 65"/>
          <p:cNvSpPr/>
          <p:nvPr/>
        </p:nvSpPr>
        <p:spPr>
          <a:xfrm>
            <a:off x="5257800" y="3575304"/>
            <a:ext cx="12344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cross-enc · fwd</a:t>
            </a:r>
            <a:endParaRPr lang="en-US" sz="1050" dirty="0"/>
          </a:p>
        </p:txBody>
      </p:sp>
      <p:sp>
        <p:nvSpPr>
          <p:cNvPr id="68" name="Text 66"/>
          <p:cNvSpPr/>
          <p:nvPr/>
        </p:nvSpPr>
        <p:spPr>
          <a:xfrm>
            <a:off x="6537960" y="3575304"/>
            <a:ext cx="91440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0.2398</a:t>
            </a:r>
            <a:endParaRPr lang="en-US" sz="1050" dirty="0"/>
          </a:p>
        </p:txBody>
      </p:sp>
      <p:sp>
        <p:nvSpPr>
          <p:cNvPr id="69" name="Text 67"/>
          <p:cNvSpPr/>
          <p:nvPr/>
        </p:nvSpPr>
        <p:spPr>
          <a:xfrm>
            <a:off x="7498080" y="35753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0.1932</a:t>
            </a:r>
            <a:endParaRPr lang="en-US" sz="1050" dirty="0"/>
          </a:p>
        </p:txBody>
      </p:sp>
      <p:sp>
        <p:nvSpPr>
          <p:cNvPr id="70" name="Text 68"/>
          <p:cNvSpPr/>
          <p:nvPr/>
        </p:nvSpPr>
        <p:spPr>
          <a:xfrm>
            <a:off x="8549640" y="35753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0.4605</a:t>
            </a:r>
            <a:endParaRPr lang="en-US" sz="1050" dirty="0"/>
          </a:p>
        </p:txBody>
      </p:sp>
      <p:sp>
        <p:nvSpPr>
          <p:cNvPr id="71" name="Text 69"/>
          <p:cNvSpPr/>
          <p:nvPr/>
        </p:nvSpPr>
        <p:spPr>
          <a:xfrm>
            <a:off x="9601200" y="3575304"/>
            <a:ext cx="100584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0.8010</a:t>
            </a:r>
            <a:endParaRPr lang="en-US" sz="1050" dirty="0"/>
          </a:p>
        </p:txBody>
      </p:sp>
      <p:sp>
        <p:nvSpPr>
          <p:cNvPr id="72" name="Text 70"/>
          <p:cNvSpPr/>
          <p:nvPr/>
        </p:nvSpPr>
        <p:spPr>
          <a:xfrm>
            <a:off x="10652760" y="3575304"/>
            <a:ext cx="1051560" cy="420624"/>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0.6277</a:t>
            </a:r>
            <a:endParaRPr lang="en-US" sz="1050" dirty="0"/>
          </a:p>
        </p:txBody>
      </p:sp>
      <p:sp>
        <p:nvSpPr>
          <p:cNvPr id="73" name="Shape 71"/>
          <p:cNvSpPr/>
          <p:nvPr/>
        </p:nvSpPr>
        <p:spPr>
          <a:xfrm>
            <a:off x="457200" y="4160520"/>
            <a:ext cx="5532120" cy="1234440"/>
          </a:xfrm>
          <a:prstGeom prst="roundRect">
            <a:avLst>
              <a:gd name="adj" fmla="val 5926"/>
            </a:avLst>
          </a:prstGeom>
          <a:solidFill>
            <a:srgbClr val="E3EDE0"/>
          </a:solidFill>
          <a:ln w="15240">
            <a:solidFill>
              <a:srgbClr val="A8C0A0"/>
            </a:solidFill>
            <a:prstDash val="solid"/>
          </a:ln>
        </p:spPr>
        <p:txBody>
          <a:bodyPr/>
          <a:lstStyle/>
          <a:p>
            <a:endParaRPr lang="en-IN" sz="2400"/>
          </a:p>
        </p:txBody>
      </p:sp>
      <p:sp>
        <p:nvSpPr>
          <p:cNvPr id="74" name="Text 72"/>
          <p:cNvSpPr/>
          <p:nvPr/>
        </p:nvSpPr>
        <p:spPr>
          <a:xfrm>
            <a:off x="685800" y="4261104"/>
            <a:ext cx="5029200" cy="256032"/>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Reference values for the same examples</a:t>
            </a:r>
            <a:endParaRPr lang="en-US" sz="1600" dirty="0"/>
          </a:p>
        </p:txBody>
      </p:sp>
      <p:sp>
        <p:nvSpPr>
          <p:cNvPr id="75" name="Text 73"/>
          <p:cNvSpPr/>
          <p:nvPr/>
        </p:nvSpPr>
        <p:spPr>
          <a:xfrm>
            <a:off x="685800" y="4535424"/>
            <a:ext cx="5120640" cy="77724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Customer Support 0.605 · Finance 0.920 · General Knowledge 0.915 · Legal 0.905. Our adherence sits close to the reference in three and above it in Customer Support. The Biomedical results file carries no reference column, so no comparison is shown for it.</a:t>
            </a:r>
            <a:endParaRPr lang="en-US" sz="1100" dirty="0"/>
          </a:p>
        </p:txBody>
      </p:sp>
      <p:sp>
        <p:nvSpPr>
          <p:cNvPr id="76" name="Shape 74"/>
          <p:cNvSpPr/>
          <p:nvPr/>
        </p:nvSpPr>
        <p:spPr>
          <a:xfrm>
            <a:off x="6172200" y="4160520"/>
            <a:ext cx="5486400" cy="1234440"/>
          </a:xfrm>
          <a:prstGeom prst="roundRect">
            <a:avLst>
              <a:gd name="adj" fmla="val 5926"/>
            </a:avLst>
          </a:prstGeom>
          <a:solidFill>
            <a:srgbClr val="E3EDE0"/>
          </a:solidFill>
          <a:ln w="15240">
            <a:solidFill>
              <a:srgbClr val="A8C0A0"/>
            </a:solidFill>
            <a:prstDash val="solid"/>
          </a:ln>
        </p:spPr>
        <p:txBody>
          <a:bodyPr/>
          <a:lstStyle/>
          <a:p>
            <a:endParaRPr lang="en-IN" sz="2400"/>
          </a:p>
        </p:txBody>
      </p:sp>
      <p:sp>
        <p:nvSpPr>
          <p:cNvPr id="77" name="Text 75"/>
          <p:cNvSpPr/>
          <p:nvPr/>
        </p:nvSpPr>
        <p:spPr>
          <a:xfrm>
            <a:off x="6400800" y="4261104"/>
            <a:ext cx="5029200" cy="256032"/>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Cleanest measurement conditions</a:t>
            </a:r>
            <a:endParaRPr lang="en-US" sz="1600" dirty="0"/>
          </a:p>
        </p:txBody>
      </p:sp>
      <p:sp>
        <p:nvSpPr>
          <p:cNvPr id="78" name="Text 76"/>
          <p:cNvSpPr/>
          <p:nvPr/>
        </p:nvSpPr>
        <p:spPr>
          <a:xfrm>
            <a:off x="6400800" y="4535424"/>
            <a:ext cx="5029200" cy="77724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Biomedical ran the same 96-cell grid under the same protocol and produced judge coverage of 1.00 on every configuration — the real judge scored every example. None of its numbers is affected by missing judge output.</a:t>
            </a:r>
            <a:endParaRPr lang="en-US" sz="1100" dirty="0"/>
          </a:p>
        </p:txBody>
      </p:sp>
      <p:sp>
        <p:nvSpPr>
          <p:cNvPr id="79" name="Shape 77"/>
          <p:cNvSpPr/>
          <p:nvPr/>
        </p:nvSpPr>
        <p:spPr>
          <a:xfrm>
            <a:off x="457200" y="5532120"/>
            <a:ext cx="11201400" cy="1051560"/>
          </a:xfrm>
          <a:prstGeom prst="roundRect">
            <a:avLst>
              <a:gd name="adj" fmla="val 6957"/>
            </a:avLst>
          </a:prstGeom>
          <a:solidFill>
            <a:srgbClr val="F0E7DA"/>
          </a:solidFill>
          <a:ln w="9525">
            <a:solidFill>
              <a:srgbClr val="C9B195"/>
            </a:solidFill>
            <a:prstDash val="solid"/>
          </a:ln>
        </p:spPr>
        <p:txBody>
          <a:bodyPr/>
          <a:lstStyle/>
          <a:p>
            <a:endParaRPr lang="en-IN" sz="2400"/>
          </a:p>
        </p:txBody>
      </p:sp>
      <p:sp>
        <p:nvSpPr>
          <p:cNvPr id="80" name="Text 78"/>
          <p:cNvSpPr/>
          <p:nvPr/>
        </p:nvSpPr>
        <p:spPr>
          <a:xfrm>
            <a:off x="685800" y="5614416"/>
            <a:ext cx="4572000" cy="256032"/>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Reading the generality question</a:t>
            </a:r>
            <a:endParaRPr lang="en-US" sz="1600" dirty="0"/>
          </a:p>
        </p:txBody>
      </p:sp>
      <p:sp>
        <p:nvSpPr>
          <p:cNvPr id="81" name="Text 79"/>
          <p:cNvSpPr/>
          <p:nvPr/>
        </p:nvSpPr>
        <p:spPr>
          <a:xfrm>
            <a:off x="685800" y="5870448"/>
            <a:ext cx="10744200" cy="65836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Less divergence than we expected. Three of five use a sliding window, three of five use hybrid retrieval, all five use forward ordering, two use a reranker. The embedding model is what really varies — and it varies in the direction each domain suggests: legal-BERT for contracts, FinBERT for financial text, S-PubMedBert for clinical abstracts, e5-large for open-domain questions, a small general model for support notes. A sensible default exists; the embedder and chunk width still need local tuning.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F9F123E0-39F3-376B-9936-D905E313F8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A4751F-5C15-A7A5-3F9C-5458ED69CDC9}"/>
              </a:ext>
            </a:extLst>
          </p:cNvPr>
          <p:cNvSpPr/>
          <p:nvPr/>
        </p:nvSpPr>
        <p:spPr>
          <a:xfrm>
            <a:off x="0" y="0"/>
            <a:ext cx="12188952" cy="1078992"/>
          </a:xfrm>
          <a:prstGeom prst="roundRect">
            <a:avLst/>
          </a:prstGeom>
          <a:solidFill>
            <a:srgbClr val="FFFFFF"/>
          </a:solidFill>
          <a:ln/>
        </p:spPr>
        <p:txBody>
          <a:bodyPr/>
          <a:lstStyle/>
          <a:p>
            <a:endParaRPr lang="en-IN"/>
          </a:p>
        </p:txBody>
      </p:sp>
      <p:sp>
        <p:nvSpPr>
          <p:cNvPr id="3" name="Shape 1">
            <a:extLst>
              <a:ext uri="{FF2B5EF4-FFF2-40B4-BE49-F238E27FC236}">
                <a16:creationId xmlns:a16="http://schemas.microsoft.com/office/drawing/2014/main" id="{C8FE66F0-01C2-C65F-65EA-9EAFD1215C28}"/>
              </a:ext>
            </a:extLst>
          </p:cNvPr>
          <p:cNvSpPr/>
          <p:nvPr/>
        </p:nvSpPr>
        <p:spPr>
          <a:xfrm>
            <a:off x="0" y="1060704"/>
            <a:ext cx="12188952" cy="32004"/>
          </a:xfrm>
          <a:prstGeom prst="rect">
            <a:avLst/>
          </a:prstGeom>
          <a:solidFill>
            <a:srgbClr val="7D9B76"/>
          </a:solidFill>
          <a:ln/>
        </p:spPr>
        <p:txBody>
          <a:bodyPr/>
          <a:lstStyle/>
          <a:p>
            <a:endParaRPr lang="en-IN"/>
          </a:p>
        </p:txBody>
      </p:sp>
      <p:sp>
        <p:nvSpPr>
          <p:cNvPr id="4" name="Text 2">
            <a:extLst>
              <a:ext uri="{FF2B5EF4-FFF2-40B4-BE49-F238E27FC236}">
                <a16:creationId xmlns:a16="http://schemas.microsoft.com/office/drawing/2014/main" id="{2947FA78-7E94-7433-A9D0-F94ABB982D7A}"/>
              </a:ext>
            </a:extLst>
          </p:cNvPr>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Two Campaigns — How We Searched, and Why Twice</a:t>
            </a:r>
            <a:endParaRPr lang="en-US" sz="2400" dirty="0"/>
          </a:p>
        </p:txBody>
      </p:sp>
      <p:sp>
        <p:nvSpPr>
          <p:cNvPr id="5" name="Text 3">
            <a:extLst>
              <a:ext uri="{FF2B5EF4-FFF2-40B4-BE49-F238E27FC236}">
                <a16:creationId xmlns:a16="http://schemas.microsoft.com/office/drawing/2014/main" id="{F754B812-3891-3E95-0E4B-3F6468D83839}"/>
              </a:ext>
            </a:extLst>
          </p:cNvPr>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4.4</a:t>
            </a:r>
            <a:endParaRPr lang="en-US" sz="1000" dirty="0"/>
          </a:p>
        </p:txBody>
      </p:sp>
      <p:sp>
        <p:nvSpPr>
          <p:cNvPr id="6" name="Shape 4">
            <a:extLst>
              <a:ext uri="{FF2B5EF4-FFF2-40B4-BE49-F238E27FC236}">
                <a16:creationId xmlns:a16="http://schemas.microsoft.com/office/drawing/2014/main" id="{949AB5B5-C304-D67C-5469-C62A197E2850}"/>
              </a:ext>
            </a:extLst>
          </p:cNvPr>
          <p:cNvSpPr/>
          <p:nvPr/>
        </p:nvSpPr>
        <p:spPr>
          <a:xfrm>
            <a:off x="548640" y="1083282"/>
            <a:ext cx="11109960" cy="1005840"/>
          </a:xfrm>
          <a:prstGeom prst="roundRect">
            <a:avLst>
              <a:gd name="adj" fmla="val 5932"/>
            </a:avLst>
          </a:prstGeom>
          <a:solidFill>
            <a:srgbClr val="FFFFFF"/>
          </a:solidFill>
          <a:ln w="9525">
            <a:solidFill>
              <a:srgbClr val="C9B195"/>
            </a:solidFill>
            <a:prstDash val="solid"/>
          </a:ln>
        </p:spPr>
        <p:txBody>
          <a:bodyPr/>
          <a:lstStyle/>
          <a:p>
            <a:endParaRPr lang="en-IN" sz="2400"/>
          </a:p>
        </p:txBody>
      </p:sp>
      <p:sp>
        <p:nvSpPr>
          <p:cNvPr id="7" name="Shape 5">
            <a:extLst>
              <a:ext uri="{FF2B5EF4-FFF2-40B4-BE49-F238E27FC236}">
                <a16:creationId xmlns:a16="http://schemas.microsoft.com/office/drawing/2014/main" id="{ACB6D8C7-CE69-6D95-CBB7-6BB626672D4C}"/>
              </a:ext>
            </a:extLst>
          </p:cNvPr>
          <p:cNvSpPr/>
          <p:nvPr/>
        </p:nvSpPr>
        <p:spPr>
          <a:xfrm>
            <a:off x="548640" y="1083282"/>
            <a:ext cx="109728" cy="1005840"/>
          </a:xfrm>
          <a:prstGeom prst="roundRect">
            <a:avLst>
              <a:gd name="adj" fmla="val 33333"/>
            </a:avLst>
          </a:prstGeom>
          <a:solidFill>
            <a:srgbClr val="4A6B4F"/>
          </a:solidFill>
          <a:ln/>
        </p:spPr>
        <p:txBody>
          <a:bodyPr/>
          <a:lstStyle/>
          <a:p>
            <a:endParaRPr lang="en-IN" sz="2400"/>
          </a:p>
        </p:txBody>
      </p:sp>
      <p:sp>
        <p:nvSpPr>
          <p:cNvPr id="8" name="Text 6">
            <a:extLst>
              <a:ext uri="{FF2B5EF4-FFF2-40B4-BE49-F238E27FC236}">
                <a16:creationId xmlns:a16="http://schemas.microsoft.com/office/drawing/2014/main" id="{FF2142E9-45C5-4A16-6F80-3427772023F9}"/>
              </a:ext>
            </a:extLst>
          </p:cNvPr>
          <p:cNvSpPr/>
          <p:nvPr/>
        </p:nvSpPr>
        <p:spPr>
          <a:xfrm>
            <a:off x="822960" y="1193010"/>
            <a:ext cx="2194560" cy="292608"/>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Stage-wise ladder</a:t>
            </a:r>
            <a:endParaRPr lang="en-US" sz="1600" dirty="0"/>
          </a:p>
        </p:txBody>
      </p:sp>
      <p:sp>
        <p:nvSpPr>
          <p:cNvPr id="9" name="Text 7">
            <a:extLst>
              <a:ext uri="{FF2B5EF4-FFF2-40B4-BE49-F238E27FC236}">
                <a16:creationId xmlns:a16="http://schemas.microsoft.com/office/drawing/2014/main" id="{E2F98828-49F6-F8D0-2127-718F06E7118F}"/>
              </a:ext>
            </a:extLst>
          </p:cNvPr>
          <p:cNvSpPr/>
          <p:nvPr/>
        </p:nvSpPr>
        <p:spPr>
          <a:xfrm>
            <a:off x="822960" y="1503906"/>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93 experiments</a:t>
            </a:r>
            <a:endParaRPr lang="en-US" sz="1100" dirty="0"/>
          </a:p>
        </p:txBody>
      </p:sp>
      <p:sp>
        <p:nvSpPr>
          <p:cNvPr id="10" name="Text 8">
            <a:extLst>
              <a:ext uri="{FF2B5EF4-FFF2-40B4-BE49-F238E27FC236}">
                <a16:creationId xmlns:a16="http://schemas.microsoft.com/office/drawing/2014/main" id="{959521CA-BD08-5304-6E7E-10A0644F1256}"/>
              </a:ext>
            </a:extLst>
          </p:cNvPr>
          <p:cNvSpPr/>
          <p:nvPr/>
        </p:nvSpPr>
        <p:spPr>
          <a:xfrm>
            <a:off x="822960" y="1778226"/>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vary one component · keep the winner · carry it forward</a:t>
            </a:r>
            <a:endParaRPr lang="en-US" sz="1050" dirty="0"/>
          </a:p>
        </p:txBody>
      </p:sp>
      <p:sp>
        <p:nvSpPr>
          <p:cNvPr id="11" name="Text 9">
            <a:extLst>
              <a:ext uri="{FF2B5EF4-FFF2-40B4-BE49-F238E27FC236}">
                <a16:creationId xmlns:a16="http://schemas.microsoft.com/office/drawing/2014/main" id="{BC8B897A-4483-E3BF-9141-B2541D570B8C}"/>
              </a:ext>
            </a:extLst>
          </p:cNvPr>
          <p:cNvSpPr/>
          <p:nvPr/>
        </p:nvSpPr>
        <p:spPr>
          <a:xfrm>
            <a:off x="4297680" y="1266162"/>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Fix everything except one component, vary that one, keep whichever level scores best and hold it fixed for the next stage. Visits the SUM of the levels (13 per domain), not the product (96) — which is what made it affordable. Every locked choice traces back to one named experiment.</a:t>
            </a:r>
            <a:endParaRPr lang="en-US" sz="1400" dirty="0"/>
          </a:p>
        </p:txBody>
      </p:sp>
      <p:sp>
        <p:nvSpPr>
          <p:cNvPr id="12" name="Shape 10">
            <a:extLst>
              <a:ext uri="{FF2B5EF4-FFF2-40B4-BE49-F238E27FC236}">
                <a16:creationId xmlns:a16="http://schemas.microsoft.com/office/drawing/2014/main" id="{008629C9-B9B4-0AA9-CA20-C6CC9F07BEC3}"/>
              </a:ext>
            </a:extLst>
          </p:cNvPr>
          <p:cNvSpPr/>
          <p:nvPr/>
        </p:nvSpPr>
        <p:spPr>
          <a:xfrm>
            <a:off x="548640" y="2196983"/>
            <a:ext cx="11109960" cy="1005840"/>
          </a:xfrm>
          <a:prstGeom prst="roundRect">
            <a:avLst>
              <a:gd name="adj" fmla="val 5932"/>
            </a:avLst>
          </a:prstGeom>
          <a:solidFill>
            <a:srgbClr val="F0E7DA"/>
          </a:solidFill>
          <a:ln w="9525">
            <a:solidFill>
              <a:srgbClr val="C9B195"/>
            </a:solidFill>
            <a:prstDash val="solid"/>
          </a:ln>
        </p:spPr>
        <p:txBody>
          <a:bodyPr/>
          <a:lstStyle/>
          <a:p>
            <a:endParaRPr lang="en-IN" sz="2400"/>
          </a:p>
        </p:txBody>
      </p:sp>
      <p:sp>
        <p:nvSpPr>
          <p:cNvPr id="13" name="Shape 11">
            <a:extLst>
              <a:ext uri="{FF2B5EF4-FFF2-40B4-BE49-F238E27FC236}">
                <a16:creationId xmlns:a16="http://schemas.microsoft.com/office/drawing/2014/main" id="{E2FEC25D-D97C-FC6A-3AC4-358D333FA3E2}"/>
              </a:ext>
            </a:extLst>
          </p:cNvPr>
          <p:cNvSpPr/>
          <p:nvPr/>
        </p:nvSpPr>
        <p:spPr>
          <a:xfrm>
            <a:off x="548640" y="2196983"/>
            <a:ext cx="109728" cy="1005840"/>
          </a:xfrm>
          <a:prstGeom prst="roundRect">
            <a:avLst>
              <a:gd name="adj" fmla="val 33333"/>
            </a:avLst>
          </a:prstGeom>
          <a:solidFill>
            <a:srgbClr val="8C6E52"/>
          </a:solidFill>
          <a:ln/>
        </p:spPr>
        <p:txBody>
          <a:bodyPr/>
          <a:lstStyle/>
          <a:p>
            <a:endParaRPr lang="en-IN" sz="2400"/>
          </a:p>
        </p:txBody>
      </p:sp>
      <p:sp>
        <p:nvSpPr>
          <p:cNvPr id="14" name="Text 12">
            <a:extLst>
              <a:ext uri="{FF2B5EF4-FFF2-40B4-BE49-F238E27FC236}">
                <a16:creationId xmlns:a16="http://schemas.microsoft.com/office/drawing/2014/main" id="{E3C787F2-0BC9-7C2B-E62C-91BF9A3CD430}"/>
              </a:ext>
            </a:extLst>
          </p:cNvPr>
          <p:cNvSpPr/>
          <p:nvPr/>
        </p:nvSpPr>
        <p:spPr>
          <a:xfrm>
            <a:off x="822960" y="2306711"/>
            <a:ext cx="2194560" cy="292608"/>
          </a:xfrm>
          <a:prstGeom prst="rect">
            <a:avLst/>
          </a:prstGeom>
          <a:noFill/>
          <a:ln/>
        </p:spPr>
        <p:txBody>
          <a:bodyPr wrap="square" lIns="0" tIns="0" rIns="0" bIns="0" rtlCol="0" anchor="ctr"/>
          <a:lstStyle/>
          <a:p>
            <a:pPr marL="0" indent="0">
              <a:buNone/>
            </a:pPr>
            <a:r>
              <a:rPr lang="en-US" sz="1600" b="1" dirty="0">
                <a:solidFill>
                  <a:srgbClr val="8C6E52"/>
                </a:solidFill>
                <a:latin typeface="Calibri" pitchFamily="34" charset="0"/>
                <a:ea typeface="Calibri" pitchFamily="34" charset="-122"/>
                <a:cs typeface="Calibri" pitchFamily="34" charset="-120"/>
              </a:rPr>
              <a:t>Full factorial grid</a:t>
            </a:r>
            <a:endParaRPr lang="en-US" sz="1600" dirty="0"/>
          </a:p>
        </p:txBody>
      </p:sp>
      <p:sp>
        <p:nvSpPr>
          <p:cNvPr id="15" name="Text 13">
            <a:extLst>
              <a:ext uri="{FF2B5EF4-FFF2-40B4-BE49-F238E27FC236}">
                <a16:creationId xmlns:a16="http://schemas.microsoft.com/office/drawing/2014/main" id="{7AFB09FE-06A0-30D7-59CC-363E55AD78BA}"/>
              </a:ext>
            </a:extLst>
          </p:cNvPr>
          <p:cNvSpPr/>
          <p:nvPr/>
        </p:nvSpPr>
        <p:spPr>
          <a:xfrm>
            <a:off x="822960" y="2617607"/>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96 cells per domain</a:t>
            </a:r>
            <a:endParaRPr lang="en-US" sz="1100" dirty="0"/>
          </a:p>
        </p:txBody>
      </p:sp>
      <p:sp>
        <p:nvSpPr>
          <p:cNvPr id="16" name="Text 14">
            <a:extLst>
              <a:ext uri="{FF2B5EF4-FFF2-40B4-BE49-F238E27FC236}">
                <a16:creationId xmlns:a16="http://schemas.microsoft.com/office/drawing/2014/main" id="{F2530CD7-BCF9-3843-37B5-BACDB6F6635B}"/>
              </a:ext>
            </a:extLst>
          </p:cNvPr>
          <p:cNvSpPr/>
          <p:nvPr/>
        </p:nvSpPr>
        <p:spPr>
          <a:xfrm>
            <a:off x="822960" y="2891927"/>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2 embedders × 4 chunking × 2 retrieval × 2 rerank × 3 order</a:t>
            </a:r>
            <a:endParaRPr lang="en-US" sz="1050" dirty="0"/>
          </a:p>
        </p:txBody>
      </p:sp>
      <p:sp>
        <p:nvSpPr>
          <p:cNvPr id="17" name="Text 15">
            <a:extLst>
              <a:ext uri="{FF2B5EF4-FFF2-40B4-BE49-F238E27FC236}">
                <a16:creationId xmlns:a16="http://schemas.microsoft.com/office/drawing/2014/main" id="{81FCBF6B-0F5A-BA76-7993-BF3F94BA272A}"/>
              </a:ext>
            </a:extLst>
          </p:cNvPr>
          <p:cNvSpPr/>
          <p:nvPr/>
        </p:nvSpPr>
        <p:spPr>
          <a:xfrm>
            <a:off x="4297680" y="2379863"/>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Every combination run. Reports main effects with the other factors marginalised out, so a component's contribution is measured across all configurations that used it rather than in one path through the space. 430 cells cleared the ≥0.80 judge-coverage quarantine; 18 were confirmed at N=200.</a:t>
            </a:r>
            <a:endParaRPr lang="en-US" sz="1400" dirty="0"/>
          </a:p>
        </p:txBody>
      </p:sp>
      <p:sp>
        <p:nvSpPr>
          <p:cNvPr id="18" name="Shape 16">
            <a:extLst>
              <a:ext uri="{FF2B5EF4-FFF2-40B4-BE49-F238E27FC236}">
                <a16:creationId xmlns:a16="http://schemas.microsoft.com/office/drawing/2014/main" id="{565F2773-02F1-9D3D-FFA7-18C291272BEF}"/>
              </a:ext>
            </a:extLst>
          </p:cNvPr>
          <p:cNvSpPr/>
          <p:nvPr/>
        </p:nvSpPr>
        <p:spPr>
          <a:xfrm>
            <a:off x="548640" y="3366670"/>
            <a:ext cx="11109960" cy="1005840"/>
          </a:xfrm>
          <a:prstGeom prst="roundRect">
            <a:avLst>
              <a:gd name="adj" fmla="val 5932"/>
            </a:avLst>
          </a:prstGeom>
          <a:solidFill>
            <a:srgbClr val="FFFFFF"/>
          </a:solidFill>
          <a:ln w="9525">
            <a:solidFill>
              <a:srgbClr val="C9B195"/>
            </a:solidFill>
            <a:prstDash val="solid"/>
          </a:ln>
        </p:spPr>
        <p:txBody>
          <a:bodyPr/>
          <a:lstStyle/>
          <a:p>
            <a:endParaRPr lang="en-IN" sz="2400"/>
          </a:p>
        </p:txBody>
      </p:sp>
      <p:sp>
        <p:nvSpPr>
          <p:cNvPr id="19" name="Shape 17">
            <a:extLst>
              <a:ext uri="{FF2B5EF4-FFF2-40B4-BE49-F238E27FC236}">
                <a16:creationId xmlns:a16="http://schemas.microsoft.com/office/drawing/2014/main" id="{241F98FE-BC17-6A05-6EA4-012A40FDD8E9}"/>
              </a:ext>
            </a:extLst>
          </p:cNvPr>
          <p:cNvSpPr/>
          <p:nvPr/>
        </p:nvSpPr>
        <p:spPr>
          <a:xfrm>
            <a:off x="548640" y="3366670"/>
            <a:ext cx="109728" cy="1005840"/>
          </a:xfrm>
          <a:prstGeom prst="roundRect">
            <a:avLst>
              <a:gd name="adj" fmla="val 33333"/>
            </a:avLst>
          </a:prstGeom>
          <a:solidFill>
            <a:srgbClr val="7D9B76"/>
          </a:solidFill>
          <a:ln/>
        </p:spPr>
        <p:txBody>
          <a:bodyPr/>
          <a:lstStyle/>
          <a:p>
            <a:endParaRPr lang="en-IN" sz="2400"/>
          </a:p>
        </p:txBody>
      </p:sp>
      <p:sp>
        <p:nvSpPr>
          <p:cNvPr id="20" name="Text 18">
            <a:extLst>
              <a:ext uri="{FF2B5EF4-FFF2-40B4-BE49-F238E27FC236}">
                <a16:creationId xmlns:a16="http://schemas.microsoft.com/office/drawing/2014/main" id="{9770FFDE-1733-31BE-E363-0009CFF04DB0}"/>
              </a:ext>
            </a:extLst>
          </p:cNvPr>
          <p:cNvSpPr/>
          <p:nvPr/>
        </p:nvSpPr>
        <p:spPr>
          <a:xfrm>
            <a:off x="822960" y="3476398"/>
            <a:ext cx="2194560" cy="292608"/>
          </a:xfrm>
          <a:prstGeom prst="rect">
            <a:avLst/>
          </a:prstGeom>
          <a:noFill/>
          <a:ln/>
        </p:spPr>
        <p:txBody>
          <a:bodyPr wrap="square" lIns="0" tIns="0" rIns="0" bIns="0" rtlCol="0" anchor="ctr"/>
          <a:lstStyle/>
          <a:p>
            <a:pPr marL="0" indent="0">
              <a:buNone/>
            </a:pPr>
            <a:r>
              <a:rPr lang="en-US" sz="1600" b="1" dirty="0">
                <a:solidFill>
                  <a:srgbClr val="7D9B76"/>
                </a:solidFill>
                <a:latin typeface="Calibri" pitchFamily="34" charset="0"/>
                <a:ea typeface="Calibri" pitchFamily="34" charset="-122"/>
                <a:cs typeface="Calibri" pitchFamily="34" charset="-120"/>
              </a:rPr>
              <a:t>Why we ran both</a:t>
            </a:r>
            <a:endParaRPr lang="en-US" sz="1600" dirty="0"/>
          </a:p>
        </p:txBody>
      </p:sp>
      <p:sp>
        <p:nvSpPr>
          <p:cNvPr id="21" name="Text 19">
            <a:extLst>
              <a:ext uri="{FF2B5EF4-FFF2-40B4-BE49-F238E27FC236}">
                <a16:creationId xmlns:a16="http://schemas.microsoft.com/office/drawing/2014/main" id="{CD6B22E9-33CD-A44B-BC3E-AE6C1DFD907F}"/>
              </a:ext>
            </a:extLst>
          </p:cNvPr>
          <p:cNvSpPr/>
          <p:nvPr/>
        </p:nvSpPr>
        <p:spPr>
          <a:xfrm>
            <a:off x="822960" y="3787294"/>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the instrument, not the search</a:t>
            </a:r>
            <a:endParaRPr lang="en-US" sz="1100" dirty="0"/>
          </a:p>
        </p:txBody>
      </p:sp>
      <p:sp>
        <p:nvSpPr>
          <p:cNvPr id="22" name="Text 20">
            <a:extLst>
              <a:ext uri="{FF2B5EF4-FFF2-40B4-BE49-F238E27FC236}">
                <a16:creationId xmlns:a16="http://schemas.microsoft.com/office/drawing/2014/main" id="{09A8DF6F-BA38-EF11-91E3-340EE93B785E}"/>
              </a:ext>
            </a:extLst>
          </p:cNvPr>
          <p:cNvSpPr/>
          <p:nvPr/>
        </p:nvSpPr>
        <p:spPr>
          <a:xfrm>
            <a:off x="822960" y="4061614"/>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the ladder found the pipeline · the grid tested whether it was entitled to it</a:t>
            </a:r>
            <a:endParaRPr lang="en-US" sz="1050" dirty="0"/>
          </a:p>
        </p:txBody>
      </p:sp>
      <p:sp>
        <p:nvSpPr>
          <p:cNvPr id="23" name="Text 21">
            <a:extLst>
              <a:ext uri="{FF2B5EF4-FFF2-40B4-BE49-F238E27FC236}">
                <a16:creationId xmlns:a16="http://schemas.microsoft.com/office/drawing/2014/main" id="{04A3A3CF-B988-8014-E987-F87BC6BF1752}"/>
              </a:ext>
            </a:extLst>
          </p:cNvPr>
          <p:cNvSpPr/>
          <p:nvPr/>
        </p:nvSpPr>
        <p:spPr>
          <a:xfrm>
            <a:off x="4297680" y="3549550"/>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The ladder varied the generator and judge as part of its search. In Finance its winning run was judged by llama-3.1-8b grading answers written by llama-3.3-70b — a judge weaker than the generator. The grid held the generator fixed at 70b and judged every cell with the larger gpt-oss-120b. The locked configurations come from the grid.</a:t>
            </a:r>
            <a:endParaRPr lang="en-US" sz="1400" dirty="0"/>
          </a:p>
        </p:txBody>
      </p:sp>
      <p:sp>
        <p:nvSpPr>
          <p:cNvPr id="24" name="Shape 22">
            <a:extLst>
              <a:ext uri="{FF2B5EF4-FFF2-40B4-BE49-F238E27FC236}">
                <a16:creationId xmlns:a16="http://schemas.microsoft.com/office/drawing/2014/main" id="{3C7B8421-210D-0798-9A5C-F06DF2E28B09}"/>
              </a:ext>
            </a:extLst>
          </p:cNvPr>
          <p:cNvSpPr/>
          <p:nvPr/>
        </p:nvSpPr>
        <p:spPr>
          <a:xfrm>
            <a:off x="548640" y="4499032"/>
            <a:ext cx="11109960" cy="1005840"/>
          </a:xfrm>
          <a:prstGeom prst="roundRect">
            <a:avLst>
              <a:gd name="adj" fmla="val 5932"/>
            </a:avLst>
          </a:prstGeom>
          <a:solidFill>
            <a:srgbClr val="F0E7DA"/>
          </a:solidFill>
          <a:ln w="9525">
            <a:solidFill>
              <a:srgbClr val="C9B195"/>
            </a:solidFill>
            <a:prstDash val="solid"/>
          </a:ln>
        </p:spPr>
        <p:txBody>
          <a:bodyPr/>
          <a:lstStyle/>
          <a:p>
            <a:endParaRPr lang="en-IN" sz="2400"/>
          </a:p>
        </p:txBody>
      </p:sp>
      <p:sp>
        <p:nvSpPr>
          <p:cNvPr id="25" name="Shape 23">
            <a:extLst>
              <a:ext uri="{FF2B5EF4-FFF2-40B4-BE49-F238E27FC236}">
                <a16:creationId xmlns:a16="http://schemas.microsoft.com/office/drawing/2014/main" id="{E483A1E5-8D11-C85C-5ABC-558B1F8D2B48}"/>
              </a:ext>
            </a:extLst>
          </p:cNvPr>
          <p:cNvSpPr/>
          <p:nvPr/>
        </p:nvSpPr>
        <p:spPr>
          <a:xfrm>
            <a:off x="548640" y="4499032"/>
            <a:ext cx="109728" cy="1005840"/>
          </a:xfrm>
          <a:prstGeom prst="roundRect">
            <a:avLst>
              <a:gd name="adj" fmla="val 33333"/>
            </a:avLst>
          </a:prstGeom>
          <a:solidFill>
            <a:srgbClr val="5C4A38"/>
          </a:solidFill>
          <a:ln/>
        </p:spPr>
        <p:txBody>
          <a:bodyPr/>
          <a:lstStyle/>
          <a:p>
            <a:endParaRPr lang="en-IN" sz="2400"/>
          </a:p>
        </p:txBody>
      </p:sp>
      <p:sp>
        <p:nvSpPr>
          <p:cNvPr id="26" name="Text 24">
            <a:extLst>
              <a:ext uri="{FF2B5EF4-FFF2-40B4-BE49-F238E27FC236}">
                <a16:creationId xmlns:a16="http://schemas.microsoft.com/office/drawing/2014/main" id="{5156B638-B5C0-418D-5539-699403564728}"/>
              </a:ext>
            </a:extLst>
          </p:cNvPr>
          <p:cNvSpPr/>
          <p:nvPr/>
        </p:nvSpPr>
        <p:spPr>
          <a:xfrm>
            <a:off x="822960" y="4608760"/>
            <a:ext cx="2194560" cy="29260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Where they agree</a:t>
            </a:r>
            <a:endParaRPr lang="en-US" sz="1600" dirty="0"/>
          </a:p>
        </p:txBody>
      </p:sp>
      <p:sp>
        <p:nvSpPr>
          <p:cNvPr id="27" name="Text 25">
            <a:extLst>
              <a:ext uri="{FF2B5EF4-FFF2-40B4-BE49-F238E27FC236}">
                <a16:creationId xmlns:a16="http://schemas.microsoft.com/office/drawing/2014/main" id="{9C976F17-E3D7-AC9B-7BDC-E2D37FEA81BA}"/>
              </a:ext>
            </a:extLst>
          </p:cNvPr>
          <p:cNvSpPr/>
          <p:nvPr/>
        </p:nvSpPr>
        <p:spPr>
          <a:xfrm>
            <a:off x="822960" y="4919656"/>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domain encoders</a:t>
            </a:r>
            <a:endParaRPr lang="en-US" sz="1100" dirty="0"/>
          </a:p>
        </p:txBody>
      </p:sp>
      <p:sp>
        <p:nvSpPr>
          <p:cNvPr id="28" name="Text 26">
            <a:extLst>
              <a:ext uri="{FF2B5EF4-FFF2-40B4-BE49-F238E27FC236}">
                <a16:creationId xmlns:a16="http://schemas.microsoft.com/office/drawing/2014/main" id="{6FE7E4AA-50F2-5F96-AB2B-24FE1D1C75CD}"/>
              </a:ext>
            </a:extLst>
          </p:cNvPr>
          <p:cNvSpPr/>
          <p:nvPr/>
        </p:nvSpPr>
        <p:spPr>
          <a:xfrm>
            <a:off x="822960" y="5193976"/>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BioBERT · legal-BERT · FinBERT</a:t>
            </a:r>
            <a:endParaRPr lang="en-US" sz="1050" dirty="0"/>
          </a:p>
        </p:txBody>
      </p:sp>
      <p:sp>
        <p:nvSpPr>
          <p:cNvPr id="29" name="Text 27">
            <a:extLst>
              <a:ext uri="{FF2B5EF4-FFF2-40B4-BE49-F238E27FC236}">
                <a16:creationId xmlns:a16="http://schemas.microsoft.com/office/drawing/2014/main" id="{776AC4F6-E72A-5A93-24EA-74EDA5CF59F8}"/>
              </a:ext>
            </a:extLst>
          </p:cNvPr>
          <p:cNvSpPr/>
          <p:nvPr/>
        </p:nvSpPr>
        <p:spPr>
          <a:xfrm>
            <a:off x="4297680" y="4681912"/>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Neither campaign found a specialist encoder that wins on its own merits when substituted into an otherwise unchanged pipeline. Two independent searches reaching the same negative result is the strongest form this finding could take.</a:t>
            </a:r>
            <a:endParaRPr lang="en-US" sz="1400" dirty="0"/>
          </a:p>
        </p:txBody>
      </p:sp>
      <p:sp>
        <p:nvSpPr>
          <p:cNvPr id="33" name="Shape 16">
            <a:extLst>
              <a:ext uri="{FF2B5EF4-FFF2-40B4-BE49-F238E27FC236}">
                <a16:creationId xmlns:a16="http://schemas.microsoft.com/office/drawing/2014/main" id="{DB8BDEF4-232F-0055-4D86-16E0000C235B}"/>
              </a:ext>
            </a:extLst>
          </p:cNvPr>
          <p:cNvSpPr/>
          <p:nvPr/>
        </p:nvSpPr>
        <p:spPr>
          <a:xfrm>
            <a:off x="561079" y="5693104"/>
            <a:ext cx="11109960" cy="1005840"/>
          </a:xfrm>
          <a:prstGeom prst="roundRect">
            <a:avLst>
              <a:gd name="adj" fmla="val 5932"/>
            </a:avLst>
          </a:prstGeom>
          <a:solidFill>
            <a:srgbClr val="FFFFFF"/>
          </a:solidFill>
          <a:ln w="9525">
            <a:solidFill>
              <a:srgbClr val="C9B195"/>
            </a:solidFill>
            <a:prstDash val="solid"/>
          </a:ln>
        </p:spPr>
        <p:txBody>
          <a:bodyPr/>
          <a:lstStyle/>
          <a:p>
            <a:endParaRPr lang="en-IN" sz="2400"/>
          </a:p>
        </p:txBody>
      </p:sp>
      <p:sp>
        <p:nvSpPr>
          <p:cNvPr id="35" name="Shape 17">
            <a:extLst>
              <a:ext uri="{FF2B5EF4-FFF2-40B4-BE49-F238E27FC236}">
                <a16:creationId xmlns:a16="http://schemas.microsoft.com/office/drawing/2014/main" id="{5E154193-A285-FB2F-E814-F6BBFC916C19}"/>
              </a:ext>
            </a:extLst>
          </p:cNvPr>
          <p:cNvSpPr/>
          <p:nvPr/>
        </p:nvSpPr>
        <p:spPr>
          <a:xfrm>
            <a:off x="561079" y="5693104"/>
            <a:ext cx="109728" cy="1005840"/>
          </a:xfrm>
          <a:prstGeom prst="roundRect">
            <a:avLst>
              <a:gd name="adj" fmla="val 33333"/>
            </a:avLst>
          </a:prstGeom>
          <a:solidFill>
            <a:srgbClr val="7D9B76"/>
          </a:solidFill>
          <a:ln/>
        </p:spPr>
        <p:txBody>
          <a:bodyPr/>
          <a:lstStyle/>
          <a:p>
            <a:endParaRPr lang="en-IN" sz="2400"/>
          </a:p>
        </p:txBody>
      </p:sp>
      <p:sp>
        <p:nvSpPr>
          <p:cNvPr id="37" name="Text 18">
            <a:extLst>
              <a:ext uri="{FF2B5EF4-FFF2-40B4-BE49-F238E27FC236}">
                <a16:creationId xmlns:a16="http://schemas.microsoft.com/office/drawing/2014/main" id="{0DBC7E61-7599-A3B2-DF08-FD4BEAB43BFC}"/>
              </a:ext>
            </a:extLst>
          </p:cNvPr>
          <p:cNvSpPr/>
          <p:nvPr/>
        </p:nvSpPr>
        <p:spPr>
          <a:xfrm>
            <a:off x="835399" y="5802832"/>
            <a:ext cx="2194560" cy="292608"/>
          </a:xfrm>
          <a:prstGeom prst="rect">
            <a:avLst/>
          </a:prstGeom>
          <a:noFill/>
          <a:ln/>
        </p:spPr>
        <p:txBody>
          <a:bodyPr wrap="square" lIns="0" tIns="0" rIns="0" bIns="0" rtlCol="0" anchor="ctr"/>
          <a:lstStyle/>
          <a:p>
            <a:pPr marL="0" indent="0">
              <a:buNone/>
            </a:pPr>
            <a:r>
              <a:rPr lang="en-US" sz="1600" b="1" dirty="0">
                <a:solidFill>
                  <a:srgbClr val="7D9B76"/>
                </a:solidFill>
                <a:latin typeface="Calibri" pitchFamily="34" charset="0"/>
                <a:ea typeface="Calibri" pitchFamily="34" charset="-122"/>
                <a:cs typeface="Calibri" pitchFamily="34" charset="-120"/>
              </a:rPr>
              <a:t>Where they disagree</a:t>
            </a:r>
            <a:endParaRPr lang="en-US" sz="1600" dirty="0"/>
          </a:p>
        </p:txBody>
      </p:sp>
      <p:sp>
        <p:nvSpPr>
          <p:cNvPr id="39" name="Text 19">
            <a:extLst>
              <a:ext uri="{FF2B5EF4-FFF2-40B4-BE49-F238E27FC236}">
                <a16:creationId xmlns:a16="http://schemas.microsoft.com/office/drawing/2014/main" id="{679574BC-3AA5-7231-BA90-17D32D607F94}"/>
              </a:ext>
            </a:extLst>
          </p:cNvPr>
          <p:cNvSpPr/>
          <p:nvPr/>
        </p:nvSpPr>
        <p:spPr>
          <a:xfrm>
            <a:off x="835399" y="6113728"/>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interaction effects</a:t>
            </a:r>
            <a:endParaRPr lang="en-US" sz="1100" dirty="0"/>
          </a:p>
        </p:txBody>
      </p:sp>
      <p:sp>
        <p:nvSpPr>
          <p:cNvPr id="41" name="Text 20">
            <a:extLst>
              <a:ext uri="{FF2B5EF4-FFF2-40B4-BE49-F238E27FC236}">
                <a16:creationId xmlns:a16="http://schemas.microsoft.com/office/drawing/2014/main" id="{5DDAE76C-26BE-F878-F868-BE8673CE85E2}"/>
              </a:ext>
            </a:extLst>
          </p:cNvPr>
          <p:cNvSpPr/>
          <p:nvPr/>
        </p:nvSpPr>
        <p:spPr>
          <a:xfrm>
            <a:off x="835399" y="6388048"/>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Finance EXP-013 · CS-EXP-023</a:t>
            </a:r>
            <a:endParaRPr lang="en-US" sz="1050" dirty="0"/>
          </a:p>
        </p:txBody>
      </p:sp>
      <p:sp>
        <p:nvSpPr>
          <p:cNvPr id="43" name="Text 21">
            <a:extLst>
              <a:ext uri="{FF2B5EF4-FFF2-40B4-BE49-F238E27FC236}">
                <a16:creationId xmlns:a16="http://schemas.microsoft.com/office/drawing/2014/main" id="{7778DCED-21B3-F4B2-0145-70F410773E4C}"/>
              </a:ext>
            </a:extLst>
          </p:cNvPr>
          <p:cNvSpPr/>
          <p:nvPr/>
        </p:nvSpPr>
        <p:spPr>
          <a:xfrm>
            <a:off x="4310119" y="5875984"/>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Only where components win in combination — exactly where a greedy ladder is blind, because having fixed a component at stage one it can never revisit it. Three ladder winners post a HIGHER AUCROC than the grid's; that reflects the weaker judge and lower coverage, not a better pipeline.</a:t>
            </a:r>
            <a:endParaRPr lang="en-US" sz="1400" dirty="0"/>
          </a:p>
        </p:txBody>
      </p:sp>
    </p:spTree>
    <p:extLst>
      <p:ext uri="{BB962C8B-B14F-4D97-AF65-F5344CB8AC3E}">
        <p14:creationId xmlns:p14="http://schemas.microsoft.com/office/powerpoint/2010/main" val="406402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Comparison</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In two domains the leading configurations split the metrics. Picking the highest AUCROC would have given a different answer.</a:t>
            </a:r>
            <a:endParaRPr lang="en-US" sz="1250" dirty="0"/>
          </a:p>
        </p:txBody>
      </p:sp>
      <p:sp>
        <p:nvSpPr>
          <p:cNvPr id="79" name="Shape 3">
            <a:extLst>
              <a:ext uri="{FF2B5EF4-FFF2-40B4-BE49-F238E27FC236}">
                <a16:creationId xmlns:a16="http://schemas.microsoft.com/office/drawing/2014/main" id="{5BC3B651-5739-2E75-2BDA-04FDA50230B7}"/>
              </a:ext>
            </a:extLst>
          </p:cNvPr>
          <p:cNvSpPr/>
          <p:nvPr/>
        </p:nvSpPr>
        <p:spPr>
          <a:xfrm>
            <a:off x="457200" y="1207008"/>
            <a:ext cx="5532120" cy="2176272"/>
          </a:xfrm>
          <a:prstGeom prst="roundRect">
            <a:avLst>
              <a:gd name="adj" fmla="val 2521"/>
            </a:avLst>
          </a:prstGeom>
          <a:solidFill>
            <a:srgbClr val="FAF4ED"/>
          </a:solidFill>
          <a:ln w="12700">
            <a:solidFill>
              <a:srgbClr val="E0D0BC"/>
            </a:solidFill>
            <a:prstDash val="solid"/>
          </a:ln>
        </p:spPr>
        <p:txBody>
          <a:bodyPr/>
          <a:lstStyle/>
          <a:p>
            <a:endParaRPr lang="en-IN"/>
          </a:p>
        </p:txBody>
      </p:sp>
      <p:sp>
        <p:nvSpPr>
          <p:cNvPr id="81" name="Shape 4">
            <a:extLst>
              <a:ext uri="{FF2B5EF4-FFF2-40B4-BE49-F238E27FC236}">
                <a16:creationId xmlns:a16="http://schemas.microsoft.com/office/drawing/2014/main" id="{A543F2C4-5A63-61E8-9C6E-76466418A61B}"/>
              </a:ext>
            </a:extLst>
          </p:cNvPr>
          <p:cNvSpPr/>
          <p:nvPr/>
        </p:nvSpPr>
        <p:spPr>
          <a:xfrm>
            <a:off x="658368" y="1362456"/>
            <a:ext cx="274320" cy="274320"/>
          </a:xfrm>
          <a:prstGeom prst="ellipse">
            <a:avLst/>
          </a:prstGeom>
          <a:solidFill>
            <a:srgbClr val="6B4423"/>
          </a:solidFill>
          <a:ln/>
        </p:spPr>
        <p:txBody>
          <a:bodyPr/>
          <a:lstStyle/>
          <a:p>
            <a:endParaRPr lang="en-IN"/>
          </a:p>
        </p:txBody>
      </p:sp>
      <p:sp>
        <p:nvSpPr>
          <p:cNvPr id="83" name="Text 5">
            <a:extLst>
              <a:ext uri="{FF2B5EF4-FFF2-40B4-BE49-F238E27FC236}">
                <a16:creationId xmlns:a16="http://schemas.microsoft.com/office/drawing/2014/main" id="{A9D7F3E0-593F-1D3F-9D0F-064E96E6486A}"/>
              </a:ext>
            </a:extLst>
          </p:cNvPr>
          <p:cNvSpPr/>
          <p:nvPr/>
        </p:nvSpPr>
        <p:spPr>
          <a:xfrm>
            <a:off x="658368" y="13624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85" name="Text 6">
            <a:extLst>
              <a:ext uri="{FF2B5EF4-FFF2-40B4-BE49-F238E27FC236}">
                <a16:creationId xmlns:a16="http://schemas.microsoft.com/office/drawing/2014/main" id="{6208D5BD-FA15-A80D-2121-6A4ED6AA0F2E}"/>
              </a:ext>
            </a:extLst>
          </p:cNvPr>
          <p:cNvSpPr/>
          <p:nvPr/>
        </p:nvSpPr>
        <p:spPr>
          <a:xfrm>
            <a:off x="1005840" y="1353312"/>
            <a:ext cx="3017520" cy="292608"/>
          </a:xfrm>
          <a:prstGeom prst="rect">
            <a:avLst/>
          </a:prstGeom>
          <a:noFill/>
          <a:ln/>
        </p:spPr>
        <p:txBody>
          <a:bodyPr wrap="square" lIns="0" tIns="0" rIns="0" bIns="0" rtlCol="0" anchor="ctr"/>
          <a:lstStyle/>
          <a:p>
            <a:pPr marL="0" indent="0">
              <a:buNone/>
            </a:pPr>
            <a:r>
              <a:rPr lang="en-US" sz="1350" b="1" kern="0" spc="60" dirty="0">
                <a:solidFill>
                  <a:srgbClr val="6B4423"/>
                </a:solidFill>
                <a:latin typeface="Calibri" pitchFamily="34" charset="0"/>
                <a:ea typeface="Calibri" pitchFamily="34" charset="-122"/>
                <a:cs typeface="Calibri" pitchFamily="34" charset="-120"/>
              </a:rPr>
              <a:t>GREEDY  ·  stage-wise ladder</a:t>
            </a:r>
            <a:endParaRPr lang="en-US" sz="1350" dirty="0"/>
          </a:p>
        </p:txBody>
      </p:sp>
      <p:sp>
        <p:nvSpPr>
          <p:cNvPr id="87" name="Text 7">
            <a:extLst>
              <a:ext uri="{FF2B5EF4-FFF2-40B4-BE49-F238E27FC236}">
                <a16:creationId xmlns:a16="http://schemas.microsoft.com/office/drawing/2014/main" id="{08B084B9-463E-BF71-10BD-E14C0AA4A33F}"/>
              </a:ext>
            </a:extLst>
          </p:cNvPr>
          <p:cNvSpPr/>
          <p:nvPr/>
        </p:nvSpPr>
        <p:spPr>
          <a:xfrm>
            <a:off x="4087368" y="1353312"/>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EXP-020</a:t>
            </a:r>
            <a:endParaRPr lang="en-US" sz="1300" dirty="0"/>
          </a:p>
        </p:txBody>
      </p:sp>
      <p:sp>
        <p:nvSpPr>
          <p:cNvPr id="89" name="Text 8">
            <a:extLst>
              <a:ext uri="{FF2B5EF4-FFF2-40B4-BE49-F238E27FC236}">
                <a16:creationId xmlns:a16="http://schemas.microsoft.com/office/drawing/2014/main" id="{B21C0C5C-F16E-07ED-80CA-82CE29290C6B}"/>
              </a:ext>
            </a:extLst>
          </p:cNvPr>
          <p:cNvSpPr/>
          <p:nvPr/>
        </p:nvSpPr>
        <p:spPr>
          <a:xfrm>
            <a:off x="685800" y="164592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91" name="Text 9">
            <a:extLst>
              <a:ext uri="{FF2B5EF4-FFF2-40B4-BE49-F238E27FC236}">
                <a16:creationId xmlns:a16="http://schemas.microsoft.com/office/drawing/2014/main" id="{59C8E52D-850A-8322-419C-0EFE35B5E206}"/>
              </a:ext>
            </a:extLst>
          </p:cNvPr>
          <p:cNvSpPr/>
          <p:nvPr/>
        </p:nvSpPr>
        <p:spPr>
          <a:xfrm>
            <a:off x="1874520" y="164592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Fixed-200 words</a:t>
            </a:r>
            <a:endParaRPr lang="en-US" sz="1300" dirty="0"/>
          </a:p>
        </p:txBody>
      </p:sp>
      <p:sp>
        <p:nvSpPr>
          <p:cNvPr id="93" name="Text 10">
            <a:extLst>
              <a:ext uri="{FF2B5EF4-FFF2-40B4-BE49-F238E27FC236}">
                <a16:creationId xmlns:a16="http://schemas.microsoft.com/office/drawing/2014/main" id="{01686DB8-379A-A584-7FF1-F576C0BD9BA0}"/>
              </a:ext>
            </a:extLst>
          </p:cNvPr>
          <p:cNvSpPr/>
          <p:nvPr/>
        </p:nvSpPr>
        <p:spPr>
          <a:xfrm>
            <a:off x="685800" y="184251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95" name="Text 11">
            <a:extLst>
              <a:ext uri="{FF2B5EF4-FFF2-40B4-BE49-F238E27FC236}">
                <a16:creationId xmlns:a16="http://schemas.microsoft.com/office/drawing/2014/main" id="{47042987-65B0-E333-63CF-74376C57297A}"/>
              </a:ext>
            </a:extLst>
          </p:cNvPr>
          <p:cNvSpPr/>
          <p:nvPr/>
        </p:nvSpPr>
        <p:spPr>
          <a:xfrm>
            <a:off x="1874520" y="184251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S-PubMedBERT-MS-MARCO</a:t>
            </a:r>
            <a:endParaRPr lang="en-US" sz="1300" dirty="0"/>
          </a:p>
        </p:txBody>
      </p:sp>
      <p:sp>
        <p:nvSpPr>
          <p:cNvPr id="97" name="Text 12">
            <a:extLst>
              <a:ext uri="{FF2B5EF4-FFF2-40B4-BE49-F238E27FC236}">
                <a16:creationId xmlns:a16="http://schemas.microsoft.com/office/drawing/2014/main" id="{3CA0742A-B950-9225-90C5-0415CC0EB496}"/>
              </a:ext>
            </a:extLst>
          </p:cNvPr>
          <p:cNvSpPr/>
          <p:nvPr/>
        </p:nvSpPr>
        <p:spPr>
          <a:xfrm>
            <a:off x="685800" y="203911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99" name="Text 13">
            <a:extLst>
              <a:ext uri="{FF2B5EF4-FFF2-40B4-BE49-F238E27FC236}">
                <a16:creationId xmlns:a16="http://schemas.microsoft.com/office/drawing/2014/main" id="{02403123-7C22-70D7-1DBE-68080150C787}"/>
              </a:ext>
            </a:extLst>
          </p:cNvPr>
          <p:cNvSpPr/>
          <p:nvPr/>
        </p:nvSpPr>
        <p:spPr>
          <a:xfrm>
            <a:off x="1874520" y="2039112"/>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FAISS dense, k=4</a:t>
            </a:r>
            <a:endParaRPr lang="en-US" sz="1300" dirty="0"/>
          </a:p>
        </p:txBody>
      </p:sp>
      <p:sp>
        <p:nvSpPr>
          <p:cNvPr id="101" name="Text 14">
            <a:extLst>
              <a:ext uri="{FF2B5EF4-FFF2-40B4-BE49-F238E27FC236}">
                <a16:creationId xmlns:a16="http://schemas.microsoft.com/office/drawing/2014/main" id="{7EB89971-D1E8-B3F7-C4BD-C4BDE621A55F}"/>
              </a:ext>
            </a:extLst>
          </p:cNvPr>
          <p:cNvSpPr/>
          <p:nvPr/>
        </p:nvSpPr>
        <p:spPr>
          <a:xfrm>
            <a:off x="685800" y="223570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103" name="Text 15">
            <a:extLst>
              <a:ext uri="{FF2B5EF4-FFF2-40B4-BE49-F238E27FC236}">
                <a16:creationId xmlns:a16="http://schemas.microsoft.com/office/drawing/2014/main" id="{FB29FCA2-C358-214E-B19C-6891547F7241}"/>
              </a:ext>
            </a:extLst>
          </p:cNvPr>
          <p:cNvSpPr/>
          <p:nvPr/>
        </p:nvSpPr>
        <p:spPr>
          <a:xfrm>
            <a:off x="1874520" y="223570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Cross-encoder + Sides</a:t>
            </a:r>
            <a:endParaRPr lang="en-US" sz="1300" dirty="0"/>
          </a:p>
        </p:txBody>
      </p:sp>
      <p:sp>
        <p:nvSpPr>
          <p:cNvPr id="105" name="Text 16">
            <a:extLst>
              <a:ext uri="{FF2B5EF4-FFF2-40B4-BE49-F238E27FC236}">
                <a16:creationId xmlns:a16="http://schemas.microsoft.com/office/drawing/2014/main" id="{55E4B6A5-F156-9DDE-8CCB-16B92851313E}"/>
              </a:ext>
            </a:extLst>
          </p:cNvPr>
          <p:cNvSpPr/>
          <p:nvPr/>
        </p:nvSpPr>
        <p:spPr>
          <a:xfrm>
            <a:off x="685800" y="243230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107" name="Text 17">
            <a:extLst>
              <a:ext uri="{FF2B5EF4-FFF2-40B4-BE49-F238E27FC236}">
                <a16:creationId xmlns:a16="http://schemas.microsoft.com/office/drawing/2014/main" id="{3D6D43EF-575F-FCC7-355C-D763EEE558BC}"/>
              </a:ext>
            </a:extLst>
          </p:cNvPr>
          <p:cNvSpPr/>
          <p:nvPr/>
        </p:nvSpPr>
        <p:spPr>
          <a:xfrm>
            <a:off x="1874520" y="2432304"/>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109" name="Text 18">
            <a:extLst>
              <a:ext uri="{FF2B5EF4-FFF2-40B4-BE49-F238E27FC236}">
                <a16:creationId xmlns:a16="http://schemas.microsoft.com/office/drawing/2014/main" id="{BB0574F1-5302-371A-CCCF-5F0C17F7AAAD}"/>
              </a:ext>
            </a:extLst>
          </p:cNvPr>
          <p:cNvSpPr/>
          <p:nvPr/>
        </p:nvSpPr>
        <p:spPr>
          <a:xfrm>
            <a:off x="685800" y="262890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111" name="Text 19">
            <a:extLst>
              <a:ext uri="{FF2B5EF4-FFF2-40B4-BE49-F238E27FC236}">
                <a16:creationId xmlns:a16="http://schemas.microsoft.com/office/drawing/2014/main" id="{9DA9F7EE-F7F7-D3A0-1A0D-14F67D421528}"/>
              </a:ext>
            </a:extLst>
          </p:cNvPr>
          <p:cNvSpPr/>
          <p:nvPr/>
        </p:nvSpPr>
        <p:spPr>
          <a:xfrm>
            <a:off x="1874520" y="2628900"/>
            <a:ext cx="3886200" cy="187452"/>
          </a:xfrm>
          <a:prstGeom prst="rect">
            <a:avLst/>
          </a:prstGeom>
          <a:noFill/>
          <a:ln/>
        </p:spPr>
        <p:txBody>
          <a:bodyPr wrap="square" lIns="0" tIns="0" rIns="0" bIns="0" rtlCol="0" anchor="ctr"/>
          <a:lstStyle/>
          <a:p>
            <a:pPr marL="0" indent="0">
              <a:buNone/>
            </a:pPr>
            <a:r>
              <a:rPr lang="en-US" sz="1300" b="1" dirty="0">
                <a:solidFill>
                  <a:srgbClr val="6B4423"/>
                </a:solidFill>
                <a:latin typeface="Calibri" pitchFamily="34" charset="0"/>
                <a:ea typeface="Calibri" pitchFamily="34" charset="-122"/>
                <a:cs typeface="Calibri" pitchFamily="34" charset="-120"/>
              </a:rPr>
              <a:t>llama-3.3-70b</a:t>
            </a:r>
            <a:endParaRPr lang="en-US" sz="1300" dirty="0"/>
          </a:p>
        </p:txBody>
      </p:sp>
      <p:sp>
        <p:nvSpPr>
          <p:cNvPr id="113" name="Shape 20">
            <a:extLst>
              <a:ext uri="{FF2B5EF4-FFF2-40B4-BE49-F238E27FC236}">
                <a16:creationId xmlns:a16="http://schemas.microsoft.com/office/drawing/2014/main" id="{F4E3A70B-8D24-139C-1A49-9D0CCDBAFE8C}"/>
              </a:ext>
            </a:extLst>
          </p:cNvPr>
          <p:cNvSpPr/>
          <p:nvPr/>
        </p:nvSpPr>
        <p:spPr>
          <a:xfrm>
            <a:off x="658368" y="2852928"/>
            <a:ext cx="5129784" cy="475488"/>
          </a:xfrm>
          <a:prstGeom prst="roundRect">
            <a:avLst>
              <a:gd name="adj" fmla="val 7692"/>
            </a:avLst>
          </a:prstGeom>
          <a:solidFill>
            <a:srgbClr val="FFFFFF"/>
          </a:solidFill>
          <a:ln w="12700">
            <a:solidFill>
              <a:srgbClr val="E0D0BC"/>
            </a:solidFill>
            <a:prstDash val="solid"/>
          </a:ln>
        </p:spPr>
        <p:txBody>
          <a:bodyPr/>
          <a:lstStyle/>
          <a:p>
            <a:endParaRPr lang="en-IN"/>
          </a:p>
        </p:txBody>
      </p:sp>
      <p:sp>
        <p:nvSpPr>
          <p:cNvPr id="115" name="Text 21">
            <a:extLst>
              <a:ext uri="{FF2B5EF4-FFF2-40B4-BE49-F238E27FC236}">
                <a16:creationId xmlns:a16="http://schemas.microsoft.com/office/drawing/2014/main" id="{2B142EBE-7753-5021-0A44-08A5B0C94A79}"/>
              </a:ext>
            </a:extLst>
          </p:cNvPr>
          <p:cNvSpPr/>
          <p:nvPr/>
        </p:nvSpPr>
        <p:spPr>
          <a:xfrm>
            <a:off x="704088"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0.2175</a:t>
            </a:r>
            <a:endParaRPr lang="en-US" sz="1300" dirty="0"/>
          </a:p>
        </p:txBody>
      </p:sp>
      <p:sp>
        <p:nvSpPr>
          <p:cNvPr id="117" name="Text 22">
            <a:extLst>
              <a:ext uri="{FF2B5EF4-FFF2-40B4-BE49-F238E27FC236}">
                <a16:creationId xmlns:a16="http://schemas.microsoft.com/office/drawing/2014/main" id="{C82AAC83-F631-9B93-60C5-C15F148C72D7}"/>
              </a:ext>
            </a:extLst>
          </p:cNvPr>
          <p:cNvSpPr/>
          <p:nvPr/>
        </p:nvSpPr>
        <p:spPr>
          <a:xfrm>
            <a:off x="1711757"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0.1571</a:t>
            </a:r>
            <a:endParaRPr lang="en-US" sz="1300" dirty="0"/>
          </a:p>
        </p:txBody>
      </p:sp>
      <p:sp>
        <p:nvSpPr>
          <p:cNvPr id="119" name="Text 23">
            <a:extLst>
              <a:ext uri="{FF2B5EF4-FFF2-40B4-BE49-F238E27FC236}">
                <a16:creationId xmlns:a16="http://schemas.microsoft.com/office/drawing/2014/main" id="{2022929C-2BC8-A884-7561-713CBD627DE0}"/>
              </a:ext>
            </a:extLst>
          </p:cNvPr>
          <p:cNvSpPr/>
          <p:nvPr/>
        </p:nvSpPr>
        <p:spPr>
          <a:xfrm>
            <a:off x="2719426"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0.4626</a:t>
            </a:r>
            <a:endParaRPr lang="en-US" sz="1300" dirty="0"/>
          </a:p>
        </p:txBody>
      </p:sp>
      <p:sp>
        <p:nvSpPr>
          <p:cNvPr id="121" name="Text 24">
            <a:extLst>
              <a:ext uri="{FF2B5EF4-FFF2-40B4-BE49-F238E27FC236}">
                <a16:creationId xmlns:a16="http://schemas.microsoft.com/office/drawing/2014/main" id="{B9751176-76AB-2BC3-87F0-305001ACA5B6}"/>
              </a:ext>
            </a:extLst>
          </p:cNvPr>
          <p:cNvSpPr/>
          <p:nvPr/>
        </p:nvSpPr>
        <p:spPr>
          <a:xfrm>
            <a:off x="3727094"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6B4423"/>
                </a:solidFill>
                <a:latin typeface="Calibri" pitchFamily="34" charset="0"/>
                <a:ea typeface="Calibri" pitchFamily="34" charset="-122"/>
                <a:cs typeface="Calibri" pitchFamily="34" charset="-120"/>
              </a:rPr>
              <a:t>0.6587</a:t>
            </a:r>
            <a:endParaRPr lang="en-US" sz="1300" dirty="0"/>
          </a:p>
        </p:txBody>
      </p:sp>
      <p:sp>
        <p:nvSpPr>
          <p:cNvPr id="123" name="Text 25">
            <a:extLst>
              <a:ext uri="{FF2B5EF4-FFF2-40B4-BE49-F238E27FC236}">
                <a16:creationId xmlns:a16="http://schemas.microsoft.com/office/drawing/2014/main" id="{4850D5D0-8A12-6138-15B5-B0870088DC55}"/>
              </a:ext>
            </a:extLst>
          </p:cNvPr>
          <p:cNvSpPr/>
          <p:nvPr/>
        </p:nvSpPr>
        <p:spPr>
          <a:xfrm>
            <a:off x="4734763"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217</a:t>
            </a:r>
            <a:endParaRPr lang="en-US" sz="1300" dirty="0"/>
          </a:p>
        </p:txBody>
      </p:sp>
      <p:sp>
        <p:nvSpPr>
          <p:cNvPr id="125" name="Shape 26">
            <a:extLst>
              <a:ext uri="{FF2B5EF4-FFF2-40B4-BE49-F238E27FC236}">
                <a16:creationId xmlns:a16="http://schemas.microsoft.com/office/drawing/2014/main" id="{A8CE62BD-CCFE-8007-C3D0-4131C49CE86B}"/>
              </a:ext>
            </a:extLst>
          </p:cNvPr>
          <p:cNvSpPr/>
          <p:nvPr/>
        </p:nvSpPr>
        <p:spPr>
          <a:xfrm>
            <a:off x="6199632" y="1207008"/>
            <a:ext cx="5532120" cy="2176272"/>
          </a:xfrm>
          <a:prstGeom prst="roundRect">
            <a:avLst>
              <a:gd name="adj" fmla="val 2521"/>
            </a:avLst>
          </a:prstGeom>
          <a:solidFill>
            <a:srgbClr val="F1F5EE"/>
          </a:solidFill>
          <a:ln w="12700">
            <a:solidFill>
              <a:srgbClr val="CEDCC7"/>
            </a:solidFill>
            <a:prstDash val="solid"/>
          </a:ln>
        </p:spPr>
        <p:txBody>
          <a:bodyPr/>
          <a:lstStyle/>
          <a:p>
            <a:endParaRPr lang="en-IN"/>
          </a:p>
        </p:txBody>
      </p:sp>
      <p:sp>
        <p:nvSpPr>
          <p:cNvPr id="127" name="Shape 27">
            <a:extLst>
              <a:ext uri="{FF2B5EF4-FFF2-40B4-BE49-F238E27FC236}">
                <a16:creationId xmlns:a16="http://schemas.microsoft.com/office/drawing/2014/main" id="{77BE7DDD-6AF8-0ACF-3056-31B914BE8259}"/>
              </a:ext>
            </a:extLst>
          </p:cNvPr>
          <p:cNvSpPr/>
          <p:nvPr/>
        </p:nvSpPr>
        <p:spPr>
          <a:xfrm>
            <a:off x="6400800" y="1362456"/>
            <a:ext cx="274320" cy="274320"/>
          </a:xfrm>
          <a:prstGeom prst="ellipse">
            <a:avLst/>
          </a:prstGeom>
          <a:solidFill>
            <a:srgbClr val="44663F"/>
          </a:solidFill>
          <a:ln/>
        </p:spPr>
        <p:txBody>
          <a:bodyPr/>
          <a:lstStyle/>
          <a:p>
            <a:endParaRPr lang="en-IN"/>
          </a:p>
        </p:txBody>
      </p:sp>
      <p:sp>
        <p:nvSpPr>
          <p:cNvPr id="129" name="Text 28">
            <a:extLst>
              <a:ext uri="{FF2B5EF4-FFF2-40B4-BE49-F238E27FC236}">
                <a16:creationId xmlns:a16="http://schemas.microsoft.com/office/drawing/2014/main" id="{43933ECD-B7AE-5DD6-2A34-AC38A3C282AA}"/>
              </a:ext>
            </a:extLst>
          </p:cNvPr>
          <p:cNvSpPr/>
          <p:nvPr/>
        </p:nvSpPr>
        <p:spPr>
          <a:xfrm>
            <a:off x="6400800" y="13624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31" name="Text 29">
            <a:extLst>
              <a:ext uri="{FF2B5EF4-FFF2-40B4-BE49-F238E27FC236}">
                <a16:creationId xmlns:a16="http://schemas.microsoft.com/office/drawing/2014/main" id="{E20B298C-B0A1-F090-D385-81CC8E2504FD}"/>
              </a:ext>
            </a:extLst>
          </p:cNvPr>
          <p:cNvSpPr/>
          <p:nvPr/>
        </p:nvSpPr>
        <p:spPr>
          <a:xfrm>
            <a:off x="6748272" y="1353312"/>
            <a:ext cx="3017520" cy="292608"/>
          </a:xfrm>
          <a:prstGeom prst="rect">
            <a:avLst/>
          </a:prstGeom>
          <a:noFill/>
          <a:ln/>
        </p:spPr>
        <p:txBody>
          <a:bodyPr wrap="square" lIns="0" tIns="0" rIns="0" bIns="0" rtlCol="0" anchor="ctr"/>
          <a:lstStyle/>
          <a:p>
            <a:pPr marL="0" indent="0">
              <a:buNone/>
            </a:pPr>
            <a:r>
              <a:rPr lang="en-US" sz="1350" b="1" kern="0" spc="60" dirty="0">
                <a:solidFill>
                  <a:srgbClr val="44663F"/>
                </a:solidFill>
                <a:latin typeface="Calibri" pitchFamily="34" charset="0"/>
                <a:ea typeface="Calibri" pitchFamily="34" charset="-122"/>
                <a:cs typeface="Calibri" pitchFamily="34" charset="-120"/>
              </a:rPr>
              <a:t>FACTORIAL  ·  full grid</a:t>
            </a:r>
            <a:endParaRPr lang="en-US" sz="1350" dirty="0"/>
          </a:p>
        </p:txBody>
      </p:sp>
      <p:sp>
        <p:nvSpPr>
          <p:cNvPr id="133" name="Text 30">
            <a:extLst>
              <a:ext uri="{FF2B5EF4-FFF2-40B4-BE49-F238E27FC236}">
                <a16:creationId xmlns:a16="http://schemas.microsoft.com/office/drawing/2014/main" id="{74BA2B9E-1E93-056A-91D7-4E2511C7AEEE}"/>
              </a:ext>
            </a:extLst>
          </p:cNvPr>
          <p:cNvSpPr/>
          <p:nvPr/>
        </p:nvSpPr>
        <p:spPr>
          <a:xfrm>
            <a:off x="9829800" y="1353312"/>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BIO-004</a:t>
            </a:r>
            <a:endParaRPr lang="en-US" sz="1300" dirty="0"/>
          </a:p>
        </p:txBody>
      </p:sp>
      <p:sp>
        <p:nvSpPr>
          <p:cNvPr id="135" name="Text 31">
            <a:extLst>
              <a:ext uri="{FF2B5EF4-FFF2-40B4-BE49-F238E27FC236}">
                <a16:creationId xmlns:a16="http://schemas.microsoft.com/office/drawing/2014/main" id="{5872510A-D9DF-7842-6331-9C009E3DE784}"/>
              </a:ext>
            </a:extLst>
          </p:cNvPr>
          <p:cNvSpPr/>
          <p:nvPr/>
        </p:nvSpPr>
        <p:spPr>
          <a:xfrm>
            <a:off x="6428232" y="164592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137" name="Text 32">
            <a:extLst>
              <a:ext uri="{FF2B5EF4-FFF2-40B4-BE49-F238E27FC236}">
                <a16:creationId xmlns:a16="http://schemas.microsoft.com/office/drawing/2014/main" id="{080C6945-7841-1FF9-FF74-A850CA8CBA67}"/>
              </a:ext>
            </a:extLst>
          </p:cNvPr>
          <p:cNvSpPr/>
          <p:nvPr/>
        </p:nvSpPr>
        <p:spPr>
          <a:xfrm>
            <a:off x="7616952" y="164592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whole_doc</a:t>
            </a:r>
            <a:endParaRPr lang="en-US" sz="1300" dirty="0"/>
          </a:p>
        </p:txBody>
      </p:sp>
      <p:sp>
        <p:nvSpPr>
          <p:cNvPr id="139" name="Text 33">
            <a:extLst>
              <a:ext uri="{FF2B5EF4-FFF2-40B4-BE49-F238E27FC236}">
                <a16:creationId xmlns:a16="http://schemas.microsoft.com/office/drawing/2014/main" id="{7693B9A2-2240-1371-93E3-8E035C3F474C}"/>
              </a:ext>
            </a:extLst>
          </p:cNvPr>
          <p:cNvSpPr/>
          <p:nvPr/>
        </p:nvSpPr>
        <p:spPr>
          <a:xfrm>
            <a:off x="6428232" y="184251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141" name="Text 34">
            <a:extLst>
              <a:ext uri="{FF2B5EF4-FFF2-40B4-BE49-F238E27FC236}">
                <a16:creationId xmlns:a16="http://schemas.microsoft.com/office/drawing/2014/main" id="{70ED0278-152D-1DB1-7729-2E74F293952B}"/>
              </a:ext>
            </a:extLst>
          </p:cNvPr>
          <p:cNvSpPr/>
          <p:nvPr/>
        </p:nvSpPr>
        <p:spPr>
          <a:xfrm>
            <a:off x="7616952" y="184251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S-PubMedBert-MS-MARCO</a:t>
            </a:r>
            <a:endParaRPr lang="en-US" sz="1300" dirty="0"/>
          </a:p>
        </p:txBody>
      </p:sp>
      <p:sp>
        <p:nvSpPr>
          <p:cNvPr id="143" name="Text 35">
            <a:extLst>
              <a:ext uri="{FF2B5EF4-FFF2-40B4-BE49-F238E27FC236}">
                <a16:creationId xmlns:a16="http://schemas.microsoft.com/office/drawing/2014/main" id="{B98171CB-F674-15C5-C17D-600433BB0B05}"/>
              </a:ext>
            </a:extLst>
          </p:cNvPr>
          <p:cNvSpPr/>
          <p:nvPr/>
        </p:nvSpPr>
        <p:spPr>
          <a:xfrm>
            <a:off x="6428232" y="203911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145" name="Text 36">
            <a:extLst>
              <a:ext uri="{FF2B5EF4-FFF2-40B4-BE49-F238E27FC236}">
                <a16:creationId xmlns:a16="http://schemas.microsoft.com/office/drawing/2014/main" id="{2104ED00-A633-E474-4A93-B7503D861303}"/>
              </a:ext>
            </a:extLst>
          </p:cNvPr>
          <p:cNvSpPr/>
          <p:nvPr/>
        </p:nvSpPr>
        <p:spPr>
          <a:xfrm>
            <a:off x="7616952" y="2039112"/>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dense, k=5</a:t>
            </a:r>
            <a:endParaRPr lang="en-US" sz="1300" dirty="0"/>
          </a:p>
        </p:txBody>
      </p:sp>
      <p:sp>
        <p:nvSpPr>
          <p:cNvPr id="147" name="Text 37">
            <a:extLst>
              <a:ext uri="{FF2B5EF4-FFF2-40B4-BE49-F238E27FC236}">
                <a16:creationId xmlns:a16="http://schemas.microsoft.com/office/drawing/2014/main" id="{5BBCDB52-F5A1-9D36-DB1B-4559073A55C1}"/>
              </a:ext>
            </a:extLst>
          </p:cNvPr>
          <p:cNvSpPr/>
          <p:nvPr/>
        </p:nvSpPr>
        <p:spPr>
          <a:xfrm>
            <a:off x="6428232" y="223570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149" name="Text 38">
            <a:extLst>
              <a:ext uri="{FF2B5EF4-FFF2-40B4-BE49-F238E27FC236}">
                <a16:creationId xmlns:a16="http://schemas.microsoft.com/office/drawing/2014/main" id="{D3906DA6-1B87-2CD3-1FB3-E86D6DC3EA4A}"/>
              </a:ext>
            </a:extLst>
          </p:cNvPr>
          <p:cNvSpPr/>
          <p:nvPr/>
        </p:nvSpPr>
        <p:spPr>
          <a:xfrm>
            <a:off x="7616952" y="223570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Cross-encoder + forward</a:t>
            </a:r>
            <a:endParaRPr lang="en-US" sz="1300" dirty="0"/>
          </a:p>
        </p:txBody>
      </p:sp>
      <p:sp>
        <p:nvSpPr>
          <p:cNvPr id="151" name="Text 39">
            <a:extLst>
              <a:ext uri="{FF2B5EF4-FFF2-40B4-BE49-F238E27FC236}">
                <a16:creationId xmlns:a16="http://schemas.microsoft.com/office/drawing/2014/main" id="{2105EBBC-6349-5302-CF21-21956B46761F}"/>
              </a:ext>
            </a:extLst>
          </p:cNvPr>
          <p:cNvSpPr/>
          <p:nvPr/>
        </p:nvSpPr>
        <p:spPr>
          <a:xfrm>
            <a:off x="6428232" y="243230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153" name="Text 40">
            <a:extLst>
              <a:ext uri="{FF2B5EF4-FFF2-40B4-BE49-F238E27FC236}">
                <a16:creationId xmlns:a16="http://schemas.microsoft.com/office/drawing/2014/main" id="{273CD344-BBA5-D94F-D699-CE095812111E}"/>
              </a:ext>
            </a:extLst>
          </p:cNvPr>
          <p:cNvSpPr/>
          <p:nvPr/>
        </p:nvSpPr>
        <p:spPr>
          <a:xfrm>
            <a:off x="7616952" y="2432304"/>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155" name="Text 41">
            <a:extLst>
              <a:ext uri="{FF2B5EF4-FFF2-40B4-BE49-F238E27FC236}">
                <a16:creationId xmlns:a16="http://schemas.microsoft.com/office/drawing/2014/main" id="{8813AB4F-95F4-722F-4B5B-07CD0A043F01}"/>
              </a:ext>
            </a:extLst>
          </p:cNvPr>
          <p:cNvSpPr/>
          <p:nvPr/>
        </p:nvSpPr>
        <p:spPr>
          <a:xfrm>
            <a:off x="6428232" y="262890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157" name="Text 42">
            <a:extLst>
              <a:ext uri="{FF2B5EF4-FFF2-40B4-BE49-F238E27FC236}">
                <a16:creationId xmlns:a16="http://schemas.microsoft.com/office/drawing/2014/main" id="{6459C244-5442-786D-DD4C-E47407A290F0}"/>
              </a:ext>
            </a:extLst>
          </p:cNvPr>
          <p:cNvSpPr/>
          <p:nvPr/>
        </p:nvSpPr>
        <p:spPr>
          <a:xfrm>
            <a:off x="7616952" y="2628900"/>
            <a:ext cx="3886200" cy="187452"/>
          </a:xfrm>
          <a:prstGeom prst="rect">
            <a:avLst/>
          </a:prstGeom>
          <a:noFill/>
          <a:ln/>
        </p:spPr>
        <p:txBody>
          <a:bodyPr wrap="square" lIns="0" tIns="0" rIns="0" bIns="0" rtlCol="0" anchor="ctr"/>
          <a:lstStyle/>
          <a:p>
            <a:pPr marL="0" indent="0">
              <a:buNone/>
            </a:pPr>
            <a:r>
              <a:rPr lang="en-US" sz="1300" b="1" dirty="0">
                <a:solidFill>
                  <a:srgbClr val="44663F"/>
                </a:solidFill>
                <a:latin typeface="Calibri" pitchFamily="34" charset="0"/>
                <a:ea typeface="Calibri" pitchFamily="34" charset="-122"/>
                <a:cs typeface="Calibri" pitchFamily="34" charset="-120"/>
              </a:rPr>
              <a:t>gpt-oss-120b</a:t>
            </a:r>
            <a:endParaRPr lang="en-US" sz="1300" dirty="0"/>
          </a:p>
        </p:txBody>
      </p:sp>
      <p:sp>
        <p:nvSpPr>
          <p:cNvPr id="159" name="Shape 43">
            <a:extLst>
              <a:ext uri="{FF2B5EF4-FFF2-40B4-BE49-F238E27FC236}">
                <a16:creationId xmlns:a16="http://schemas.microsoft.com/office/drawing/2014/main" id="{1631F901-3B57-B39C-BF1A-30BF3B5D2893}"/>
              </a:ext>
            </a:extLst>
          </p:cNvPr>
          <p:cNvSpPr/>
          <p:nvPr/>
        </p:nvSpPr>
        <p:spPr>
          <a:xfrm>
            <a:off x="6400800" y="2852928"/>
            <a:ext cx="5129784" cy="475488"/>
          </a:xfrm>
          <a:prstGeom prst="roundRect">
            <a:avLst>
              <a:gd name="adj" fmla="val 7692"/>
            </a:avLst>
          </a:prstGeom>
          <a:solidFill>
            <a:srgbClr val="FFFFFF"/>
          </a:solidFill>
          <a:ln w="12700">
            <a:solidFill>
              <a:srgbClr val="CEDCC7"/>
            </a:solidFill>
            <a:prstDash val="solid"/>
          </a:ln>
        </p:spPr>
        <p:txBody>
          <a:bodyPr/>
          <a:lstStyle/>
          <a:p>
            <a:endParaRPr lang="en-IN"/>
          </a:p>
        </p:txBody>
      </p:sp>
      <p:sp>
        <p:nvSpPr>
          <p:cNvPr id="161" name="Text 44">
            <a:extLst>
              <a:ext uri="{FF2B5EF4-FFF2-40B4-BE49-F238E27FC236}">
                <a16:creationId xmlns:a16="http://schemas.microsoft.com/office/drawing/2014/main" id="{83A01F18-7F88-8D6D-7C60-11BB1CD61A3F}"/>
              </a:ext>
            </a:extLst>
          </p:cNvPr>
          <p:cNvSpPr/>
          <p:nvPr/>
        </p:nvSpPr>
        <p:spPr>
          <a:xfrm>
            <a:off x="6446520"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0.2398</a:t>
            </a:r>
            <a:endParaRPr lang="en-US" sz="1300" dirty="0"/>
          </a:p>
        </p:txBody>
      </p:sp>
      <p:sp>
        <p:nvSpPr>
          <p:cNvPr id="163" name="Text 45">
            <a:extLst>
              <a:ext uri="{FF2B5EF4-FFF2-40B4-BE49-F238E27FC236}">
                <a16:creationId xmlns:a16="http://schemas.microsoft.com/office/drawing/2014/main" id="{91983425-A3AE-B784-0782-3919622283F2}"/>
              </a:ext>
            </a:extLst>
          </p:cNvPr>
          <p:cNvSpPr/>
          <p:nvPr/>
        </p:nvSpPr>
        <p:spPr>
          <a:xfrm>
            <a:off x="7454189"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0.1932</a:t>
            </a:r>
            <a:endParaRPr lang="en-US" sz="1300" dirty="0"/>
          </a:p>
        </p:txBody>
      </p:sp>
      <p:sp>
        <p:nvSpPr>
          <p:cNvPr id="165" name="Text 46">
            <a:extLst>
              <a:ext uri="{FF2B5EF4-FFF2-40B4-BE49-F238E27FC236}">
                <a16:creationId xmlns:a16="http://schemas.microsoft.com/office/drawing/2014/main" id="{69DF1C19-C5FB-6D91-88C6-A3E466BA0BD1}"/>
              </a:ext>
            </a:extLst>
          </p:cNvPr>
          <p:cNvSpPr/>
          <p:nvPr/>
        </p:nvSpPr>
        <p:spPr>
          <a:xfrm>
            <a:off x="8461858"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0.4605</a:t>
            </a:r>
            <a:endParaRPr lang="en-US" sz="1300" dirty="0"/>
          </a:p>
        </p:txBody>
      </p:sp>
      <p:sp>
        <p:nvSpPr>
          <p:cNvPr id="167" name="Text 47">
            <a:extLst>
              <a:ext uri="{FF2B5EF4-FFF2-40B4-BE49-F238E27FC236}">
                <a16:creationId xmlns:a16="http://schemas.microsoft.com/office/drawing/2014/main" id="{68E3A3B0-E9CE-42B6-5DD7-C127CA8AA814}"/>
              </a:ext>
            </a:extLst>
          </p:cNvPr>
          <p:cNvSpPr/>
          <p:nvPr/>
        </p:nvSpPr>
        <p:spPr>
          <a:xfrm>
            <a:off x="9469526"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44663F"/>
                </a:solidFill>
                <a:latin typeface="Calibri" pitchFamily="34" charset="0"/>
                <a:ea typeface="Calibri" pitchFamily="34" charset="-122"/>
                <a:cs typeface="Calibri" pitchFamily="34" charset="-120"/>
              </a:rPr>
              <a:t>0.6277</a:t>
            </a:r>
            <a:endParaRPr lang="en-US" sz="1300" dirty="0"/>
          </a:p>
        </p:txBody>
      </p:sp>
      <p:sp>
        <p:nvSpPr>
          <p:cNvPr id="169" name="Text 48">
            <a:extLst>
              <a:ext uri="{FF2B5EF4-FFF2-40B4-BE49-F238E27FC236}">
                <a16:creationId xmlns:a16="http://schemas.microsoft.com/office/drawing/2014/main" id="{F0AC872D-6D68-4424-BA8B-C3484CE2EF3E}"/>
              </a:ext>
            </a:extLst>
          </p:cNvPr>
          <p:cNvSpPr/>
          <p:nvPr/>
        </p:nvSpPr>
        <p:spPr>
          <a:xfrm>
            <a:off x="10477195"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200</a:t>
            </a:r>
            <a:endParaRPr lang="en-US" sz="1300" dirty="0"/>
          </a:p>
        </p:txBody>
      </p:sp>
      <p:sp>
        <p:nvSpPr>
          <p:cNvPr id="171" name="Text 49">
            <a:extLst>
              <a:ext uri="{FF2B5EF4-FFF2-40B4-BE49-F238E27FC236}">
                <a16:creationId xmlns:a16="http://schemas.microsoft.com/office/drawing/2014/main" id="{33D370E1-3832-4F77-9413-31D223C22716}"/>
              </a:ext>
            </a:extLst>
          </p:cNvPr>
          <p:cNvSpPr/>
          <p:nvPr/>
        </p:nvSpPr>
        <p:spPr>
          <a:xfrm>
            <a:off x="457200" y="3419856"/>
            <a:ext cx="11274552" cy="219456"/>
          </a:xfrm>
          <a:prstGeom prst="rect">
            <a:avLst/>
          </a:prstGeom>
          <a:noFill/>
          <a:ln/>
        </p:spPr>
        <p:txBody>
          <a:bodyPr wrap="square" lIns="0" tIns="0" rIns="0" bIns="0" rtlCol="0" anchor="ctr"/>
          <a:lstStyle/>
          <a:p>
            <a:pPr marL="0" indent="0">
              <a:buNone/>
            </a:pPr>
            <a:r>
              <a:rPr lang="en-US" sz="1300" i="1" dirty="0">
                <a:solidFill>
                  <a:srgbClr val="6E675E"/>
                </a:solidFill>
                <a:latin typeface="Calibri" pitchFamily="34" charset="0"/>
                <a:ea typeface="Calibri" pitchFamily="34" charset="-122"/>
                <a:cs typeface="Calibri" pitchFamily="34" charset="-120"/>
              </a:rPr>
              <a:t>Both campaigns converge on the same domain encoder and a cross-encoder — the clean validation case.</a:t>
            </a:r>
            <a:endParaRPr lang="en-US" sz="1300" dirty="0"/>
          </a:p>
        </p:txBody>
      </p:sp>
      <p:sp>
        <p:nvSpPr>
          <p:cNvPr id="173" name="Text 50">
            <a:extLst>
              <a:ext uri="{FF2B5EF4-FFF2-40B4-BE49-F238E27FC236}">
                <a16:creationId xmlns:a16="http://schemas.microsoft.com/office/drawing/2014/main" id="{871115C1-704D-D5CD-E1A3-AA1F3666DD26}"/>
              </a:ext>
            </a:extLst>
          </p:cNvPr>
          <p:cNvSpPr/>
          <p:nvPr/>
        </p:nvSpPr>
        <p:spPr>
          <a:xfrm>
            <a:off x="457200" y="3785616"/>
            <a:ext cx="7863840" cy="256032"/>
          </a:xfrm>
          <a:prstGeom prst="rect">
            <a:avLst/>
          </a:prstGeom>
          <a:noFill/>
          <a:ln/>
        </p:spPr>
        <p:txBody>
          <a:bodyPr wrap="square" lIns="0" tIns="0" rIns="0" bIns="0" rtlCol="0" anchor="ctr"/>
          <a:lstStyle/>
          <a:p>
            <a:pPr marL="0" indent="0">
              <a:buNone/>
            </a:pPr>
            <a:r>
              <a:rPr lang="en-US" sz="1600" b="1" dirty="0">
                <a:solidFill>
                  <a:srgbClr val="5A4A3C"/>
                </a:solidFill>
                <a:latin typeface="Cambria" pitchFamily="34" charset="0"/>
                <a:ea typeface="Cambria" pitchFamily="34" charset="-122"/>
                <a:cs typeface="Cambria" pitchFamily="34" charset="-120"/>
              </a:rPr>
              <a:t>Customer Support  ·  TechQA</a:t>
            </a:r>
            <a:endParaRPr lang="en-US" sz="1600" dirty="0"/>
          </a:p>
        </p:txBody>
      </p:sp>
      <p:sp>
        <p:nvSpPr>
          <p:cNvPr id="175" name="Shape 51">
            <a:extLst>
              <a:ext uri="{FF2B5EF4-FFF2-40B4-BE49-F238E27FC236}">
                <a16:creationId xmlns:a16="http://schemas.microsoft.com/office/drawing/2014/main" id="{5C7223B2-0717-5558-31D4-10ADD92CEF8E}"/>
              </a:ext>
            </a:extLst>
          </p:cNvPr>
          <p:cNvSpPr/>
          <p:nvPr/>
        </p:nvSpPr>
        <p:spPr>
          <a:xfrm>
            <a:off x="457200" y="4059936"/>
            <a:ext cx="5532120" cy="2176272"/>
          </a:xfrm>
          <a:prstGeom prst="roundRect">
            <a:avLst>
              <a:gd name="adj" fmla="val 2521"/>
            </a:avLst>
          </a:prstGeom>
          <a:solidFill>
            <a:srgbClr val="FAF4ED"/>
          </a:solidFill>
          <a:ln w="12700">
            <a:solidFill>
              <a:srgbClr val="E0D0BC"/>
            </a:solidFill>
            <a:prstDash val="solid"/>
          </a:ln>
        </p:spPr>
        <p:txBody>
          <a:bodyPr/>
          <a:lstStyle/>
          <a:p>
            <a:endParaRPr lang="en-IN"/>
          </a:p>
        </p:txBody>
      </p:sp>
      <p:sp>
        <p:nvSpPr>
          <p:cNvPr id="177" name="Shape 52">
            <a:extLst>
              <a:ext uri="{FF2B5EF4-FFF2-40B4-BE49-F238E27FC236}">
                <a16:creationId xmlns:a16="http://schemas.microsoft.com/office/drawing/2014/main" id="{2D859BD2-900C-3FF9-1A26-689342BA189A}"/>
              </a:ext>
            </a:extLst>
          </p:cNvPr>
          <p:cNvSpPr/>
          <p:nvPr/>
        </p:nvSpPr>
        <p:spPr>
          <a:xfrm>
            <a:off x="658368" y="4215384"/>
            <a:ext cx="274320" cy="274320"/>
          </a:xfrm>
          <a:prstGeom prst="ellipse">
            <a:avLst/>
          </a:prstGeom>
          <a:solidFill>
            <a:srgbClr val="6B4423"/>
          </a:solidFill>
          <a:ln/>
        </p:spPr>
        <p:txBody>
          <a:bodyPr/>
          <a:lstStyle/>
          <a:p>
            <a:endParaRPr lang="en-IN"/>
          </a:p>
        </p:txBody>
      </p:sp>
      <p:sp>
        <p:nvSpPr>
          <p:cNvPr id="179" name="Text 53">
            <a:extLst>
              <a:ext uri="{FF2B5EF4-FFF2-40B4-BE49-F238E27FC236}">
                <a16:creationId xmlns:a16="http://schemas.microsoft.com/office/drawing/2014/main" id="{DF092F90-9CEE-9238-9AA9-697B82898620}"/>
              </a:ext>
            </a:extLst>
          </p:cNvPr>
          <p:cNvSpPr/>
          <p:nvPr/>
        </p:nvSpPr>
        <p:spPr>
          <a:xfrm>
            <a:off x="658368" y="421538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181" name="Text 54">
            <a:extLst>
              <a:ext uri="{FF2B5EF4-FFF2-40B4-BE49-F238E27FC236}">
                <a16:creationId xmlns:a16="http://schemas.microsoft.com/office/drawing/2014/main" id="{1F0F296B-B357-CA59-95A0-E897AB7C1942}"/>
              </a:ext>
            </a:extLst>
          </p:cNvPr>
          <p:cNvSpPr/>
          <p:nvPr/>
        </p:nvSpPr>
        <p:spPr>
          <a:xfrm>
            <a:off x="1005840" y="4206240"/>
            <a:ext cx="3017520" cy="292608"/>
          </a:xfrm>
          <a:prstGeom prst="rect">
            <a:avLst/>
          </a:prstGeom>
          <a:noFill/>
          <a:ln/>
        </p:spPr>
        <p:txBody>
          <a:bodyPr wrap="square" lIns="0" tIns="0" rIns="0" bIns="0" rtlCol="0" anchor="ctr"/>
          <a:lstStyle/>
          <a:p>
            <a:pPr marL="0" indent="0">
              <a:buNone/>
            </a:pPr>
            <a:r>
              <a:rPr lang="en-US" sz="1350" b="1" kern="0" spc="60" dirty="0">
                <a:solidFill>
                  <a:srgbClr val="6B4423"/>
                </a:solidFill>
                <a:latin typeface="Calibri" pitchFamily="34" charset="0"/>
                <a:ea typeface="Calibri" pitchFamily="34" charset="-122"/>
                <a:cs typeface="Calibri" pitchFamily="34" charset="-120"/>
              </a:rPr>
              <a:t>GREEDY  ·  stage-wise ladder</a:t>
            </a:r>
            <a:endParaRPr lang="en-US" sz="1350" dirty="0"/>
          </a:p>
        </p:txBody>
      </p:sp>
      <p:sp>
        <p:nvSpPr>
          <p:cNvPr id="183" name="Text 55">
            <a:extLst>
              <a:ext uri="{FF2B5EF4-FFF2-40B4-BE49-F238E27FC236}">
                <a16:creationId xmlns:a16="http://schemas.microsoft.com/office/drawing/2014/main" id="{7247EE4E-AB6C-49D2-2164-F3338FC93A70}"/>
              </a:ext>
            </a:extLst>
          </p:cNvPr>
          <p:cNvSpPr/>
          <p:nvPr/>
        </p:nvSpPr>
        <p:spPr>
          <a:xfrm>
            <a:off x="4087368" y="4206240"/>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CS-EXP-FINAL</a:t>
            </a:r>
            <a:endParaRPr lang="en-US" sz="1300" dirty="0"/>
          </a:p>
        </p:txBody>
      </p:sp>
      <p:sp>
        <p:nvSpPr>
          <p:cNvPr id="185" name="Text 56">
            <a:extLst>
              <a:ext uri="{FF2B5EF4-FFF2-40B4-BE49-F238E27FC236}">
                <a16:creationId xmlns:a16="http://schemas.microsoft.com/office/drawing/2014/main" id="{FA36D726-B8C1-8212-9C03-C8AFB2B8AB96}"/>
              </a:ext>
            </a:extLst>
          </p:cNvPr>
          <p:cNvSpPr/>
          <p:nvPr/>
        </p:nvSpPr>
        <p:spPr>
          <a:xfrm>
            <a:off x="685800" y="449884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187" name="Text 57">
            <a:extLst>
              <a:ext uri="{FF2B5EF4-FFF2-40B4-BE49-F238E27FC236}">
                <a16:creationId xmlns:a16="http://schemas.microsoft.com/office/drawing/2014/main" id="{FE5FC79E-9F30-8259-DF60-0310D0E6135B}"/>
              </a:ext>
            </a:extLst>
          </p:cNvPr>
          <p:cNvSpPr/>
          <p:nvPr/>
        </p:nvSpPr>
        <p:spPr>
          <a:xfrm>
            <a:off x="1874520" y="449884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Sliding 120w / 40 overlap</a:t>
            </a:r>
            <a:endParaRPr lang="en-US" sz="1300" dirty="0"/>
          </a:p>
        </p:txBody>
      </p:sp>
      <p:sp>
        <p:nvSpPr>
          <p:cNvPr id="189" name="Text 58">
            <a:extLst>
              <a:ext uri="{FF2B5EF4-FFF2-40B4-BE49-F238E27FC236}">
                <a16:creationId xmlns:a16="http://schemas.microsoft.com/office/drawing/2014/main" id="{6439294A-63B4-4E1B-D7D1-8DE01FD43BCE}"/>
              </a:ext>
            </a:extLst>
          </p:cNvPr>
          <p:cNvSpPr/>
          <p:nvPr/>
        </p:nvSpPr>
        <p:spPr>
          <a:xfrm>
            <a:off x="685800" y="469544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191" name="Text 59">
            <a:extLst>
              <a:ext uri="{FF2B5EF4-FFF2-40B4-BE49-F238E27FC236}">
                <a16:creationId xmlns:a16="http://schemas.microsoft.com/office/drawing/2014/main" id="{27D31CEC-E362-0FB4-50B4-8B2E2338C1DD}"/>
              </a:ext>
            </a:extLst>
          </p:cNvPr>
          <p:cNvSpPr/>
          <p:nvPr/>
        </p:nvSpPr>
        <p:spPr>
          <a:xfrm>
            <a:off x="1874520" y="4695444"/>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all-MiniLM-L6-v2</a:t>
            </a:r>
            <a:endParaRPr lang="en-US" sz="1300" dirty="0"/>
          </a:p>
        </p:txBody>
      </p:sp>
      <p:sp>
        <p:nvSpPr>
          <p:cNvPr id="193" name="Text 60">
            <a:extLst>
              <a:ext uri="{FF2B5EF4-FFF2-40B4-BE49-F238E27FC236}">
                <a16:creationId xmlns:a16="http://schemas.microsoft.com/office/drawing/2014/main" id="{EAFBE346-22D8-F34C-291C-6E626908232B}"/>
              </a:ext>
            </a:extLst>
          </p:cNvPr>
          <p:cNvSpPr/>
          <p:nvPr/>
        </p:nvSpPr>
        <p:spPr>
          <a:xfrm>
            <a:off x="685800" y="489204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195" name="Text 61">
            <a:extLst>
              <a:ext uri="{FF2B5EF4-FFF2-40B4-BE49-F238E27FC236}">
                <a16:creationId xmlns:a16="http://schemas.microsoft.com/office/drawing/2014/main" id="{FDFDC38A-B56C-C1F4-9208-47AC83131AD1}"/>
              </a:ext>
            </a:extLst>
          </p:cNvPr>
          <p:cNvSpPr/>
          <p:nvPr/>
        </p:nvSpPr>
        <p:spPr>
          <a:xfrm>
            <a:off x="1874520" y="489204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FAISS dense, k=5</a:t>
            </a:r>
            <a:endParaRPr lang="en-US" sz="1300" dirty="0"/>
          </a:p>
        </p:txBody>
      </p:sp>
      <p:sp>
        <p:nvSpPr>
          <p:cNvPr id="197" name="Text 62">
            <a:extLst>
              <a:ext uri="{FF2B5EF4-FFF2-40B4-BE49-F238E27FC236}">
                <a16:creationId xmlns:a16="http://schemas.microsoft.com/office/drawing/2014/main" id="{6D5197DA-0039-90BB-D1B6-D1EBEA0304E3}"/>
              </a:ext>
            </a:extLst>
          </p:cNvPr>
          <p:cNvSpPr/>
          <p:nvPr/>
        </p:nvSpPr>
        <p:spPr>
          <a:xfrm>
            <a:off x="685800" y="508863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199" name="Text 63">
            <a:extLst>
              <a:ext uri="{FF2B5EF4-FFF2-40B4-BE49-F238E27FC236}">
                <a16:creationId xmlns:a16="http://schemas.microsoft.com/office/drawing/2014/main" id="{D832DC5F-953D-8007-DFDB-4B56663779FA}"/>
              </a:ext>
            </a:extLst>
          </p:cNvPr>
          <p:cNvSpPr/>
          <p:nvPr/>
        </p:nvSpPr>
        <p:spPr>
          <a:xfrm>
            <a:off x="1874520" y="508863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None + forward</a:t>
            </a:r>
            <a:endParaRPr lang="en-US" sz="1300" dirty="0"/>
          </a:p>
        </p:txBody>
      </p:sp>
      <p:sp>
        <p:nvSpPr>
          <p:cNvPr id="201" name="Text 64">
            <a:extLst>
              <a:ext uri="{FF2B5EF4-FFF2-40B4-BE49-F238E27FC236}">
                <a16:creationId xmlns:a16="http://schemas.microsoft.com/office/drawing/2014/main" id="{25A178ED-A722-C096-9052-81B0601E2965}"/>
              </a:ext>
            </a:extLst>
          </p:cNvPr>
          <p:cNvSpPr/>
          <p:nvPr/>
        </p:nvSpPr>
        <p:spPr>
          <a:xfrm>
            <a:off x="685800" y="528523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203" name="Text 65">
            <a:extLst>
              <a:ext uri="{FF2B5EF4-FFF2-40B4-BE49-F238E27FC236}">
                <a16:creationId xmlns:a16="http://schemas.microsoft.com/office/drawing/2014/main" id="{4B1C7D5D-1074-1CB3-B4FC-EFBDAEF99A66}"/>
              </a:ext>
            </a:extLst>
          </p:cNvPr>
          <p:cNvSpPr/>
          <p:nvPr/>
        </p:nvSpPr>
        <p:spPr>
          <a:xfrm>
            <a:off x="1874520" y="5285232"/>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gpt-oss-120b</a:t>
            </a:r>
            <a:endParaRPr lang="en-US" sz="1300" dirty="0"/>
          </a:p>
        </p:txBody>
      </p:sp>
      <p:sp>
        <p:nvSpPr>
          <p:cNvPr id="205" name="Text 66">
            <a:extLst>
              <a:ext uri="{FF2B5EF4-FFF2-40B4-BE49-F238E27FC236}">
                <a16:creationId xmlns:a16="http://schemas.microsoft.com/office/drawing/2014/main" id="{75DE4CC2-0546-DDCB-3DB9-12E136FA9658}"/>
              </a:ext>
            </a:extLst>
          </p:cNvPr>
          <p:cNvSpPr/>
          <p:nvPr/>
        </p:nvSpPr>
        <p:spPr>
          <a:xfrm>
            <a:off x="685800" y="548182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207" name="Text 67">
            <a:extLst>
              <a:ext uri="{FF2B5EF4-FFF2-40B4-BE49-F238E27FC236}">
                <a16:creationId xmlns:a16="http://schemas.microsoft.com/office/drawing/2014/main" id="{C26C090B-AE5F-5149-64FD-3D01A5335BE3}"/>
              </a:ext>
            </a:extLst>
          </p:cNvPr>
          <p:cNvSpPr/>
          <p:nvPr/>
        </p:nvSpPr>
        <p:spPr>
          <a:xfrm>
            <a:off x="1874520" y="5481828"/>
            <a:ext cx="3886200" cy="187452"/>
          </a:xfrm>
          <a:prstGeom prst="rect">
            <a:avLst/>
          </a:prstGeom>
          <a:noFill/>
          <a:ln/>
        </p:spPr>
        <p:txBody>
          <a:bodyPr wrap="square" lIns="0" tIns="0" rIns="0" bIns="0" rtlCol="0" anchor="ctr"/>
          <a:lstStyle/>
          <a:p>
            <a:pPr marL="0" indent="0">
              <a:buNone/>
            </a:pPr>
            <a:r>
              <a:rPr lang="en-US" sz="1300" b="1" dirty="0">
                <a:solidFill>
                  <a:srgbClr val="6B4423"/>
                </a:solidFill>
                <a:latin typeface="Calibri" pitchFamily="34" charset="0"/>
                <a:ea typeface="Calibri" pitchFamily="34" charset="-122"/>
                <a:cs typeface="Calibri" pitchFamily="34" charset="-120"/>
              </a:rPr>
              <a:t>llama-3.3-70b</a:t>
            </a:r>
            <a:endParaRPr lang="en-US" sz="1300" dirty="0"/>
          </a:p>
        </p:txBody>
      </p:sp>
      <p:sp>
        <p:nvSpPr>
          <p:cNvPr id="209" name="Shape 68">
            <a:extLst>
              <a:ext uri="{FF2B5EF4-FFF2-40B4-BE49-F238E27FC236}">
                <a16:creationId xmlns:a16="http://schemas.microsoft.com/office/drawing/2014/main" id="{E2DF26B7-4045-BA00-6086-F4273639D1A9}"/>
              </a:ext>
            </a:extLst>
          </p:cNvPr>
          <p:cNvSpPr/>
          <p:nvPr/>
        </p:nvSpPr>
        <p:spPr>
          <a:xfrm>
            <a:off x="658368" y="5705856"/>
            <a:ext cx="5129784" cy="475488"/>
          </a:xfrm>
          <a:prstGeom prst="roundRect">
            <a:avLst>
              <a:gd name="adj" fmla="val 7692"/>
            </a:avLst>
          </a:prstGeom>
          <a:solidFill>
            <a:srgbClr val="FFFFFF"/>
          </a:solidFill>
          <a:ln w="12700">
            <a:solidFill>
              <a:srgbClr val="E0D0BC"/>
            </a:solidFill>
            <a:prstDash val="solid"/>
          </a:ln>
        </p:spPr>
        <p:txBody>
          <a:bodyPr/>
          <a:lstStyle/>
          <a:p>
            <a:endParaRPr lang="en-IN"/>
          </a:p>
        </p:txBody>
      </p:sp>
      <p:sp>
        <p:nvSpPr>
          <p:cNvPr id="211" name="Text 69">
            <a:extLst>
              <a:ext uri="{FF2B5EF4-FFF2-40B4-BE49-F238E27FC236}">
                <a16:creationId xmlns:a16="http://schemas.microsoft.com/office/drawing/2014/main" id="{6B6995DA-A632-83C2-5534-B9503D8EFC81}"/>
              </a:ext>
            </a:extLst>
          </p:cNvPr>
          <p:cNvSpPr/>
          <p:nvPr/>
        </p:nvSpPr>
        <p:spPr>
          <a:xfrm>
            <a:off x="704088"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0.4590</a:t>
            </a:r>
            <a:endParaRPr lang="en-US" sz="1300" dirty="0"/>
          </a:p>
        </p:txBody>
      </p:sp>
      <p:sp>
        <p:nvSpPr>
          <p:cNvPr id="213" name="Text 70">
            <a:extLst>
              <a:ext uri="{FF2B5EF4-FFF2-40B4-BE49-F238E27FC236}">
                <a16:creationId xmlns:a16="http://schemas.microsoft.com/office/drawing/2014/main" id="{6CAF221F-39CB-32EE-2880-BCFCCF230527}"/>
              </a:ext>
            </a:extLst>
          </p:cNvPr>
          <p:cNvSpPr/>
          <p:nvPr/>
        </p:nvSpPr>
        <p:spPr>
          <a:xfrm>
            <a:off x="1711757"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0.2402</a:t>
            </a:r>
            <a:endParaRPr lang="en-US" sz="1300" dirty="0"/>
          </a:p>
        </p:txBody>
      </p:sp>
      <p:sp>
        <p:nvSpPr>
          <p:cNvPr id="215" name="Text 71">
            <a:extLst>
              <a:ext uri="{FF2B5EF4-FFF2-40B4-BE49-F238E27FC236}">
                <a16:creationId xmlns:a16="http://schemas.microsoft.com/office/drawing/2014/main" id="{69B04AD1-F9F0-7BC4-1AEE-B9B04654B54A}"/>
              </a:ext>
            </a:extLst>
          </p:cNvPr>
          <p:cNvSpPr/>
          <p:nvPr/>
        </p:nvSpPr>
        <p:spPr>
          <a:xfrm>
            <a:off x="2719426"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0.6084</a:t>
            </a:r>
            <a:endParaRPr lang="en-US" sz="1300" dirty="0"/>
          </a:p>
        </p:txBody>
      </p:sp>
      <p:sp>
        <p:nvSpPr>
          <p:cNvPr id="217" name="Text 72">
            <a:extLst>
              <a:ext uri="{FF2B5EF4-FFF2-40B4-BE49-F238E27FC236}">
                <a16:creationId xmlns:a16="http://schemas.microsoft.com/office/drawing/2014/main" id="{22028941-9FCD-51A2-ED6A-00DD4762FA89}"/>
              </a:ext>
            </a:extLst>
          </p:cNvPr>
          <p:cNvSpPr/>
          <p:nvPr/>
        </p:nvSpPr>
        <p:spPr>
          <a:xfrm>
            <a:off x="3727094"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6B4423"/>
                </a:solidFill>
                <a:latin typeface="Calibri" pitchFamily="34" charset="0"/>
                <a:ea typeface="Calibri" pitchFamily="34" charset="-122"/>
                <a:cs typeface="Calibri" pitchFamily="34" charset="-120"/>
              </a:rPr>
              <a:t>0.6430</a:t>
            </a:r>
            <a:endParaRPr lang="en-US" sz="1300" dirty="0"/>
          </a:p>
        </p:txBody>
      </p:sp>
      <p:sp>
        <p:nvSpPr>
          <p:cNvPr id="219" name="Text 73">
            <a:extLst>
              <a:ext uri="{FF2B5EF4-FFF2-40B4-BE49-F238E27FC236}">
                <a16:creationId xmlns:a16="http://schemas.microsoft.com/office/drawing/2014/main" id="{86FCDAF5-AB3B-E6B9-F900-1921B30EA3DB}"/>
              </a:ext>
            </a:extLst>
          </p:cNvPr>
          <p:cNvSpPr/>
          <p:nvPr/>
        </p:nvSpPr>
        <p:spPr>
          <a:xfrm>
            <a:off x="4734763"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200</a:t>
            </a:r>
            <a:endParaRPr lang="en-US" sz="1300" dirty="0"/>
          </a:p>
        </p:txBody>
      </p:sp>
      <p:sp>
        <p:nvSpPr>
          <p:cNvPr id="221" name="Shape 74">
            <a:extLst>
              <a:ext uri="{FF2B5EF4-FFF2-40B4-BE49-F238E27FC236}">
                <a16:creationId xmlns:a16="http://schemas.microsoft.com/office/drawing/2014/main" id="{8C4DFADB-E89E-1F7D-D68A-3C26C999C55D}"/>
              </a:ext>
            </a:extLst>
          </p:cNvPr>
          <p:cNvSpPr/>
          <p:nvPr/>
        </p:nvSpPr>
        <p:spPr>
          <a:xfrm>
            <a:off x="6199632" y="4059936"/>
            <a:ext cx="5532120" cy="2176272"/>
          </a:xfrm>
          <a:prstGeom prst="roundRect">
            <a:avLst>
              <a:gd name="adj" fmla="val 2521"/>
            </a:avLst>
          </a:prstGeom>
          <a:solidFill>
            <a:srgbClr val="F1F5EE"/>
          </a:solidFill>
          <a:ln w="12700">
            <a:solidFill>
              <a:srgbClr val="CEDCC7"/>
            </a:solidFill>
            <a:prstDash val="solid"/>
          </a:ln>
        </p:spPr>
        <p:txBody>
          <a:bodyPr/>
          <a:lstStyle/>
          <a:p>
            <a:endParaRPr lang="en-IN"/>
          </a:p>
        </p:txBody>
      </p:sp>
      <p:sp>
        <p:nvSpPr>
          <p:cNvPr id="223" name="Shape 75">
            <a:extLst>
              <a:ext uri="{FF2B5EF4-FFF2-40B4-BE49-F238E27FC236}">
                <a16:creationId xmlns:a16="http://schemas.microsoft.com/office/drawing/2014/main" id="{089BF3BE-5774-83F6-22B9-BA6A1E2DE9FE}"/>
              </a:ext>
            </a:extLst>
          </p:cNvPr>
          <p:cNvSpPr/>
          <p:nvPr/>
        </p:nvSpPr>
        <p:spPr>
          <a:xfrm>
            <a:off x="6400800" y="4215384"/>
            <a:ext cx="274320" cy="274320"/>
          </a:xfrm>
          <a:prstGeom prst="ellipse">
            <a:avLst/>
          </a:prstGeom>
          <a:solidFill>
            <a:srgbClr val="44663F"/>
          </a:solidFill>
          <a:ln/>
        </p:spPr>
        <p:txBody>
          <a:bodyPr/>
          <a:lstStyle/>
          <a:p>
            <a:endParaRPr lang="en-IN"/>
          </a:p>
        </p:txBody>
      </p:sp>
      <p:sp>
        <p:nvSpPr>
          <p:cNvPr id="225" name="Text 76">
            <a:extLst>
              <a:ext uri="{FF2B5EF4-FFF2-40B4-BE49-F238E27FC236}">
                <a16:creationId xmlns:a16="http://schemas.microsoft.com/office/drawing/2014/main" id="{6A57929E-F107-A947-6C53-C287E2FA6BDB}"/>
              </a:ext>
            </a:extLst>
          </p:cNvPr>
          <p:cNvSpPr/>
          <p:nvPr/>
        </p:nvSpPr>
        <p:spPr>
          <a:xfrm>
            <a:off x="6400800" y="421538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227" name="Text 77">
            <a:extLst>
              <a:ext uri="{FF2B5EF4-FFF2-40B4-BE49-F238E27FC236}">
                <a16:creationId xmlns:a16="http://schemas.microsoft.com/office/drawing/2014/main" id="{0B2D6682-708D-5D18-A761-167D7C30218A}"/>
              </a:ext>
            </a:extLst>
          </p:cNvPr>
          <p:cNvSpPr/>
          <p:nvPr/>
        </p:nvSpPr>
        <p:spPr>
          <a:xfrm>
            <a:off x="6748272" y="4206240"/>
            <a:ext cx="3017520" cy="292608"/>
          </a:xfrm>
          <a:prstGeom prst="rect">
            <a:avLst/>
          </a:prstGeom>
          <a:noFill/>
          <a:ln/>
        </p:spPr>
        <p:txBody>
          <a:bodyPr wrap="square" lIns="0" tIns="0" rIns="0" bIns="0" rtlCol="0" anchor="ctr"/>
          <a:lstStyle/>
          <a:p>
            <a:pPr marL="0" indent="0">
              <a:buNone/>
            </a:pPr>
            <a:r>
              <a:rPr lang="en-US" sz="1350" b="1" kern="0" spc="60" dirty="0">
                <a:solidFill>
                  <a:srgbClr val="44663F"/>
                </a:solidFill>
                <a:latin typeface="Calibri" pitchFamily="34" charset="0"/>
                <a:ea typeface="Calibri" pitchFamily="34" charset="-122"/>
                <a:cs typeface="Calibri" pitchFamily="34" charset="-120"/>
              </a:rPr>
              <a:t>FACTORIAL  ·  full grid</a:t>
            </a:r>
            <a:endParaRPr lang="en-US" sz="1350" dirty="0"/>
          </a:p>
        </p:txBody>
      </p:sp>
      <p:sp>
        <p:nvSpPr>
          <p:cNvPr id="229" name="Text 78">
            <a:extLst>
              <a:ext uri="{FF2B5EF4-FFF2-40B4-BE49-F238E27FC236}">
                <a16:creationId xmlns:a16="http://schemas.microsoft.com/office/drawing/2014/main" id="{4FBA5F30-2CE0-1D7C-A8EA-E304E7B64B39}"/>
              </a:ext>
            </a:extLst>
          </p:cNvPr>
          <p:cNvSpPr/>
          <p:nvPr/>
        </p:nvSpPr>
        <p:spPr>
          <a:xfrm>
            <a:off x="9829800" y="4206240"/>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CS-064</a:t>
            </a:r>
            <a:endParaRPr lang="en-US" sz="1300" dirty="0"/>
          </a:p>
        </p:txBody>
      </p:sp>
      <p:sp>
        <p:nvSpPr>
          <p:cNvPr id="231" name="Text 79">
            <a:extLst>
              <a:ext uri="{FF2B5EF4-FFF2-40B4-BE49-F238E27FC236}">
                <a16:creationId xmlns:a16="http://schemas.microsoft.com/office/drawing/2014/main" id="{59A89F48-7270-95C1-99CA-F689796E8628}"/>
              </a:ext>
            </a:extLst>
          </p:cNvPr>
          <p:cNvSpPr/>
          <p:nvPr/>
        </p:nvSpPr>
        <p:spPr>
          <a:xfrm>
            <a:off x="6428232" y="449884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233" name="Text 80">
            <a:extLst>
              <a:ext uri="{FF2B5EF4-FFF2-40B4-BE49-F238E27FC236}">
                <a16:creationId xmlns:a16="http://schemas.microsoft.com/office/drawing/2014/main" id="{780CBA17-C887-99F2-C0E0-DA77D8EE32E7}"/>
              </a:ext>
            </a:extLst>
          </p:cNvPr>
          <p:cNvSpPr/>
          <p:nvPr/>
        </p:nvSpPr>
        <p:spPr>
          <a:xfrm>
            <a:off x="7616952" y="449884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sliding_5o2</a:t>
            </a:r>
            <a:endParaRPr lang="en-US" sz="1300" dirty="0"/>
          </a:p>
        </p:txBody>
      </p:sp>
      <p:sp>
        <p:nvSpPr>
          <p:cNvPr id="235" name="Text 81">
            <a:extLst>
              <a:ext uri="{FF2B5EF4-FFF2-40B4-BE49-F238E27FC236}">
                <a16:creationId xmlns:a16="http://schemas.microsoft.com/office/drawing/2014/main" id="{86E19221-7884-6487-F84E-FF16433D95BF}"/>
              </a:ext>
            </a:extLst>
          </p:cNvPr>
          <p:cNvSpPr/>
          <p:nvPr/>
        </p:nvSpPr>
        <p:spPr>
          <a:xfrm>
            <a:off x="6428232" y="469544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237" name="Text 82">
            <a:extLst>
              <a:ext uri="{FF2B5EF4-FFF2-40B4-BE49-F238E27FC236}">
                <a16:creationId xmlns:a16="http://schemas.microsoft.com/office/drawing/2014/main" id="{9D8F3E31-8DA6-A2AD-D4A6-2BB6B30BBCDD}"/>
              </a:ext>
            </a:extLst>
          </p:cNvPr>
          <p:cNvSpPr/>
          <p:nvPr/>
        </p:nvSpPr>
        <p:spPr>
          <a:xfrm>
            <a:off x="7616952" y="4695444"/>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all-MiniLM-L6-v2</a:t>
            </a:r>
            <a:endParaRPr lang="en-US" sz="1300" dirty="0"/>
          </a:p>
        </p:txBody>
      </p:sp>
      <p:sp>
        <p:nvSpPr>
          <p:cNvPr id="239" name="Text 83">
            <a:extLst>
              <a:ext uri="{FF2B5EF4-FFF2-40B4-BE49-F238E27FC236}">
                <a16:creationId xmlns:a16="http://schemas.microsoft.com/office/drawing/2014/main" id="{1F7A3CB4-45B1-3000-3C7A-6D3BEDCD3740}"/>
              </a:ext>
            </a:extLst>
          </p:cNvPr>
          <p:cNvSpPr/>
          <p:nvPr/>
        </p:nvSpPr>
        <p:spPr>
          <a:xfrm>
            <a:off x="6428232" y="489204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241" name="Text 84">
            <a:extLst>
              <a:ext uri="{FF2B5EF4-FFF2-40B4-BE49-F238E27FC236}">
                <a16:creationId xmlns:a16="http://schemas.microsoft.com/office/drawing/2014/main" id="{4B94C851-3678-DE6D-CF9B-84D0C35AD4E3}"/>
              </a:ext>
            </a:extLst>
          </p:cNvPr>
          <p:cNvSpPr/>
          <p:nvPr/>
        </p:nvSpPr>
        <p:spPr>
          <a:xfrm>
            <a:off x="7616952" y="489204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hybrid RRF, k=5</a:t>
            </a:r>
            <a:endParaRPr lang="en-US" sz="1300" dirty="0"/>
          </a:p>
        </p:txBody>
      </p:sp>
      <p:sp>
        <p:nvSpPr>
          <p:cNvPr id="243" name="Text 85">
            <a:extLst>
              <a:ext uri="{FF2B5EF4-FFF2-40B4-BE49-F238E27FC236}">
                <a16:creationId xmlns:a16="http://schemas.microsoft.com/office/drawing/2014/main" id="{67B66C52-FDA5-34B6-1C6F-F96097182D2E}"/>
              </a:ext>
            </a:extLst>
          </p:cNvPr>
          <p:cNvSpPr/>
          <p:nvPr/>
        </p:nvSpPr>
        <p:spPr>
          <a:xfrm>
            <a:off x="6428232" y="508863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245" name="Text 86">
            <a:extLst>
              <a:ext uri="{FF2B5EF4-FFF2-40B4-BE49-F238E27FC236}">
                <a16:creationId xmlns:a16="http://schemas.microsoft.com/office/drawing/2014/main" id="{374E4BF7-132F-7086-D48D-C8085342ECF4}"/>
              </a:ext>
            </a:extLst>
          </p:cNvPr>
          <p:cNvSpPr/>
          <p:nvPr/>
        </p:nvSpPr>
        <p:spPr>
          <a:xfrm>
            <a:off x="7616952" y="508863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Cross-encoder + forward</a:t>
            </a:r>
            <a:endParaRPr lang="en-US" sz="1300" dirty="0"/>
          </a:p>
        </p:txBody>
      </p:sp>
      <p:sp>
        <p:nvSpPr>
          <p:cNvPr id="247" name="Text 87">
            <a:extLst>
              <a:ext uri="{FF2B5EF4-FFF2-40B4-BE49-F238E27FC236}">
                <a16:creationId xmlns:a16="http://schemas.microsoft.com/office/drawing/2014/main" id="{C1E17A1D-7861-90FC-95A2-AD49F24B7A1D}"/>
              </a:ext>
            </a:extLst>
          </p:cNvPr>
          <p:cNvSpPr/>
          <p:nvPr/>
        </p:nvSpPr>
        <p:spPr>
          <a:xfrm>
            <a:off x="6428232" y="528523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249" name="Text 88">
            <a:extLst>
              <a:ext uri="{FF2B5EF4-FFF2-40B4-BE49-F238E27FC236}">
                <a16:creationId xmlns:a16="http://schemas.microsoft.com/office/drawing/2014/main" id="{63398D35-44B0-93D1-381B-D4346202C25D}"/>
              </a:ext>
            </a:extLst>
          </p:cNvPr>
          <p:cNvSpPr/>
          <p:nvPr/>
        </p:nvSpPr>
        <p:spPr>
          <a:xfrm>
            <a:off x="7616952" y="5285232"/>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251" name="Text 89">
            <a:extLst>
              <a:ext uri="{FF2B5EF4-FFF2-40B4-BE49-F238E27FC236}">
                <a16:creationId xmlns:a16="http://schemas.microsoft.com/office/drawing/2014/main" id="{977DB73F-46D8-EC9F-B58F-07088E9836BB}"/>
              </a:ext>
            </a:extLst>
          </p:cNvPr>
          <p:cNvSpPr/>
          <p:nvPr/>
        </p:nvSpPr>
        <p:spPr>
          <a:xfrm>
            <a:off x="6428232" y="548182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253" name="Text 90">
            <a:extLst>
              <a:ext uri="{FF2B5EF4-FFF2-40B4-BE49-F238E27FC236}">
                <a16:creationId xmlns:a16="http://schemas.microsoft.com/office/drawing/2014/main" id="{31C1FFDF-78D9-B36E-4CB9-C063024A9083}"/>
              </a:ext>
            </a:extLst>
          </p:cNvPr>
          <p:cNvSpPr/>
          <p:nvPr/>
        </p:nvSpPr>
        <p:spPr>
          <a:xfrm>
            <a:off x="7616952" y="5481828"/>
            <a:ext cx="3886200" cy="187452"/>
          </a:xfrm>
          <a:prstGeom prst="rect">
            <a:avLst/>
          </a:prstGeom>
          <a:noFill/>
          <a:ln/>
        </p:spPr>
        <p:txBody>
          <a:bodyPr wrap="square" lIns="0" tIns="0" rIns="0" bIns="0" rtlCol="0" anchor="ctr"/>
          <a:lstStyle/>
          <a:p>
            <a:pPr marL="0" indent="0">
              <a:buNone/>
            </a:pPr>
            <a:r>
              <a:rPr lang="en-US" sz="1300" b="1" dirty="0">
                <a:solidFill>
                  <a:srgbClr val="44663F"/>
                </a:solidFill>
                <a:latin typeface="Calibri" pitchFamily="34" charset="0"/>
                <a:ea typeface="Calibri" pitchFamily="34" charset="-122"/>
                <a:cs typeface="Calibri" pitchFamily="34" charset="-120"/>
              </a:rPr>
              <a:t>gpt-oss-120b</a:t>
            </a:r>
            <a:endParaRPr lang="en-US" sz="1300" dirty="0"/>
          </a:p>
        </p:txBody>
      </p:sp>
      <p:sp>
        <p:nvSpPr>
          <p:cNvPr id="255" name="Shape 91">
            <a:extLst>
              <a:ext uri="{FF2B5EF4-FFF2-40B4-BE49-F238E27FC236}">
                <a16:creationId xmlns:a16="http://schemas.microsoft.com/office/drawing/2014/main" id="{7B96C6E8-1D85-77C4-5D24-D438124C1154}"/>
              </a:ext>
            </a:extLst>
          </p:cNvPr>
          <p:cNvSpPr/>
          <p:nvPr/>
        </p:nvSpPr>
        <p:spPr>
          <a:xfrm>
            <a:off x="6400800" y="5705856"/>
            <a:ext cx="5129784" cy="475488"/>
          </a:xfrm>
          <a:prstGeom prst="roundRect">
            <a:avLst>
              <a:gd name="adj" fmla="val 7692"/>
            </a:avLst>
          </a:prstGeom>
          <a:solidFill>
            <a:srgbClr val="FFFFFF"/>
          </a:solidFill>
          <a:ln w="12700">
            <a:solidFill>
              <a:srgbClr val="CEDCC7"/>
            </a:solidFill>
            <a:prstDash val="solid"/>
          </a:ln>
        </p:spPr>
        <p:txBody>
          <a:bodyPr/>
          <a:lstStyle/>
          <a:p>
            <a:endParaRPr lang="en-IN"/>
          </a:p>
        </p:txBody>
      </p:sp>
      <p:sp>
        <p:nvSpPr>
          <p:cNvPr id="257" name="Text 92">
            <a:extLst>
              <a:ext uri="{FF2B5EF4-FFF2-40B4-BE49-F238E27FC236}">
                <a16:creationId xmlns:a16="http://schemas.microsoft.com/office/drawing/2014/main" id="{7FF038C5-01D4-E0C6-B66C-6DF253269529}"/>
              </a:ext>
            </a:extLst>
          </p:cNvPr>
          <p:cNvSpPr/>
          <p:nvPr/>
        </p:nvSpPr>
        <p:spPr>
          <a:xfrm>
            <a:off x="6446520"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0.2732</a:t>
            </a:r>
            <a:endParaRPr lang="en-US" sz="1300" dirty="0"/>
          </a:p>
        </p:txBody>
      </p:sp>
      <p:sp>
        <p:nvSpPr>
          <p:cNvPr id="259" name="Text 93">
            <a:extLst>
              <a:ext uri="{FF2B5EF4-FFF2-40B4-BE49-F238E27FC236}">
                <a16:creationId xmlns:a16="http://schemas.microsoft.com/office/drawing/2014/main" id="{6AAC195D-F488-6644-3F06-885D1B086193}"/>
              </a:ext>
            </a:extLst>
          </p:cNvPr>
          <p:cNvSpPr/>
          <p:nvPr/>
        </p:nvSpPr>
        <p:spPr>
          <a:xfrm>
            <a:off x="7454189"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0.1762</a:t>
            </a:r>
            <a:endParaRPr lang="en-US" sz="1300" dirty="0"/>
          </a:p>
        </p:txBody>
      </p:sp>
      <p:sp>
        <p:nvSpPr>
          <p:cNvPr id="261" name="Text 94">
            <a:extLst>
              <a:ext uri="{FF2B5EF4-FFF2-40B4-BE49-F238E27FC236}">
                <a16:creationId xmlns:a16="http://schemas.microsoft.com/office/drawing/2014/main" id="{2BB8F599-0463-3AFD-22B6-842F3FEF669B}"/>
              </a:ext>
            </a:extLst>
          </p:cNvPr>
          <p:cNvSpPr/>
          <p:nvPr/>
        </p:nvSpPr>
        <p:spPr>
          <a:xfrm>
            <a:off x="8461858"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0.6179</a:t>
            </a:r>
            <a:endParaRPr lang="en-US" sz="1300" dirty="0"/>
          </a:p>
        </p:txBody>
      </p:sp>
      <p:sp>
        <p:nvSpPr>
          <p:cNvPr id="263" name="Text 95">
            <a:extLst>
              <a:ext uri="{FF2B5EF4-FFF2-40B4-BE49-F238E27FC236}">
                <a16:creationId xmlns:a16="http://schemas.microsoft.com/office/drawing/2014/main" id="{DBEC3786-0E8F-8BF4-7A62-285F540C9424}"/>
              </a:ext>
            </a:extLst>
          </p:cNvPr>
          <p:cNvSpPr/>
          <p:nvPr/>
        </p:nvSpPr>
        <p:spPr>
          <a:xfrm>
            <a:off x="9469526"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44663F"/>
                </a:solidFill>
                <a:latin typeface="Calibri" pitchFamily="34" charset="0"/>
                <a:ea typeface="Calibri" pitchFamily="34" charset="-122"/>
                <a:cs typeface="Calibri" pitchFamily="34" charset="-120"/>
              </a:rPr>
              <a:t>0.5282</a:t>
            </a:r>
            <a:endParaRPr lang="en-US" sz="1300" dirty="0"/>
          </a:p>
        </p:txBody>
      </p:sp>
      <p:sp>
        <p:nvSpPr>
          <p:cNvPr id="265" name="Text 96">
            <a:extLst>
              <a:ext uri="{FF2B5EF4-FFF2-40B4-BE49-F238E27FC236}">
                <a16:creationId xmlns:a16="http://schemas.microsoft.com/office/drawing/2014/main" id="{4ACE3B1C-B8C6-65A0-0B41-81858DDB5436}"/>
              </a:ext>
            </a:extLst>
          </p:cNvPr>
          <p:cNvSpPr/>
          <p:nvPr/>
        </p:nvSpPr>
        <p:spPr>
          <a:xfrm>
            <a:off x="10477195"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200</a:t>
            </a:r>
            <a:endParaRPr lang="en-US" sz="1300" dirty="0"/>
          </a:p>
        </p:txBody>
      </p:sp>
      <p:sp>
        <p:nvSpPr>
          <p:cNvPr id="267" name="Text 97">
            <a:extLst>
              <a:ext uri="{FF2B5EF4-FFF2-40B4-BE49-F238E27FC236}">
                <a16:creationId xmlns:a16="http://schemas.microsoft.com/office/drawing/2014/main" id="{AAAF780C-B9AD-F6BF-DE88-8DE4240739D2}"/>
              </a:ext>
            </a:extLst>
          </p:cNvPr>
          <p:cNvSpPr/>
          <p:nvPr/>
        </p:nvSpPr>
        <p:spPr>
          <a:xfrm>
            <a:off x="457200" y="6272784"/>
            <a:ext cx="11274552" cy="219456"/>
          </a:xfrm>
          <a:prstGeom prst="rect">
            <a:avLst/>
          </a:prstGeom>
          <a:noFill/>
          <a:ln/>
        </p:spPr>
        <p:txBody>
          <a:bodyPr wrap="square" lIns="0" tIns="0" rIns="0" bIns="0" rtlCol="0" anchor="ctr"/>
          <a:lstStyle/>
          <a:p>
            <a:pPr marL="0" indent="0">
              <a:buNone/>
            </a:pPr>
            <a:r>
              <a:rPr lang="en-US" sz="1300" i="1" dirty="0">
                <a:solidFill>
                  <a:srgbClr val="6E675E"/>
                </a:solidFill>
                <a:latin typeface="Calibri" pitchFamily="34" charset="0"/>
                <a:ea typeface="Calibri" pitchFamily="34" charset="-122"/>
                <a:cs typeface="Calibri" pitchFamily="34" charset="-120"/>
              </a:rPr>
              <a:t>Same chunker, different generator. The ladder's gpt-oss-120b beats the grid's fixed 70b on adherence.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AB58F6B4-E0EC-CFBC-EA56-ADC187AABC7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04A1E83A-1898-051C-0342-B84FD4567DA3}"/>
              </a:ext>
            </a:extLst>
          </p:cNvPr>
          <p:cNvSpPr/>
          <p:nvPr/>
        </p:nvSpPr>
        <p:spPr>
          <a:xfrm>
            <a:off x="0" y="0"/>
            <a:ext cx="12188952" cy="1078992"/>
          </a:xfrm>
          <a:prstGeom prst="roundRect">
            <a:avLst/>
          </a:prstGeom>
          <a:solidFill>
            <a:srgbClr val="FFFFFF"/>
          </a:solidFill>
          <a:ln/>
        </p:spPr>
        <p:txBody>
          <a:bodyPr/>
          <a:lstStyle/>
          <a:p>
            <a:endParaRPr lang="en-IN"/>
          </a:p>
        </p:txBody>
      </p:sp>
      <p:sp>
        <p:nvSpPr>
          <p:cNvPr id="4" name="Text 2">
            <a:extLst>
              <a:ext uri="{FF2B5EF4-FFF2-40B4-BE49-F238E27FC236}">
                <a16:creationId xmlns:a16="http://schemas.microsoft.com/office/drawing/2014/main" id="{99F7C05E-7A0E-E4EF-F0AB-2F1A8CA5FFBC}"/>
              </a:ext>
            </a:extLst>
          </p:cNvPr>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Comparison</a:t>
            </a:r>
            <a:endParaRPr lang="en-US" sz="2400" dirty="0"/>
          </a:p>
        </p:txBody>
      </p:sp>
      <p:sp>
        <p:nvSpPr>
          <p:cNvPr id="5" name="Text 3">
            <a:extLst>
              <a:ext uri="{FF2B5EF4-FFF2-40B4-BE49-F238E27FC236}">
                <a16:creationId xmlns:a16="http://schemas.microsoft.com/office/drawing/2014/main" id="{874526DF-F888-2E6A-2F11-9079345AF8C4}"/>
              </a:ext>
            </a:extLst>
          </p:cNvPr>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In two domains the leading configurations split the metrics. Picking the highest AUCROC would have given a different answer.</a:t>
            </a:r>
            <a:endParaRPr lang="en-US" sz="1250" dirty="0"/>
          </a:p>
        </p:txBody>
      </p:sp>
      <p:sp>
        <p:nvSpPr>
          <p:cNvPr id="8" name="Text 2">
            <a:extLst>
              <a:ext uri="{FF2B5EF4-FFF2-40B4-BE49-F238E27FC236}">
                <a16:creationId xmlns:a16="http://schemas.microsoft.com/office/drawing/2014/main" id="{6D18DA33-1D5E-94E2-BBB5-CE3F1A05EEAA}"/>
              </a:ext>
            </a:extLst>
          </p:cNvPr>
          <p:cNvSpPr/>
          <p:nvPr/>
        </p:nvSpPr>
        <p:spPr>
          <a:xfrm>
            <a:off x="457200" y="932688"/>
            <a:ext cx="7863840" cy="256032"/>
          </a:xfrm>
          <a:prstGeom prst="rect">
            <a:avLst/>
          </a:prstGeom>
          <a:noFill/>
          <a:ln/>
        </p:spPr>
        <p:txBody>
          <a:bodyPr wrap="square" lIns="0" tIns="0" rIns="0" bIns="0" rtlCol="0" anchor="ctr"/>
          <a:lstStyle/>
          <a:p>
            <a:pPr marL="0" indent="0">
              <a:buNone/>
            </a:pPr>
            <a:r>
              <a:rPr lang="en-US" sz="1600" b="1" dirty="0">
                <a:solidFill>
                  <a:srgbClr val="5A4A3C"/>
                </a:solidFill>
                <a:latin typeface="Cambria" pitchFamily="34" charset="0"/>
                <a:ea typeface="Cambria" pitchFamily="34" charset="-122"/>
                <a:cs typeface="Cambria" pitchFamily="34" charset="-120"/>
              </a:rPr>
              <a:t>Legal  ·  CUAD</a:t>
            </a:r>
            <a:endParaRPr lang="en-US" sz="1600" dirty="0"/>
          </a:p>
        </p:txBody>
      </p:sp>
      <p:sp>
        <p:nvSpPr>
          <p:cNvPr id="10" name="Shape 3">
            <a:extLst>
              <a:ext uri="{FF2B5EF4-FFF2-40B4-BE49-F238E27FC236}">
                <a16:creationId xmlns:a16="http://schemas.microsoft.com/office/drawing/2014/main" id="{7722F3BF-0D2F-D826-AD31-D4211A85A9EF}"/>
              </a:ext>
            </a:extLst>
          </p:cNvPr>
          <p:cNvSpPr/>
          <p:nvPr/>
        </p:nvSpPr>
        <p:spPr>
          <a:xfrm>
            <a:off x="457200" y="1207008"/>
            <a:ext cx="5532120" cy="2176272"/>
          </a:xfrm>
          <a:prstGeom prst="roundRect">
            <a:avLst>
              <a:gd name="adj" fmla="val 2521"/>
            </a:avLst>
          </a:prstGeom>
          <a:solidFill>
            <a:srgbClr val="FAF4ED"/>
          </a:solidFill>
          <a:ln w="12700">
            <a:solidFill>
              <a:srgbClr val="E0D0BC"/>
            </a:solidFill>
            <a:prstDash val="solid"/>
          </a:ln>
        </p:spPr>
        <p:txBody>
          <a:bodyPr/>
          <a:lstStyle/>
          <a:p>
            <a:endParaRPr lang="en-IN"/>
          </a:p>
        </p:txBody>
      </p:sp>
      <p:sp>
        <p:nvSpPr>
          <p:cNvPr id="12" name="Shape 4">
            <a:extLst>
              <a:ext uri="{FF2B5EF4-FFF2-40B4-BE49-F238E27FC236}">
                <a16:creationId xmlns:a16="http://schemas.microsoft.com/office/drawing/2014/main" id="{8E8E77F5-751C-AA7D-CDE0-BC3F2F9DAFF7}"/>
              </a:ext>
            </a:extLst>
          </p:cNvPr>
          <p:cNvSpPr/>
          <p:nvPr/>
        </p:nvSpPr>
        <p:spPr>
          <a:xfrm>
            <a:off x="658368" y="1362456"/>
            <a:ext cx="274320" cy="274320"/>
          </a:xfrm>
          <a:prstGeom prst="ellipse">
            <a:avLst/>
          </a:prstGeom>
          <a:solidFill>
            <a:srgbClr val="6B4423"/>
          </a:solidFill>
          <a:ln/>
        </p:spPr>
        <p:txBody>
          <a:bodyPr/>
          <a:lstStyle/>
          <a:p>
            <a:endParaRPr lang="en-IN"/>
          </a:p>
        </p:txBody>
      </p:sp>
      <p:sp>
        <p:nvSpPr>
          <p:cNvPr id="14" name="Text 5">
            <a:extLst>
              <a:ext uri="{FF2B5EF4-FFF2-40B4-BE49-F238E27FC236}">
                <a16:creationId xmlns:a16="http://schemas.microsoft.com/office/drawing/2014/main" id="{57177115-0F42-405A-C91F-713741E0B4A6}"/>
              </a:ext>
            </a:extLst>
          </p:cNvPr>
          <p:cNvSpPr/>
          <p:nvPr/>
        </p:nvSpPr>
        <p:spPr>
          <a:xfrm>
            <a:off x="658368" y="13624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16" name="Text 6">
            <a:extLst>
              <a:ext uri="{FF2B5EF4-FFF2-40B4-BE49-F238E27FC236}">
                <a16:creationId xmlns:a16="http://schemas.microsoft.com/office/drawing/2014/main" id="{59D19679-29B3-5AB9-3ECB-642686AE7CB7}"/>
              </a:ext>
            </a:extLst>
          </p:cNvPr>
          <p:cNvSpPr/>
          <p:nvPr/>
        </p:nvSpPr>
        <p:spPr>
          <a:xfrm>
            <a:off x="1005840" y="1353312"/>
            <a:ext cx="3017520" cy="292608"/>
          </a:xfrm>
          <a:prstGeom prst="rect">
            <a:avLst/>
          </a:prstGeom>
          <a:noFill/>
          <a:ln/>
        </p:spPr>
        <p:txBody>
          <a:bodyPr wrap="square" lIns="0" tIns="0" rIns="0" bIns="0" rtlCol="0" anchor="ctr"/>
          <a:lstStyle/>
          <a:p>
            <a:pPr marL="0" indent="0">
              <a:buNone/>
            </a:pPr>
            <a:r>
              <a:rPr lang="en-US" sz="1350" b="1" kern="0" spc="60" dirty="0">
                <a:solidFill>
                  <a:srgbClr val="6B4423"/>
                </a:solidFill>
                <a:latin typeface="Calibri" pitchFamily="34" charset="0"/>
                <a:ea typeface="Calibri" pitchFamily="34" charset="-122"/>
                <a:cs typeface="Calibri" pitchFamily="34" charset="-120"/>
              </a:rPr>
              <a:t>GREEDY  ·  stage-wise ladder</a:t>
            </a:r>
            <a:endParaRPr lang="en-US" sz="1350" dirty="0"/>
          </a:p>
        </p:txBody>
      </p:sp>
      <p:sp>
        <p:nvSpPr>
          <p:cNvPr id="18" name="Text 7">
            <a:extLst>
              <a:ext uri="{FF2B5EF4-FFF2-40B4-BE49-F238E27FC236}">
                <a16:creationId xmlns:a16="http://schemas.microsoft.com/office/drawing/2014/main" id="{3B9281DF-E6B5-D0DC-4D0D-36E1FFEBF4B9}"/>
              </a:ext>
            </a:extLst>
          </p:cNvPr>
          <p:cNvSpPr/>
          <p:nvPr/>
        </p:nvSpPr>
        <p:spPr>
          <a:xfrm>
            <a:off x="4087368" y="1353312"/>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LEGAL-EXP-FINAL</a:t>
            </a:r>
            <a:endParaRPr lang="en-US" sz="1300" dirty="0"/>
          </a:p>
        </p:txBody>
      </p:sp>
      <p:sp>
        <p:nvSpPr>
          <p:cNvPr id="20" name="Text 8">
            <a:extLst>
              <a:ext uri="{FF2B5EF4-FFF2-40B4-BE49-F238E27FC236}">
                <a16:creationId xmlns:a16="http://schemas.microsoft.com/office/drawing/2014/main" id="{45CFB0F8-27AB-11CB-3340-AEE19E20CEF0}"/>
              </a:ext>
            </a:extLst>
          </p:cNvPr>
          <p:cNvSpPr/>
          <p:nvPr/>
        </p:nvSpPr>
        <p:spPr>
          <a:xfrm>
            <a:off x="685800" y="164592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22" name="Text 9">
            <a:extLst>
              <a:ext uri="{FF2B5EF4-FFF2-40B4-BE49-F238E27FC236}">
                <a16:creationId xmlns:a16="http://schemas.microsoft.com/office/drawing/2014/main" id="{2A955C23-2773-6B7A-836A-460B96029EE8}"/>
              </a:ext>
            </a:extLst>
          </p:cNvPr>
          <p:cNvSpPr/>
          <p:nvPr/>
        </p:nvSpPr>
        <p:spPr>
          <a:xfrm>
            <a:off x="1874520" y="164592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Sentence 3s / 1o</a:t>
            </a:r>
            <a:endParaRPr lang="en-US" sz="1300" dirty="0"/>
          </a:p>
        </p:txBody>
      </p:sp>
      <p:sp>
        <p:nvSpPr>
          <p:cNvPr id="24" name="Text 10">
            <a:extLst>
              <a:ext uri="{FF2B5EF4-FFF2-40B4-BE49-F238E27FC236}">
                <a16:creationId xmlns:a16="http://schemas.microsoft.com/office/drawing/2014/main" id="{904B0C73-BE08-6CC5-7FBE-B50219716D6D}"/>
              </a:ext>
            </a:extLst>
          </p:cNvPr>
          <p:cNvSpPr/>
          <p:nvPr/>
        </p:nvSpPr>
        <p:spPr>
          <a:xfrm>
            <a:off x="685800" y="184251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26" name="Text 11">
            <a:extLst>
              <a:ext uri="{FF2B5EF4-FFF2-40B4-BE49-F238E27FC236}">
                <a16:creationId xmlns:a16="http://schemas.microsoft.com/office/drawing/2014/main" id="{6004BF2D-BAA4-6EE6-B093-A5EA2005552F}"/>
              </a:ext>
            </a:extLst>
          </p:cNvPr>
          <p:cNvSpPr/>
          <p:nvPr/>
        </p:nvSpPr>
        <p:spPr>
          <a:xfrm>
            <a:off x="1874520" y="184251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all-MiniLM-L6-v2</a:t>
            </a:r>
            <a:endParaRPr lang="en-US" sz="1300" dirty="0"/>
          </a:p>
        </p:txBody>
      </p:sp>
      <p:sp>
        <p:nvSpPr>
          <p:cNvPr id="28" name="Text 12">
            <a:extLst>
              <a:ext uri="{FF2B5EF4-FFF2-40B4-BE49-F238E27FC236}">
                <a16:creationId xmlns:a16="http://schemas.microsoft.com/office/drawing/2014/main" id="{AA4C64BE-40D3-AFC1-A3D2-C444CE79D64E}"/>
              </a:ext>
            </a:extLst>
          </p:cNvPr>
          <p:cNvSpPr/>
          <p:nvPr/>
        </p:nvSpPr>
        <p:spPr>
          <a:xfrm>
            <a:off x="685800" y="203911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30" name="Text 13">
            <a:extLst>
              <a:ext uri="{FF2B5EF4-FFF2-40B4-BE49-F238E27FC236}">
                <a16:creationId xmlns:a16="http://schemas.microsoft.com/office/drawing/2014/main" id="{B8805A66-0EA1-54C8-F917-2534FE1EAC3E}"/>
              </a:ext>
            </a:extLst>
          </p:cNvPr>
          <p:cNvSpPr/>
          <p:nvPr/>
        </p:nvSpPr>
        <p:spPr>
          <a:xfrm>
            <a:off x="1874520" y="2039112"/>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FAISS dense, k=5</a:t>
            </a:r>
            <a:endParaRPr lang="en-US" sz="1300" dirty="0"/>
          </a:p>
        </p:txBody>
      </p:sp>
      <p:sp>
        <p:nvSpPr>
          <p:cNvPr id="32" name="Text 14">
            <a:extLst>
              <a:ext uri="{FF2B5EF4-FFF2-40B4-BE49-F238E27FC236}">
                <a16:creationId xmlns:a16="http://schemas.microsoft.com/office/drawing/2014/main" id="{09D08D27-5230-8F97-E033-BAE8504941E9}"/>
              </a:ext>
            </a:extLst>
          </p:cNvPr>
          <p:cNvSpPr/>
          <p:nvPr/>
        </p:nvSpPr>
        <p:spPr>
          <a:xfrm>
            <a:off x="685800" y="223570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34" name="Text 15">
            <a:extLst>
              <a:ext uri="{FF2B5EF4-FFF2-40B4-BE49-F238E27FC236}">
                <a16:creationId xmlns:a16="http://schemas.microsoft.com/office/drawing/2014/main" id="{4F07BC31-841B-5046-8C10-3585D26A87B6}"/>
              </a:ext>
            </a:extLst>
          </p:cNvPr>
          <p:cNvSpPr/>
          <p:nvPr/>
        </p:nvSpPr>
        <p:spPr>
          <a:xfrm>
            <a:off x="1874520" y="223570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None + forward</a:t>
            </a:r>
            <a:endParaRPr lang="en-US" sz="1300" dirty="0"/>
          </a:p>
        </p:txBody>
      </p:sp>
      <p:sp>
        <p:nvSpPr>
          <p:cNvPr id="36" name="Text 16">
            <a:extLst>
              <a:ext uri="{FF2B5EF4-FFF2-40B4-BE49-F238E27FC236}">
                <a16:creationId xmlns:a16="http://schemas.microsoft.com/office/drawing/2014/main" id="{65E35406-2FD8-2EBB-AE61-235021F867A1}"/>
              </a:ext>
            </a:extLst>
          </p:cNvPr>
          <p:cNvSpPr/>
          <p:nvPr/>
        </p:nvSpPr>
        <p:spPr>
          <a:xfrm>
            <a:off x="685800" y="243230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38" name="Text 17">
            <a:extLst>
              <a:ext uri="{FF2B5EF4-FFF2-40B4-BE49-F238E27FC236}">
                <a16:creationId xmlns:a16="http://schemas.microsoft.com/office/drawing/2014/main" id="{801648BE-0226-78FD-F705-AB7B0B1FA571}"/>
              </a:ext>
            </a:extLst>
          </p:cNvPr>
          <p:cNvSpPr/>
          <p:nvPr/>
        </p:nvSpPr>
        <p:spPr>
          <a:xfrm>
            <a:off x="1874520" y="2432304"/>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gpt-oss-120b</a:t>
            </a:r>
            <a:endParaRPr lang="en-US" sz="1300" dirty="0"/>
          </a:p>
        </p:txBody>
      </p:sp>
      <p:sp>
        <p:nvSpPr>
          <p:cNvPr id="40" name="Text 18">
            <a:extLst>
              <a:ext uri="{FF2B5EF4-FFF2-40B4-BE49-F238E27FC236}">
                <a16:creationId xmlns:a16="http://schemas.microsoft.com/office/drawing/2014/main" id="{8E48B194-9E23-529F-8521-8F5314D3AEFD}"/>
              </a:ext>
            </a:extLst>
          </p:cNvPr>
          <p:cNvSpPr/>
          <p:nvPr/>
        </p:nvSpPr>
        <p:spPr>
          <a:xfrm>
            <a:off x="685800" y="262890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42" name="Text 19">
            <a:extLst>
              <a:ext uri="{FF2B5EF4-FFF2-40B4-BE49-F238E27FC236}">
                <a16:creationId xmlns:a16="http://schemas.microsoft.com/office/drawing/2014/main" id="{029361D1-EB32-8633-285A-E083BBE08CA8}"/>
              </a:ext>
            </a:extLst>
          </p:cNvPr>
          <p:cNvSpPr/>
          <p:nvPr/>
        </p:nvSpPr>
        <p:spPr>
          <a:xfrm>
            <a:off x="1874520" y="2628900"/>
            <a:ext cx="3886200" cy="187452"/>
          </a:xfrm>
          <a:prstGeom prst="rect">
            <a:avLst/>
          </a:prstGeom>
          <a:noFill/>
          <a:ln/>
        </p:spPr>
        <p:txBody>
          <a:bodyPr wrap="square" lIns="0" tIns="0" rIns="0" bIns="0" rtlCol="0" anchor="ctr"/>
          <a:lstStyle/>
          <a:p>
            <a:pPr marL="0" indent="0">
              <a:buNone/>
            </a:pPr>
            <a:r>
              <a:rPr lang="en-US" sz="1300" b="1" dirty="0">
                <a:solidFill>
                  <a:srgbClr val="6B4423"/>
                </a:solidFill>
                <a:latin typeface="Calibri" pitchFamily="34" charset="0"/>
                <a:ea typeface="Calibri" pitchFamily="34" charset="-122"/>
                <a:cs typeface="Calibri" pitchFamily="34" charset="-120"/>
              </a:rPr>
              <a:t>llama-3.3-70b</a:t>
            </a:r>
            <a:endParaRPr lang="en-US" sz="1300" dirty="0"/>
          </a:p>
        </p:txBody>
      </p:sp>
      <p:sp>
        <p:nvSpPr>
          <p:cNvPr id="44" name="Shape 20">
            <a:extLst>
              <a:ext uri="{FF2B5EF4-FFF2-40B4-BE49-F238E27FC236}">
                <a16:creationId xmlns:a16="http://schemas.microsoft.com/office/drawing/2014/main" id="{21237083-927F-CE37-95A0-EB126F97EDC8}"/>
              </a:ext>
            </a:extLst>
          </p:cNvPr>
          <p:cNvSpPr/>
          <p:nvPr/>
        </p:nvSpPr>
        <p:spPr>
          <a:xfrm>
            <a:off x="658368" y="2852928"/>
            <a:ext cx="5129784" cy="475488"/>
          </a:xfrm>
          <a:prstGeom prst="roundRect">
            <a:avLst>
              <a:gd name="adj" fmla="val 7692"/>
            </a:avLst>
          </a:prstGeom>
          <a:solidFill>
            <a:srgbClr val="FFFFFF"/>
          </a:solidFill>
          <a:ln w="12700">
            <a:solidFill>
              <a:srgbClr val="E0D0BC"/>
            </a:solidFill>
            <a:prstDash val="solid"/>
          </a:ln>
        </p:spPr>
        <p:txBody>
          <a:bodyPr/>
          <a:lstStyle/>
          <a:p>
            <a:endParaRPr lang="en-IN"/>
          </a:p>
        </p:txBody>
      </p:sp>
      <p:sp>
        <p:nvSpPr>
          <p:cNvPr id="46" name="Text 21">
            <a:extLst>
              <a:ext uri="{FF2B5EF4-FFF2-40B4-BE49-F238E27FC236}">
                <a16:creationId xmlns:a16="http://schemas.microsoft.com/office/drawing/2014/main" id="{9DC7958B-320F-B925-7F1A-CBA9FEC0399B}"/>
              </a:ext>
            </a:extLst>
          </p:cNvPr>
          <p:cNvSpPr/>
          <p:nvPr/>
        </p:nvSpPr>
        <p:spPr>
          <a:xfrm>
            <a:off x="704088"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0.4393</a:t>
            </a:r>
            <a:endParaRPr lang="en-US" sz="1300" dirty="0"/>
          </a:p>
        </p:txBody>
      </p:sp>
      <p:sp>
        <p:nvSpPr>
          <p:cNvPr id="48" name="Text 22">
            <a:extLst>
              <a:ext uri="{FF2B5EF4-FFF2-40B4-BE49-F238E27FC236}">
                <a16:creationId xmlns:a16="http://schemas.microsoft.com/office/drawing/2014/main" id="{6BF08D6A-048B-FD00-BF4A-C20F24B9F735}"/>
              </a:ext>
            </a:extLst>
          </p:cNvPr>
          <p:cNvSpPr/>
          <p:nvPr/>
        </p:nvSpPr>
        <p:spPr>
          <a:xfrm>
            <a:off x="1711757"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0.2616</a:t>
            </a:r>
            <a:endParaRPr lang="en-US" sz="1300" dirty="0"/>
          </a:p>
        </p:txBody>
      </p:sp>
      <p:sp>
        <p:nvSpPr>
          <p:cNvPr id="50" name="Text 23">
            <a:extLst>
              <a:ext uri="{FF2B5EF4-FFF2-40B4-BE49-F238E27FC236}">
                <a16:creationId xmlns:a16="http://schemas.microsoft.com/office/drawing/2014/main" id="{0A2D9CEE-B472-72B2-FAB4-C3739C3A36CF}"/>
              </a:ext>
            </a:extLst>
          </p:cNvPr>
          <p:cNvSpPr/>
          <p:nvPr/>
        </p:nvSpPr>
        <p:spPr>
          <a:xfrm>
            <a:off x="2719426"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0.5779</a:t>
            </a:r>
            <a:endParaRPr lang="en-US" sz="1300" dirty="0"/>
          </a:p>
        </p:txBody>
      </p:sp>
      <p:sp>
        <p:nvSpPr>
          <p:cNvPr id="52" name="Text 24">
            <a:extLst>
              <a:ext uri="{FF2B5EF4-FFF2-40B4-BE49-F238E27FC236}">
                <a16:creationId xmlns:a16="http://schemas.microsoft.com/office/drawing/2014/main" id="{3977FC57-D510-6343-F417-D852B22B9B2C}"/>
              </a:ext>
            </a:extLst>
          </p:cNvPr>
          <p:cNvSpPr/>
          <p:nvPr/>
        </p:nvSpPr>
        <p:spPr>
          <a:xfrm>
            <a:off x="3727094"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6B4423"/>
                </a:solidFill>
                <a:latin typeface="Calibri" pitchFamily="34" charset="0"/>
                <a:ea typeface="Calibri" pitchFamily="34" charset="-122"/>
                <a:cs typeface="Calibri" pitchFamily="34" charset="-120"/>
              </a:rPr>
              <a:t>0.5334</a:t>
            </a:r>
            <a:endParaRPr lang="en-US" sz="1300" dirty="0"/>
          </a:p>
        </p:txBody>
      </p:sp>
      <p:sp>
        <p:nvSpPr>
          <p:cNvPr id="54" name="Text 25">
            <a:extLst>
              <a:ext uri="{FF2B5EF4-FFF2-40B4-BE49-F238E27FC236}">
                <a16:creationId xmlns:a16="http://schemas.microsoft.com/office/drawing/2014/main" id="{23AE3114-612B-10D7-E19E-FE7A8177A19F}"/>
              </a:ext>
            </a:extLst>
          </p:cNvPr>
          <p:cNvSpPr/>
          <p:nvPr/>
        </p:nvSpPr>
        <p:spPr>
          <a:xfrm>
            <a:off x="4734763"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200</a:t>
            </a:r>
            <a:endParaRPr lang="en-US" sz="1300" dirty="0"/>
          </a:p>
        </p:txBody>
      </p:sp>
      <p:sp>
        <p:nvSpPr>
          <p:cNvPr id="56" name="Shape 26">
            <a:extLst>
              <a:ext uri="{FF2B5EF4-FFF2-40B4-BE49-F238E27FC236}">
                <a16:creationId xmlns:a16="http://schemas.microsoft.com/office/drawing/2014/main" id="{8F85AF03-BDD8-A8C5-C048-D18A5E8A53CE}"/>
              </a:ext>
            </a:extLst>
          </p:cNvPr>
          <p:cNvSpPr/>
          <p:nvPr/>
        </p:nvSpPr>
        <p:spPr>
          <a:xfrm>
            <a:off x="6199632" y="1207008"/>
            <a:ext cx="5532120" cy="2176272"/>
          </a:xfrm>
          <a:prstGeom prst="roundRect">
            <a:avLst>
              <a:gd name="adj" fmla="val 2521"/>
            </a:avLst>
          </a:prstGeom>
          <a:solidFill>
            <a:srgbClr val="F1F5EE"/>
          </a:solidFill>
          <a:ln w="12700">
            <a:solidFill>
              <a:srgbClr val="CEDCC7"/>
            </a:solidFill>
            <a:prstDash val="solid"/>
          </a:ln>
        </p:spPr>
        <p:txBody>
          <a:bodyPr/>
          <a:lstStyle/>
          <a:p>
            <a:endParaRPr lang="en-IN"/>
          </a:p>
        </p:txBody>
      </p:sp>
      <p:sp>
        <p:nvSpPr>
          <p:cNvPr id="58" name="Shape 27">
            <a:extLst>
              <a:ext uri="{FF2B5EF4-FFF2-40B4-BE49-F238E27FC236}">
                <a16:creationId xmlns:a16="http://schemas.microsoft.com/office/drawing/2014/main" id="{4B1C9218-4B7D-7E89-2495-B965758A0049}"/>
              </a:ext>
            </a:extLst>
          </p:cNvPr>
          <p:cNvSpPr/>
          <p:nvPr/>
        </p:nvSpPr>
        <p:spPr>
          <a:xfrm>
            <a:off x="6400800" y="1362456"/>
            <a:ext cx="274320" cy="274320"/>
          </a:xfrm>
          <a:prstGeom prst="ellipse">
            <a:avLst/>
          </a:prstGeom>
          <a:solidFill>
            <a:srgbClr val="44663F"/>
          </a:solidFill>
          <a:ln/>
        </p:spPr>
        <p:txBody>
          <a:bodyPr/>
          <a:lstStyle/>
          <a:p>
            <a:endParaRPr lang="en-IN"/>
          </a:p>
        </p:txBody>
      </p:sp>
      <p:sp>
        <p:nvSpPr>
          <p:cNvPr id="60" name="Text 28">
            <a:extLst>
              <a:ext uri="{FF2B5EF4-FFF2-40B4-BE49-F238E27FC236}">
                <a16:creationId xmlns:a16="http://schemas.microsoft.com/office/drawing/2014/main" id="{4158643E-35DB-2462-F5CF-09A99D22E3B7}"/>
              </a:ext>
            </a:extLst>
          </p:cNvPr>
          <p:cNvSpPr/>
          <p:nvPr/>
        </p:nvSpPr>
        <p:spPr>
          <a:xfrm>
            <a:off x="6400800" y="13624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62" name="Text 29">
            <a:extLst>
              <a:ext uri="{FF2B5EF4-FFF2-40B4-BE49-F238E27FC236}">
                <a16:creationId xmlns:a16="http://schemas.microsoft.com/office/drawing/2014/main" id="{C2D38570-E237-FEEC-814E-904C81FFA9D2}"/>
              </a:ext>
            </a:extLst>
          </p:cNvPr>
          <p:cNvSpPr/>
          <p:nvPr/>
        </p:nvSpPr>
        <p:spPr>
          <a:xfrm>
            <a:off x="6748272" y="1353312"/>
            <a:ext cx="3017520" cy="292608"/>
          </a:xfrm>
          <a:prstGeom prst="rect">
            <a:avLst/>
          </a:prstGeom>
          <a:noFill/>
          <a:ln/>
        </p:spPr>
        <p:txBody>
          <a:bodyPr wrap="square" lIns="0" tIns="0" rIns="0" bIns="0" rtlCol="0" anchor="ctr"/>
          <a:lstStyle/>
          <a:p>
            <a:pPr marL="0" indent="0">
              <a:buNone/>
            </a:pPr>
            <a:r>
              <a:rPr lang="en-US" sz="1350" b="1" kern="0" spc="60" dirty="0">
                <a:solidFill>
                  <a:srgbClr val="44663F"/>
                </a:solidFill>
                <a:latin typeface="Calibri" pitchFamily="34" charset="0"/>
                <a:ea typeface="Calibri" pitchFamily="34" charset="-122"/>
                <a:cs typeface="Calibri" pitchFamily="34" charset="-120"/>
              </a:rPr>
              <a:t>FACTORIAL  ·  full grid</a:t>
            </a:r>
            <a:endParaRPr lang="en-US" sz="1350" dirty="0"/>
          </a:p>
        </p:txBody>
      </p:sp>
      <p:sp>
        <p:nvSpPr>
          <p:cNvPr id="64" name="Text 30">
            <a:extLst>
              <a:ext uri="{FF2B5EF4-FFF2-40B4-BE49-F238E27FC236}">
                <a16:creationId xmlns:a16="http://schemas.microsoft.com/office/drawing/2014/main" id="{FFC5FD8A-1801-E4E9-4E4E-A2DE259608D5}"/>
              </a:ext>
            </a:extLst>
          </p:cNvPr>
          <p:cNvSpPr/>
          <p:nvPr/>
        </p:nvSpPr>
        <p:spPr>
          <a:xfrm>
            <a:off x="9829800" y="1353312"/>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LEG-025</a:t>
            </a:r>
            <a:endParaRPr lang="en-US" sz="1300" dirty="0"/>
          </a:p>
        </p:txBody>
      </p:sp>
      <p:sp>
        <p:nvSpPr>
          <p:cNvPr id="66" name="Text 31">
            <a:extLst>
              <a:ext uri="{FF2B5EF4-FFF2-40B4-BE49-F238E27FC236}">
                <a16:creationId xmlns:a16="http://schemas.microsoft.com/office/drawing/2014/main" id="{74864956-E874-9FF4-D005-B8FBB92E8512}"/>
              </a:ext>
            </a:extLst>
          </p:cNvPr>
          <p:cNvSpPr/>
          <p:nvPr/>
        </p:nvSpPr>
        <p:spPr>
          <a:xfrm>
            <a:off x="6428232" y="164592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68" name="Text 32">
            <a:extLst>
              <a:ext uri="{FF2B5EF4-FFF2-40B4-BE49-F238E27FC236}">
                <a16:creationId xmlns:a16="http://schemas.microsoft.com/office/drawing/2014/main" id="{A32F78CD-43A8-32A8-3D0F-31C2BE92F1A4}"/>
              </a:ext>
            </a:extLst>
          </p:cNvPr>
          <p:cNvSpPr/>
          <p:nvPr/>
        </p:nvSpPr>
        <p:spPr>
          <a:xfrm>
            <a:off x="7616952" y="164592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sliding_5o2</a:t>
            </a:r>
            <a:endParaRPr lang="en-US" sz="1300" dirty="0"/>
          </a:p>
        </p:txBody>
      </p:sp>
      <p:sp>
        <p:nvSpPr>
          <p:cNvPr id="70" name="Text 33">
            <a:extLst>
              <a:ext uri="{FF2B5EF4-FFF2-40B4-BE49-F238E27FC236}">
                <a16:creationId xmlns:a16="http://schemas.microsoft.com/office/drawing/2014/main" id="{3ED86CF5-CB72-BB53-83AD-0025BEADF11C}"/>
              </a:ext>
            </a:extLst>
          </p:cNvPr>
          <p:cNvSpPr/>
          <p:nvPr/>
        </p:nvSpPr>
        <p:spPr>
          <a:xfrm>
            <a:off x="6428232" y="184251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72" name="Text 34">
            <a:extLst>
              <a:ext uri="{FF2B5EF4-FFF2-40B4-BE49-F238E27FC236}">
                <a16:creationId xmlns:a16="http://schemas.microsoft.com/office/drawing/2014/main" id="{AF847378-23A4-51AF-B409-29F26751BDCD}"/>
              </a:ext>
            </a:extLst>
          </p:cNvPr>
          <p:cNvSpPr/>
          <p:nvPr/>
        </p:nvSpPr>
        <p:spPr>
          <a:xfrm>
            <a:off x="7616952" y="184251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legal-bert-base-uncased</a:t>
            </a:r>
            <a:endParaRPr lang="en-US" sz="1300" dirty="0"/>
          </a:p>
        </p:txBody>
      </p:sp>
      <p:sp>
        <p:nvSpPr>
          <p:cNvPr id="74" name="Text 35">
            <a:extLst>
              <a:ext uri="{FF2B5EF4-FFF2-40B4-BE49-F238E27FC236}">
                <a16:creationId xmlns:a16="http://schemas.microsoft.com/office/drawing/2014/main" id="{E66CCFC2-C62B-C818-426A-3CA8084EF4CE}"/>
              </a:ext>
            </a:extLst>
          </p:cNvPr>
          <p:cNvSpPr/>
          <p:nvPr/>
        </p:nvSpPr>
        <p:spPr>
          <a:xfrm>
            <a:off x="6428232" y="203911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76" name="Text 36">
            <a:extLst>
              <a:ext uri="{FF2B5EF4-FFF2-40B4-BE49-F238E27FC236}">
                <a16:creationId xmlns:a16="http://schemas.microsoft.com/office/drawing/2014/main" id="{64542E20-9712-F935-6459-FEDE8E2BDFBA}"/>
              </a:ext>
            </a:extLst>
          </p:cNvPr>
          <p:cNvSpPr/>
          <p:nvPr/>
        </p:nvSpPr>
        <p:spPr>
          <a:xfrm>
            <a:off x="7616952" y="2039112"/>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dense, k=5</a:t>
            </a:r>
            <a:endParaRPr lang="en-US" sz="1300" dirty="0"/>
          </a:p>
        </p:txBody>
      </p:sp>
      <p:sp>
        <p:nvSpPr>
          <p:cNvPr id="78" name="Text 37">
            <a:extLst>
              <a:ext uri="{FF2B5EF4-FFF2-40B4-BE49-F238E27FC236}">
                <a16:creationId xmlns:a16="http://schemas.microsoft.com/office/drawing/2014/main" id="{0B71B948-7ADE-CFA0-0A89-D21B8BD1380F}"/>
              </a:ext>
            </a:extLst>
          </p:cNvPr>
          <p:cNvSpPr/>
          <p:nvPr/>
        </p:nvSpPr>
        <p:spPr>
          <a:xfrm>
            <a:off x="6428232" y="223570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82" name="Text 38">
            <a:extLst>
              <a:ext uri="{FF2B5EF4-FFF2-40B4-BE49-F238E27FC236}">
                <a16:creationId xmlns:a16="http://schemas.microsoft.com/office/drawing/2014/main" id="{0309DD19-2DE1-D57D-10D2-3CC64F283EE7}"/>
              </a:ext>
            </a:extLst>
          </p:cNvPr>
          <p:cNvSpPr/>
          <p:nvPr/>
        </p:nvSpPr>
        <p:spPr>
          <a:xfrm>
            <a:off x="7616952" y="223570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None + forward</a:t>
            </a:r>
            <a:endParaRPr lang="en-US" sz="1300" dirty="0"/>
          </a:p>
        </p:txBody>
      </p:sp>
      <p:sp>
        <p:nvSpPr>
          <p:cNvPr id="86" name="Text 39">
            <a:extLst>
              <a:ext uri="{FF2B5EF4-FFF2-40B4-BE49-F238E27FC236}">
                <a16:creationId xmlns:a16="http://schemas.microsoft.com/office/drawing/2014/main" id="{C2B96468-5BEE-E4B0-05F0-5922DADFDAB6}"/>
              </a:ext>
            </a:extLst>
          </p:cNvPr>
          <p:cNvSpPr/>
          <p:nvPr/>
        </p:nvSpPr>
        <p:spPr>
          <a:xfrm>
            <a:off x="6428232" y="243230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90" name="Text 40">
            <a:extLst>
              <a:ext uri="{FF2B5EF4-FFF2-40B4-BE49-F238E27FC236}">
                <a16:creationId xmlns:a16="http://schemas.microsoft.com/office/drawing/2014/main" id="{350D2EA5-3FCD-AD72-9163-699961F07E06}"/>
              </a:ext>
            </a:extLst>
          </p:cNvPr>
          <p:cNvSpPr/>
          <p:nvPr/>
        </p:nvSpPr>
        <p:spPr>
          <a:xfrm>
            <a:off x="7616952" y="2432304"/>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94" name="Text 41">
            <a:extLst>
              <a:ext uri="{FF2B5EF4-FFF2-40B4-BE49-F238E27FC236}">
                <a16:creationId xmlns:a16="http://schemas.microsoft.com/office/drawing/2014/main" id="{839DCDDC-FA94-9535-D022-887C8263AC31}"/>
              </a:ext>
            </a:extLst>
          </p:cNvPr>
          <p:cNvSpPr/>
          <p:nvPr/>
        </p:nvSpPr>
        <p:spPr>
          <a:xfrm>
            <a:off x="6428232" y="262890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98" name="Text 42">
            <a:extLst>
              <a:ext uri="{FF2B5EF4-FFF2-40B4-BE49-F238E27FC236}">
                <a16:creationId xmlns:a16="http://schemas.microsoft.com/office/drawing/2014/main" id="{A2B166CE-B109-5E79-AA1E-B81D1CD3ADDC}"/>
              </a:ext>
            </a:extLst>
          </p:cNvPr>
          <p:cNvSpPr/>
          <p:nvPr/>
        </p:nvSpPr>
        <p:spPr>
          <a:xfrm>
            <a:off x="7616952" y="2628900"/>
            <a:ext cx="3886200" cy="187452"/>
          </a:xfrm>
          <a:prstGeom prst="rect">
            <a:avLst/>
          </a:prstGeom>
          <a:noFill/>
          <a:ln/>
        </p:spPr>
        <p:txBody>
          <a:bodyPr wrap="square" lIns="0" tIns="0" rIns="0" bIns="0" rtlCol="0" anchor="ctr"/>
          <a:lstStyle/>
          <a:p>
            <a:pPr marL="0" indent="0">
              <a:buNone/>
            </a:pPr>
            <a:r>
              <a:rPr lang="en-US" sz="1300" b="1" dirty="0">
                <a:solidFill>
                  <a:srgbClr val="44663F"/>
                </a:solidFill>
                <a:latin typeface="Calibri" pitchFamily="34" charset="0"/>
                <a:ea typeface="Calibri" pitchFamily="34" charset="-122"/>
                <a:cs typeface="Calibri" pitchFamily="34" charset="-120"/>
              </a:rPr>
              <a:t>gpt-oss-120b</a:t>
            </a:r>
            <a:endParaRPr lang="en-US" sz="1300" dirty="0"/>
          </a:p>
        </p:txBody>
      </p:sp>
      <p:sp>
        <p:nvSpPr>
          <p:cNvPr id="102" name="Shape 43">
            <a:extLst>
              <a:ext uri="{FF2B5EF4-FFF2-40B4-BE49-F238E27FC236}">
                <a16:creationId xmlns:a16="http://schemas.microsoft.com/office/drawing/2014/main" id="{403D599B-0AC5-9D72-F4D9-C0ECD9A8D297}"/>
              </a:ext>
            </a:extLst>
          </p:cNvPr>
          <p:cNvSpPr/>
          <p:nvPr/>
        </p:nvSpPr>
        <p:spPr>
          <a:xfrm>
            <a:off x="6400800" y="2852928"/>
            <a:ext cx="5129784" cy="475488"/>
          </a:xfrm>
          <a:prstGeom prst="roundRect">
            <a:avLst>
              <a:gd name="adj" fmla="val 7692"/>
            </a:avLst>
          </a:prstGeom>
          <a:solidFill>
            <a:srgbClr val="FFFFFF"/>
          </a:solidFill>
          <a:ln w="12700">
            <a:solidFill>
              <a:srgbClr val="CEDCC7"/>
            </a:solidFill>
            <a:prstDash val="solid"/>
          </a:ln>
        </p:spPr>
        <p:txBody>
          <a:bodyPr/>
          <a:lstStyle/>
          <a:p>
            <a:endParaRPr lang="en-IN"/>
          </a:p>
        </p:txBody>
      </p:sp>
      <p:sp>
        <p:nvSpPr>
          <p:cNvPr id="106" name="Text 44">
            <a:extLst>
              <a:ext uri="{FF2B5EF4-FFF2-40B4-BE49-F238E27FC236}">
                <a16:creationId xmlns:a16="http://schemas.microsoft.com/office/drawing/2014/main" id="{0D9FE385-C853-1957-3A38-F17D07749BB5}"/>
              </a:ext>
            </a:extLst>
          </p:cNvPr>
          <p:cNvSpPr/>
          <p:nvPr/>
        </p:nvSpPr>
        <p:spPr>
          <a:xfrm>
            <a:off x="6446520"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0.2651</a:t>
            </a:r>
            <a:endParaRPr lang="en-US" sz="1300" dirty="0"/>
          </a:p>
        </p:txBody>
      </p:sp>
      <p:sp>
        <p:nvSpPr>
          <p:cNvPr id="110" name="Text 45">
            <a:extLst>
              <a:ext uri="{FF2B5EF4-FFF2-40B4-BE49-F238E27FC236}">
                <a16:creationId xmlns:a16="http://schemas.microsoft.com/office/drawing/2014/main" id="{5A1785DB-7B83-C0A6-4D76-A6F373504C94}"/>
              </a:ext>
            </a:extLst>
          </p:cNvPr>
          <p:cNvSpPr/>
          <p:nvPr/>
        </p:nvSpPr>
        <p:spPr>
          <a:xfrm>
            <a:off x="7454189"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0.1346</a:t>
            </a:r>
            <a:endParaRPr lang="en-US" sz="1300" dirty="0"/>
          </a:p>
        </p:txBody>
      </p:sp>
      <p:sp>
        <p:nvSpPr>
          <p:cNvPr id="114" name="Text 46">
            <a:extLst>
              <a:ext uri="{FF2B5EF4-FFF2-40B4-BE49-F238E27FC236}">
                <a16:creationId xmlns:a16="http://schemas.microsoft.com/office/drawing/2014/main" id="{F36FB639-9FFF-854B-8F4F-112734443C56}"/>
              </a:ext>
            </a:extLst>
          </p:cNvPr>
          <p:cNvSpPr/>
          <p:nvPr/>
        </p:nvSpPr>
        <p:spPr>
          <a:xfrm>
            <a:off x="8461858"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0.6911</a:t>
            </a:r>
            <a:endParaRPr lang="en-US" sz="1300" dirty="0"/>
          </a:p>
        </p:txBody>
      </p:sp>
      <p:sp>
        <p:nvSpPr>
          <p:cNvPr id="118" name="Text 47">
            <a:extLst>
              <a:ext uri="{FF2B5EF4-FFF2-40B4-BE49-F238E27FC236}">
                <a16:creationId xmlns:a16="http://schemas.microsoft.com/office/drawing/2014/main" id="{81314BF0-30AD-CF7A-578D-E2B573AB9CD5}"/>
              </a:ext>
            </a:extLst>
          </p:cNvPr>
          <p:cNvSpPr/>
          <p:nvPr/>
        </p:nvSpPr>
        <p:spPr>
          <a:xfrm>
            <a:off x="9469526"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44663F"/>
                </a:solidFill>
                <a:latin typeface="Calibri" pitchFamily="34" charset="0"/>
                <a:ea typeface="Calibri" pitchFamily="34" charset="-122"/>
                <a:cs typeface="Calibri" pitchFamily="34" charset="-120"/>
              </a:rPr>
              <a:t>0.6524</a:t>
            </a:r>
            <a:endParaRPr lang="en-US" sz="1300" dirty="0"/>
          </a:p>
        </p:txBody>
      </p:sp>
      <p:sp>
        <p:nvSpPr>
          <p:cNvPr id="122" name="Text 48">
            <a:extLst>
              <a:ext uri="{FF2B5EF4-FFF2-40B4-BE49-F238E27FC236}">
                <a16:creationId xmlns:a16="http://schemas.microsoft.com/office/drawing/2014/main" id="{9242E195-7144-4B05-5295-6D6ADAFB3A09}"/>
              </a:ext>
            </a:extLst>
          </p:cNvPr>
          <p:cNvSpPr/>
          <p:nvPr/>
        </p:nvSpPr>
        <p:spPr>
          <a:xfrm>
            <a:off x="10477195"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200</a:t>
            </a:r>
            <a:endParaRPr lang="en-US" sz="1300" dirty="0"/>
          </a:p>
        </p:txBody>
      </p:sp>
      <p:sp>
        <p:nvSpPr>
          <p:cNvPr id="126" name="Text 49">
            <a:extLst>
              <a:ext uri="{FF2B5EF4-FFF2-40B4-BE49-F238E27FC236}">
                <a16:creationId xmlns:a16="http://schemas.microsoft.com/office/drawing/2014/main" id="{364797DE-9731-72AE-EFCC-78FC6D4672AE}"/>
              </a:ext>
            </a:extLst>
          </p:cNvPr>
          <p:cNvSpPr/>
          <p:nvPr/>
        </p:nvSpPr>
        <p:spPr>
          <a:xfrm>
            <a:off x="457200" y="3419856"/>
            <a:ext cx="11274552" cy="219456"/>
          </a:xfrm>
          <a:prstGeom prst="rect">
            <a:avLst/>
          </a:prstGeom>
          <a:noFill/>
          <a:ln/>
        </p:spPr>
        <p:txBody>
          <a:bodyPr wrap="square" lIns="0" tIns="0" rIns="0" bIns="0" rtlCol="0" anchor="ctr"/>
          <a:lstStyle/>
          <a:p>
            <a:pPr marL="0" indent="0">
              <a:buNone/>
            </a:pPr>
            <a:r>
              <a:rPr lang="en-US" sz="1300" i="1" dirty="0">
                <a:solidFill>
                  <a:srgbClr val="6E675E"/>
                </a:solidFill>
                <a:latin typeface="Calibri" pitchFamily="34" charset="0"/>
                <a:ea typeface="Calibri" pitchFamily="34" charset="-122"/>
                <a:cs typeface="Calibri" pitchFamily="34" charset="-120"/>
              </a:rPr>
              <a:t>The grid's best cell uses legal-bert, which the ladder rejected — the clearest cross-campaign disagreement.</a:t>
            </a:r>
            <a:endParaRPr lang="en-US" sz="1300" dirty="0"/>
          </a:p>
        </p:txBody>
      </p:sp>
      <p:sp>
        <p:nvSpPr>
          <p:cNvPr id="130" name="Text 50">
            <a:extLst>
              <a:ext uri="{FF2B5EF4-FFF2-40B4-BE49-F238E27FC236}">
                <a16:creationId xmlns:a16="http://schemas.microsoft.com/office/drawing/2014/main" id="{93838773-49EA-AE04-C771-BF8B0B85E4BB}"/>
              </a:ext>
            </a:extLst>
          </p:cNvPr>
          <p:cNvSpPr/>
          <p:nvPr/>
        </p:nvSpPr>
        <p:spPr>
          <a:xfrm>
            <a:off x="457200" y="3785616"/>
            <a:ext cx="7863840" cy="256032"/>
          </a:xfrm>
          <a:prstGeom prst="rect">
            <a:avLst/>
          </a:prstGeom>
          <a:noFill/>
          <a:ln/>
        </p:spPr>
        <p:txBody>
          <a:bodyPr wrap="square" lIns="0" tIns="0" rIns="0" bIns="0" rtlCol="0" anchor="ctr"/>
          <a:lstStyle/>
          <a:p>
            <a:pPr marL="0" indent="0">
              <a:buNone/>
            </a:pPr>
            <a:r>
              <a:rPr lang="en-US" sz="1600" b="1" dirty="0">
                <a:solidFill>
                  <a:srgbClr val="5A4A3C"/>
                </a:solidFill>
                <a:latin typeface="Cambria" pitchFamily="34" charset="0"/>
                <a:ea typeface="Cambria" pitchFamily="34" charset="-122"/>
                <a:cs typeface="Cambria" pitchFamily="34" charset="-120"/>
              </a:rPr>
              <a:t>General Knowledge  ·  HotpotQA</a:t>
            </a:r>
            <a:endParaRPr lang="en-US" sz="1600" dirty="0"/>
          </a:p>
        </p:txBody>
      </p:sp>
      <p:sp>
        <p:nvSpPr>
          <p:cNvPr id="134" name="Shape 51">
            <a:extLst>
              <a:ext uri="{FF2B5EF4-FFF2-40B4-BE49-F238E27FC236}">
                <a16:creationId xmlns:a16="http://schemas.microsoft.com/office/drawing/2014/main" id="{6578B132-6E98-DC09-6D01-B3410ABE00E0}"/>
              </a:ext>
            </a:extLst>
          </p:cNvPr>
          <p:cNvSpPr/>
          <p:nvPr/>
        </p:nvSpPr>
        <p:spPr>
          <a:xfrm>
            <a:off x="457200" y="4059936"/>
            <a:ext cx="5532120" cy="2176272"/>
          </a:xfrm>
          <a:prstGeom prst="roundRect">
            <a:avLst>
              <a:gd name="adj" fmla="val 2521"/>
            </a:avLst>
          </a:prstGeom>
          <a:solidFill>
            <a:srgbClr val="FAF4ED"/>
          </a:solidFill>
          <a:ln w="12700">
            <a:solidFill>
              <a:srgbClr val="E0D0BC"/>
            </a:solidFill>
            <a:prstDash val="solid"/>
          </a:ln>
        </p:spPr>
        <p:txBody>
          <a:bodyPr/>
          <a:lstStyle/>
          <a:p>
            <a:endParaRPr lang="en-IN"/>
          </a:p>
        </p:txBody>
      </p:sp>
      <p:sp>
        <p:nvSpPr>
          <p:cNvPr id="138" name="Shape 52">
            <a:extLst>
              <a:ext uri="{FF2B5EF4-FFF2-40B4-BE49-F238E27FC236}">
                <a16:creationId xmlns:a16="http://schemas.microsoft.com/office/drawing/2014/main" id="{23185B7C-A2FA-376C-70C1-7ACE5DD2EA1A}"/>
              </a:ext>
            </a:extLst>
          </p:cNvPr>
          <p:cNvSpPr/>
          <p:nvPr/>
        </p:nvSpPr>
        <p:spPr>
          <a:xfrm>
            <a:off x="658368" y="4215384"/>
            <a:ext cx="274320" cy="274320"/>
          </a:xfrm>
          <a:prstGeom prst="ellipse">
            <a:avLst/>
          </a:prstGeom>
          <a:solidFill>
            <a:srgbClr val="6B4423"/>
          </a:solidFill>
          <a:ln/>
        </p:spPr>
        <p:txBody>
          <a:bodyPr/>
          <a:lstStyle/>
          <a:p>
            <a:endParaRPr lang="en-IN"/>
          </a:p>
        </p:txBody>
      </p:sp>
      <p:sp>
        <p:nvSpPr>
          <p:cNvPr id="142" name="Text 53">
            <a:extLst>
              <a:ext uri="{FF2B5EF4-FFF2-40B4-BE49-F238E27FC236}">
                <a16:creationId xmlns:a16="http://schemas.microsoft.com/office/drawing/2014/main" id="{EA866A41-29BE-3DC4-CB7C-FA15320D1D9C}"/>
              </a:ext>
            </a:extLst>
          </p:cNvPr>
          <p:cNvSpPr/>
          <p:nvPr/>
        </p:nvSpPr>
        <p:spPr>
          <a:xfrm>
            <a:off x="658368" y="421538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146" name="Text 54">
            <a:extLst>
              <a:ext uri="{FF2B5EF4-FFF2-40B4-BE49-F238E27FC236}">
                <a16:creationId xmlns:a16="http://schemas.microsoft.com/office/drawing/2014/main" id="{079DBB59-10D8-1EED-A1D9-34120CE3179F}"/>
              </a:ext>
            </a:extLst>
          </p:cNvPr>
          <p:cNvSpPr/>
          <p:nvPr/>
        </p:nvSpPr>
        <p:spPr>
          <a:xfrm>
            <a:off x="1005840" y="4206240"/>
            <a:ext cx="3017520" cy="292608"/>
          </a:xfrm>
          <a:prstGeom prst="rect">
            <a:avLst/>
          </a:prstGeom>
          <a:noFill/>
          <a:ln/>
        </p:spPr>
        <p:txBody>
          <a:bodyPr wrap="square" lIns="0" tIns="0" rIns="0" bIns="0" rtlCol="0" anchor="ctr"/>
          <a:lstStyle/>
          <a:p>
            <a:pPr marL="0" indent="0">
              <a:buNone/>
            </a:pPr>
            <a:r>
              <a:rPr lang="en-US" sz="1350" b="1" kern="0" spc="60" dirty="0">
                <a:solidFill>
                  <a:srgbClr val="6B4423"/>
                </a:solidFill>
                <a:latin typeface="Calibri" pitchFamily="34" charset="0"/>
                <a:ea typeface="Calibri" pitchFamily="34" charset="-122"/>
                <a:cs typeface="Calibri" pitchFamily="34" charset="-120"/>
              </a:rPr>
              <a:t>GREEDY  ·  stage-wise ladder</a:t>
            </a:r>
            <a:endParaRPr lang="en-US" sz="1350" dirty="0"/>
          </a:p>
        </p:txBody>
      </p:sp>
      <p:sp>
        <p:nvSpPr>
          <p:cNvPr id="150" name="Text 55">
            <a:extLst>
              <a:ext uri="{FF2B5EF4-FFF2-40B4-BE49-F238E27FC236}">
                <a16:creationId xmlns:a16="http://schemas.microsoft.com/office/drawing/2014/main" id="{BF38484F-27AE-174A-F256-F937A3F75396}"/>
              </a:ext>
            </a:extLst>
          </p:cNvPr>
          <p:cNvSpPr/>
          <p:nvPr/>
        </p:nvSpPr>
        <p:spPr>
          <a:xfrm>
            <a:off x="4087368" y="4206240"/>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EXP-FINAL-BEST</a:t>
            </a:r>
            <a:endParaRPr lang="en-US" sz="1300" dirty="0"/>
          </a:p>
        </p:txBody>
      </p:sp>
      <p:sp>
        <p:nvSpPr>
          <p:cNvPr id="154" name="Text 56">
            <a:extLst>
              <a:ext uri="{FF2B5EF4-FFF2-40B4-BE49-F238E27FC236}">
                <a16:creationId xmlns:a16="http://schemas.microsoft.com/office/drawing/2014/main" id="{5EEAB997-2967-F33A-6D27-D565E9BE57B4}"/>
              </a:ext>
            </a:extLst>
          </p:cNvPr>
          <p:cNvSpPr/>
          <p:nvPr/>
        </p:nvSpPr>
        <p:spPr>
          <a:xfrm>
            <a:off x="685800" y="449884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158" name="Text 57">
            <a:extLst>
              <a:ext uri="{FF2B5EF4-FFF2-40B4-BE49-F238E27FC236}">
                <a16:creationId xmlns:a16="http://schemas.microsoft.com/office/drawing/2014/main" id="{39599A77-8574-930D-AF58-7D83DB7121C4}"/>
              </a:ext>
            </a:extLst>
          </p:cNvPr>
          <p:cNvSpPr/>
          <p:nvPr/>
        </p:nvSpPr>
        <p:spPr>
          <a:xfrm>
            <a:off x="1874520" y="449884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Whole Document</a:t>
            </a:r>
            <a:endParaRPr lang="en-US" sz="1300" dirty="0"/>
          </a:p>
        </p:txBody>
      </p:sp>
      <p:sp>
        <p:nvSpPr>
          <p:cNvPr id="162" name="Text 58">
            <a:extLst>
              <a:ext uri="{FF2B5EF4-FFF2-40B4-BE49-F238E27FC236}">
                <a16:creationId xmlns:a16="http://schemas.microsoft.com/office/drawing/2014/main" id="{7D588BBF-6028-45A1-F61B-484F0D7C0B91}"/>
              </a:ext>
            </a:extLst>
          </p:cNvPr>
          <p:cNvSpPr/>
          <p:nvPr/>
        </p:nvSpPr>
        <p:spPr>
          <a:xfrm>
            <a:off x="685800" y="469544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166" name="Text 59">
            <a:extLst>
              <a:ext uri="{FF2B5EF4-FFF2-40B4-BE49-F238E27FC236}">
                <a16:creationId xmlns:a16="http://schemas.microsoft.com/office/drawing/2014/main" id="{C8998637-DF37-ACEA-C597-FA19552DA810}"/>
              </a:ext>
            </a:extLst>
          </p:cNvPr>
          <p:cNvSpPr/>
          <p:nvPr/>
        </p:nvSpPr>
        <p:spPr>
          <a:xfrm>
            <a:off x="1874520" y="4695444"/>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intfloat/e5-large-v2</a:t>
            </a:r>
            <a:endParaRPr lang="en-US" sz="1300" dirty="0"/>
          </a:p>
        </p:txBody>
      </p:sp>
      <p:sp>
        <p:nvSpPr>
          <p:cNvPr id="170" name="Text 60">
            <a:extLst>
              <a:ext uri="{FF2B5EF4-FFF2-40B4-BE49-F238E27FC236}">
                <a16:creationId xmlns:a16="http://schemas.microsoft.com/office/drawing/2014/main" id="{94E256C5-CC8E-C5C7-6CE1-76FDA9F64C5E}"/>
              </a:ext>
            </a:extLst>
          </p:cNvPr>
          <p:cNvSpPr/>
          <p:nvPr/>
        </p:nvSpPr>
        <p:spPr>
          <a:xfrm>
            <a:off x="685800" y="489204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174" name="Text 61">
            <a:extLst>
              <a:ext uri="{FF2B5EF4-FFF2-40B4-BE49-F238E27FC236}">
                <a16:creationId xmlns:a16="http://schemas.microsoft.com/office/drawing/2014/main" id="{C3720468-F538-8300-1D22-F497B5933E96}"/>
              </a:ext>
            </a:extLst>
          </p:cNvPr>
          <p:cNvSpPr/>
          <p:nvPr/>
        </p:nvSpPr>
        <p:spPr>
          <a:xfrm>
            <a:off x="1874520" y="489204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Hybrid BM25+dense RRF, k=5</a:t>
            </a:r>
            <a:endParaRPr lang="en-US" sz="1300" dirty="0"/>
          </a:p>
        </p:txBody>
      </p:sp>
      <p:sp>
        <p:nvSpPr>
          <p:cNvPr id="178" name="Text 62">
            <a:extLst>
              <a:ext uri="{FF2B5EF4-FFF2-40B4-BE49-F238E27FC236}">
                <a16:creationId xmlns:a16="http://schemas.microsoft.com/office/drawing/2014/main" id="{9E9CF8BF-48C5-64D7-5072-A73BB78C77A5}"/>
              </a:ext>
            </a:extLst>
          </p:cNvPr>
          <p:cNvSpPr/>
          <p:nvPr/>
        </p:nvSpPr>
        <p:spPr>
          <a:xfrm>
            <a:off x="685800" y="508863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182" name="Text 63">
            <a:extLst>
              <a:ext uri="{FF2B5EF4-FFF2-40B4-BE49-F238E27FC236}">
                <a16:creationId xmlns:a16="http://schemas.microsoft.com/office/drawing/2014/main" id="{23922D7C-628B-2679-4952-6B9B0E6A2CEE}"/>
              </a:ext>
            </a:extLst>
          </p:cNvPr>
          <p:cNvSpPr/>
          <p:nvPr/>
        </p:nvSpPr>
        <p:spPr>
          <a:xfrm>
            <a:off x="1874520" y="508863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Cross-encoder + forward</a:t>
            </a:r>
            <a:endParaRPr lang="en-US" sz="1300" dirty="0"/>
          </a:p>
        </p:txBody>
      </p:sp>
      <p:sp>
        <p:nvSpPr>
          <p:cNvPr id="186" name="Text 64">
            <a:extLst>
              <a:ext uri="{FF2B5EF4-FFF2-40B4-BE49-F238E27FC236}">
                <a16:creationId xmlns:a16="http://schemas.microsoft.com/office/drawing/2014/main" id="{A61123C1-0058-96F3-CFCD-CEC3C6D0091E}"/>
              </a:ext>
            </a:extLst>
          </p:cNvPr>
          <p:cNvSpPr/>
          <p:nvPr/>
        </p:nvSpPr>
        <p:spPr>
          <a:xfrm>
            <a:off x="685800" y="528523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190" name="Text 65">
            <a:extLst>
              <a:ext uri="{FF2B5EF4-FFF2-40B4-BE49-F238E27FC236}">
                <a16:creationId xmlns:a16="http://schemas.microsoft.com/office/drawing/2014/main" id="{1A92D23C-AC1F-2AD7-B048-6EA829EC1F36}"/>
              </a:ext>
            </a:extLst>
          </p:cNvPr>
          <p:cNvSpPr/>
          <p:nvPr/>
        </p:nvSpPr>
        <p:spPr>
          <a:xfrm>
            <a:off x="1874520" y="5285232"/>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194" name="Text 66">
            <a:extLst>
              <a:ext uri="{FF2B5EF4-FFF2-40B4-BE49-F238E27FC236}">
                <a16:creationId xmlns:a16="http://schemas.microsoft.com/office/drawing/2014/main" id="{8B335941-2AB8-46F3-E1A0-835F7D4CEA93}"/>
              </a:ext>
            </a:extLst>
          </p:cNvPr>
          <p:cNvSpPr/>
          <p:nvPr/>
        </p:nvSpPr>
        <p:spPr>
          <a:xfrm>
            <a:off x="685800" y="548182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198" name="Text 67">
            <a:extLst>
              <a:ext uri="{FF2B5EF4-FFF2-40B4-BE49-F238E27FC236}">
                <a16:creationId xmlns:a16="http://schemas.microsoft.com/office/drawing/2014/main" id="{6CBB1D03-3032-AC77-95B0-1CFED033EF87}"/>
              </a:ext>
            </a:extLst>
          </p:cNvPr>
          <p:cNvSpPr/>
          <p:nvPr/>
        </p:nvSpPr>
        <p:spPr>
          <a:xfrm>
            <a:off x="1874520" y="5481828"/>
            <a:ext cx="3886200" cy="187452"/>
          </a:xfrm>
          <a:prstGeom prst="rect">
            <a:avLst/>
          </a:prstGeom>
          <a:noFill/>
          <a:ln/>
        </p:spPr>
        <p:txBody>
          <a:bodyPr wrap="square" lIns="0" tIns="0" rIns="0" bIns="0" rtlCol="0" anchor="ctr"/>
          <a:lstStyle/>
          <a:p>
            <a:pPr marL="0" indent="0">
              <a:buNone/>
            </a:pPr>
            <a:r>
              <a:rPr lang="en-US" sz="1300" b="1" dirty="0">
                <a:solidFill>
                  <a:srgbClr val="6B4423"/>
                </a:solidFill>
                <a:latin typeface="Calibri" pitchFamily="34" charset="0"/>
                <a:ea typeface="Calibri" pitchFamily="34" charset="-122"/>
                <a:cs typeface="Calibri" pitchFamily="34" charset="-120"/>
              </a:rPr>
              <a:t>llama-3.3-70b</a:t>
            </a:r>
            <a:endParaRPr lang="en-US" sz="1300" dirty="0"/>
          </a:p>
        </p:txBody>
      </p:sp>
      <p:sp>
        <p:nvSpPr>
          <p:cNvPr id="202" name="Shape 68">
            <a:extLst>
              <a:ext uri="{FF2B5EF4-FFF2-40B4-BE49-F238E27FC236}">
                <a16:creationId xmlns:a16="http://schemas.microsoft.com/office/drawing/2014/main" id="{1EA5F200-7017-C42D-2428-DD4D739028B3}"/>
              </a:ext>
            </a:extLst>
          </p:cNvPr>
          <p:cNvSpPr/>
          <p:nvPr/>
        </p:nvSpPr>
        <p:spPr>
          <a:xfrm>
            <a:off x="658368" y="5705856"/>
            <a:ext cx="5129784" cy="475488"/>
          </a:xfrm>
          <a:prstGeom prst="roundRect">
            <a:avLst>
              <a:gd name="adj" fmla="val 7692"/>
            </a:avLst>
          </a:prstGeom>
          <a:solidFill>
            <a:srgbClr val="FFFFFF"/>
          </a:solidFill>
          <a:ln w="12700">
            <a:solidFill>
              <a:srgbClr val="E0D0BC"/>
            </a:solidFill>
            <a:prstDash val="solid"/>
          </a:ln>
        </p:spPr>
        <p:txBody>
          <a:bodyPr/>
          <a:lstStyle/>
          <a:p>
            <a:endParaRPr lang="en-IN"/>
          </a:p>
        </p:txBody>
      </p:sp>
      <p:sp>
        <p:nvSpPr>
          <p:cNvPr id="206" name="Text 69">
            <a:extLst>
              <a:ext uri="{FF2B5EF4-FFF2-40B4-BE49-F238E27FC236}">
                <a16:creationId xmlns:a16="http://schemas.microsoft.com/office/drawing/2014/main" id="{F78DD08A-6268-5BFC-FA9A-45788AC5C6B8}"/>
              </a:ext>
            </a:extLst>
          </p:cNvPr>
          <p:cNvSpPr/>
          <p:nvPr/>
        </p:nvSpPr>
        <p:spPr>
          <a:xfrm>
            <a:off x="704088"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0.1104</a:t>
            </a:r>
            <a:endParaRPr lang="en-US" sz="1300" dirty="0"/>
          </a:p>
        </p:txBody>
      </p:sp>
      <p:sp>
        <p:nvSpPr>
          <p:cNvPr id="210" name="Text 70">
            <a:extLst>
              <a:ext uri="{FF2B5EF4-FFF2-40B4-BE49-F238E27FC236}">
                <a16:creationId xmlns:a16="http://schemas.microsoft.com/office/drawing/2014/main" id="{BB4A9618-9932-4CDE-9DD6-4F63FE6226D7}"/>
              </a:ext>
            </a:extLst>
          </p:cNvPr>
          <p:cNvSpPr/>
          <p:nvPr/>
        </p:nvSpPr>
        <p:spPr>
          <a:xfrm>
            <a:off x="1711757"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0.0684</a:t>
            </a:r>
            <a:endParaRPr lang="en-US" sz="1300" dirty="0"/>
          </a:p>
        </p:txBody>
      </p:sp>
      <p:sp>
        <p:nvSpPr>
          <p:cNvPr id="214" name="Text 71">
            <a:extLst>
              <a:ext uri="{FF2B5EF4-FFF2-40B4-BE49-F238E27FC236}">
                <a16:creationId xmlns:a16="http://schemas.microsoft.com/office/drawing/2014/main" id="{387AF71D-BF4E-9779-635B-D9FD3F2B06E9}"/>
              </a:ext>
            </a:extLst>
          </p:cNvPr>
          <p:cNvSpPr/>
          <p:nvPr/>
        </p:nvSpPr>
        <p:spPr>
          <a:xfrm>
            <a:off x="2719426"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0.3090</a:t>
            </a:r>
            <a:endParaRPr lang="en-US" sz="1300" dirty="0"/>
          </a:p>
        </p:txBody>
      </p:sp>
      <p:sp>
        <p:nvSpPr>
          <p:cNvPr id="218" name="Text 72">
            <a:extLst>
              <a:ext uri="{FF2B5EF4-FFF2-40B4-BE49-F238E27FC236}">
                <a16:creationId xmlns:a16="http://schemas.microsoft.com/office/drawing/2014/main" id="{5530443E-EA65-F4E4-1DF2-4F2EA07BB382}"/>
              </a:ext>
            </a:extLst>
          </p:cNvPr>
          <p:cNvSpPr/>
          <p:nvPr/>
        </p:nvSpPr>
        <p:spPr>
          <a:xfrm>
            <a:off x="3727094"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6B4423"/>
                </a:solidFill>
                <a:latin typeface="Calibri" pitchFamily="34" charset="0"/>
                <a:ea typeface="Calibri" pitchFamily="34" charset="-122"/>
                <a:cs typeface="Calibri" pitchFamily="34" charset="-120"/>
              </a:rPr>
              <a:t>0.4866</a:t>
            </a:r>
            <a:endParaRPr lang="en-US" sz="1300" dirty="0"/>
          </a:p>
        </p:txBody>
      </p:sp>
      <p:sp>
        <p:nvSpPr>
          <p:cNvPr id="222" name="Text 73">
            <a:extLst>
              <a:ext uri="{FF2B5EF4-FFF2-40B4-BE49-F238E27FC236}">
                <a16:creationId xmlns:a16="http://schemas.microsoft.com/office/drawing/2014/main" id="{2E33B7E3-0A5E-235C-869D-F194CF90E1D8}"/>
              </a:ext>
            </a:extLst>
          </p:cNvPr>
          <p:cNvSpPr/>
          <p:nvPr/>
        </p:nvSpPr>
        <p:spPr>
          <a:xfrm>
            <a:off x="4734763"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199</a:t>
            </a:r>
            <a:endParaRPr lang="en-US" sz="1300" dirty="0"/>
          </a:p>
        </p:txBody>
      </p:sp>
      <p:sp>
        <p:nvSpPr>
          <p:cNvPr id="226" name="Shape 74">
            <a:extLst>
              <a:ext uri="{FF2B5EF4-FFF2-40B4-BE49-F238E27FC236}">
                <a16:creationId xmlns:a16="http://schemas.microsoft.com/office/drawing/2014/main" id="{4A68DDC4-9CE5-94F1-93E1-EA45E166BE39}"/>
              </a:ext>
            </a:extLst>
          </p:cNvPr>
          <p:cNvSpPr/>
          <p:nvPr/>
        </p:nvSpPr>
        <p:spPr>
          <a:xfrm>
            <a:off x="6199632" y="4059936"/>
            <a:ext cx="5532120" cy="2176272"/>
          </a:xfrm>
          <a:prstGeom prst="roundRect">
            <a:avLst>
              <a:gd name="adj" fmla="val 2521"/>
            </a:avLst>
          </a:prstGeom>
          <a:solidFill>
            <a:srgbClr val="F1F5EE"/>
          </a:solidFill>
          <a:ln w="12700">
            <a:solidFill>
              <a:srgbClr val="CEDCC7"/>
            </a:solidFill>
            <a:prstDash val="solid"/>
          </a:ln>
        </p:spPr>
        <p:txBody>
          <a:bodyPr/>
          <a:lstStyle/>
          <a:p>
            <a:endParaRPr lang="en-IN"/>
          </a:p>
        </p:txBody>
      </p:sp>
      <p:sp>
        <p:nvSpPr>
          <p:cNvPr id="230" name="Shape 75">
            <a:extLst>
              <a:ext uri="{FF2B5EF4-FFF2-40B4-BE49-F238E27FC236}">
                <a16:creationId xmlns:a16="http://schemas.microsoft.com/office/drawing/2014/main" id="{AE0FF799-72E8-AC15-2816-C587FF05B1AC}"/>
              </a:ext>
            </a:extLst>
          </p:cNvPr>
          <p:cNvSpPr/>
          <p:nvPr/>
        </p:nvSpPr>
        <p:spPr>
          <a:xfrm>
            <a:off x="6400800" y="4215384"/>
            <a:ext cx="274320" cy="274320"/>
          </a:xfrm>
          <a:prstGeom prst="ellipse">
            <a:avLst/>
          </a:prstGeom>
          <a:solidFill>
            <a:srgbClr val="44663F"/>
          </a:solidFill>
          <a:ln/>
        </p:spPr>
        <p:txBody>
          <a:bodyPr/>
          <a:lstStyle/>
          <a:p>
            <a:endParaRPr lang="en-IN"/>
          </a:p>
        </p:txBody>
      </p:sp>
      <p:sp>
        <p:nvSpPr>
          <p:cNvPr id="234" name="Text 76">
            <a:extLst>
              <a:ext uri="{FF2B5EF4-FFF2-40B4-BE49-F238E27FC236}">
                <a16:creationId xmlns:a16="http://schemas.microsoft.com/office/drawing/2014/main" id="{75FCC408-1436-8F7E-E9D8-A740B48F5BE6}"/>
              </a:ext>
            </a:extLst>
          </p:cNvPr>
          <p:cNvSpPr/>
          <p:nvPr/>
        </p:nvSpPr>
        <p:spPr>
          <a:xfrm>
            <a:off x="6400800" y="4215384"/>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238" name="Text 77">
            <a:extLst>
              <a:ext uri="{FF2B5EF4-FFF2-40B4-BE49-F238E27FC236}">
                <a16:creationId xmlns:a16="http://schemas.microsoft.com/office/drawing/2014/main" id="{230A9276-F4C3-1AD9-47B7-C3E8D5BE09A2}"/>
              </a:ext>
            </a:extLst>
          </p:cNvPr>
          <p:cNvSpPr/>
          <p:nvPr/>
        </p:nvSpPr>
        <p:spPr>
          <a:xfrm>
            <a:off x="6748272" y="4206240"/>
            <a:ext cx="3017520" cy="292608"/>
          </a:xfrm>
          <a:prstGeom prst="rect">
            <a:avLst/>
          </a:prstGeom>
          <a:noFill/>
          <a:ln/>
        </p:spPr>
        <p:txBody>
          <a:bodyPr wrap="square" lIns="0" tIns="0" rIns="0" bIns="0" rtlCol="0" anchor="ctr"/>
          <a:lstStyle/>
          <a:p>
            <a:pPr marL="0" indent="0">
              <a:buNone/>
            </a:pPr>
            <a:r>
              <a:rPr lang="en-US" sz="1350" b="1" kern="0" spc="60" dirty="0">
                <a:solidFill>
                  <a:srgbClr val="44663F"/>
                </a:solidFill>
                <a:latin typeface="Calibri" pitchFamily="34" charset="0"/>
                <a:ea typeface="Calibri" pitchFamily="34" charset="-122"/>
                <a:cs typeface="Calibri" pitchFamily="34" charset="-120"/>
              </a:rPr>
              <a:t>FACTORIAL  ·  full grid</a:t>
            </a:r>
            <a:endParaRPr lang="en-US" sz="1350" dirty="0"/>
          </a:p>
        </p:txBody>
      </p:sp>
      <p:sp>
        <p:nvSpPr>
          <p:cNvPr id="242" name="Text 78">
            <a:extLst>
              <a:ext uri="{FF2B5EF4-FFF2-40B4-BE49-F238E27FC236}">
                <a16:creationId xmlns:a16="http://schemas.microsoft.com/office/drawing/2014/main" id="{F1E5DAAF-3B0F-8998-EEE9-F846A97D3EBE}"/>
              </a:ext>
            </a:extLst>
          </p:cNvPr>
          <p:cNvSpPr/>
          <p:nvPr/>
        </p:nvSpPr>
        <p:spPr>
          <a:xfrm>
            <a:off x="9829800" y="4206240"/>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GK-040</a:t>
            </a:r>
            <a:endParaRPr lang="en-US" sz="1300" dirty="0"/>
          </a:p>
        </p:txBody>
      </p:sp>
      <p:sp>
        <p:nvSpPr>
          <p:cNvPr id="246" name="Text 79">
            <a:extLst>
              <a:ext uri="{FF2B5EF4-FFF2-40B4-BE49-F238E27FC236}">
                <a16:creationId xmlns:a16="http://schemas.microsoft.com/office/drawing/2014/main" id="{349AE4B5-A756-6DD2-AF1A-DF59531DD192}"/>
              </a:ext>
            </a:extLst>
          </p:cNvPr>
          <p:cNvSpPr/>
          <p:nvPr/>
        </p:nvSpPr>
        <p:spPr>
          <a:xfrm>
            <a:off x="6428232" y="449884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250" name="Text 80">
            <a:extLst>
              <a:ext uri="{FF2B5EF4-FFF2-40B4-BE49-F238E27FC236}">
                <a16:creationId xmlns:a16="http://schemas.microsoft.com/office/drawing/2014/main" id="{04DEEB90-58A7-1201-EF96-17D4DFBF1094}"/>
              </a:ext>
            </a:extLst>
          </p:cNvPr>
          <p:cNvSpPr/>
          <p:nvPr/>
        </p:nvSpPr>
        <p:spPr>
          <a:xfrm>
            <a:off x="7616952" y="449884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fixed_120w</a:t>
            </a:r>
            <a:endParaRPr lang="en-US" sz="1300" dirty="0"/>
          </a:p>
        </p:txBody>
      </p:sp>
      <p:sp>
        <p:nvSpPr>
          <p:cNvPr id="254" name="Text 81">
            <a:extLst>
              <a:ext uri="{FF2B5EF4-FFF2-40B4-BE49-F238E27FC236}">
                <a16:creationId xmlns:a16="http://schemas.microsoft.com/office/drawing/2014/main" id="{7C33E6B9-707C-004E-5170-2FF028839888}"/>
              </a:ext>
            </a:extLst>
          </p:cNvPr>
          <p:cNvSpPr/>
          <p:nvPr/>
        </p:nvSpPr>
        <p:spPr>
          <a:xfrm>
            <a:off x="6428232" y="469544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258" name="Text 82">
            <a:extLst>
              <a:ext uri="{FF2B5EF4-FFF2-40B4-BE49-F238E27FC236}">
                <a16:creationId xmlns:a16="http://schemas.microsoft.com/office/drawing/2014/main" id="{E38A2A4F-8C22-9477-7867-90825C33D874}"/>
              </a:ext>
            </a:extLst>
          </p:cNvPr>
          <p:cNvSpPr/>
          <p:nvPr/>
        </p:nvSpPr>
        <p:spPr>
          <a:xfrm>
            <a:off x="7616952" y="4695444"/>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e5-large-v2</a:t>
            </a:r>
            <a:endParaRPr lang="en-US" sz="1300" dirty="0"/>
          </a:p>
        </p:txBody>
      </p:sp>
      <p:sp>
        <p:nvSpPr>
          <p:cNvPr id="262" name="Text 83">
            <a:extLst>
              <a:ext uri="{FF2B5EF4-FFF2-40B4-BE49-F238E27FC236}">
                <a16:creationId xmlns:a16="http://schemas.microsoft.com/office/drawing/2014/main" id="{5B14E62E-4573-9BF8-76B3-E9CAFC660C78}"/>
              </a:ext>
            </a:extLst>
          </p:cNvPr>
          <p:cNvSpPr/>
          <p:nvPr/>
        </p:nvSpPr>
        <p:spPr>
          <a:xfrm>
            <a:off x="6428232" y="489204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266" name="Text 84">
            <a:extLst>
              <a:ext uri="{FF2B5EF4-FFF2-40B4-BE49-F238E27FC236}">
                <a16:creationId xmlns:a16="http://schemas.microsoft.com/office/drawing/2014/main" id="{00DFC615-91FA-D108-6125-9FD7A3BA9A13}"/>
              </a:ext>
            </a:extLst>
          </p:cNvPr>
          <p:cNvSpPr/>
          <p:nvPr/>
        </p:nvSpPr>
        <p:spPr>
          <a:xfrm>
            <a:off x="7616952" y="489204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dense, k=5</a:t>
            </a:r>
            <a:endParaRPr lang="en-US" sz="1300" dirty="0"/>
          </a:p>
        </p:txBody>
      </p:sp>
      <p:sp>
        <p:nvSpPr>
          <p:cNvPr id="269" name="Text 85">
            <a:extLst>
              <a:ext uri="{FF2B5EF4-FFF2-40B4-BE49-F238E27FC236}">
                <a16:creationId xmlns:a16="http://schemas.microsoft.com/office/drawing/2014/main" id="{B3D3F8D5-53A5-7A3B-31C0-62463A159FCB}"/>
              </a:ext>
            </a:extLst>
          </p:cNvPr>
          <p:cNvSpPr/>
          <p:nvPr/>
        </p:nvSpPr>
        <p:spPr>
          <a:xfrm>
            <a:off x="6428232" y="508863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271" name="Text 86">
            <a:extLst>
              <a:ext uri="{FF2B5EF4-FFF2-40B4-BE49-F238E27FC236}">
                <a16:creationId xmlns:a16="http://schemas.microsoft.com/office/drawing/2014/main" id="{4309B688-8BB8-6207-5558-F8BEEC0F684B}"/>
              </a:ext>
            </a:extLst>
          </p:cNvPr>
          <p:cNvSpPr/>
          <p:nvPr/>
        </p:nvSpPr>
        <p:spPr>
          <a:xfrm>
            <a:off x="7616952" y="508863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Cross-encoder + forward</a:t>
            </a:r>
            <a:endParaRPr lang="en-US" sz="1300" dirty="0"/>
          </a:p>
        </p:txBody>
      </p:sp>
      <p:sp>
        <p:nvSpPr>
          <p:cNvPr id="273" name="Text 87">
            <a:extLst>
              <a:ext uri="{FF2B5EF4-FFF2-40B4-BE49-F238E27FC236}">
                <a16:creationId xmlns:a16="http://schemas.microsoft.com/office/drawing/2014/main" id="{4760A673-0C89-B6E7-5E22-94AC521B3339}"/>
              </a:ext>
            </a:extLst>
          </p:cNvPr>
          <p:cNvSpPr/>
          <p:nvPr/>
        </p:nvSpPr>
        <p:spPr>
          <a:xfrm>
            <a:off x="6428232" y="528523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275" name="Text 88">
            <a:extLst>
              <a:ext uri="{FF2B5EF4-FFF2-40B4-BE49-F238E27FC236}">
                <a16:creationId xmlns:a16="http://schemas.microsoft.com/office/drawing/2014/main" id="{59C86690-F672-42F8-F164-FDFA555449F6}"/>
              </a:ext>
            </a:extLst>
          </p:cNvPr>
          <p:cNvSpPr/>
          <p:nvPr/>
        </p:nvSpPr>
        <p:spPr>
          <a:xfrm>
            <a:off x="7616952" y="5285232"/>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277" name="Text 89">
            <a:extLst>
              <a:ext uri="{FF2B5EF4-FFF2-40B4-BE49-F238E27FC236}">
                <a16:creationId xmlns:a16="http://schemas.microsoft.com/office/drawing/2014/main" id="{01EB1E14-BECA-4ADF-7AFE-5FA5B16A85F4}"/>
              </a:ext>
            </a:extLst>
          </p:cNvPr>
          <p:cNvSpPr/>
          <p:nvPr/>
        </p:nvSpPr>
        <p:spPr>
          <a:xfrm>
            <a:off x="6428232" y="548182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279" name="Text 90">
            <a:extLst>
              <a:ext uri="{FF2B5EF4-FFF2-40B4-BE49-F238E27FC236}">
                <a16:creationId xmlns:a16="http://schemas.microsoft.com/office/drawing/2014/main" id="{ECE752DF-D2FF-E1F6-B3D7-AFC4E3B6A949}"/>
              </a:ext>
            </a:extLst>
          </p:cNvPr>
          <p:cNvSpPr/>
          <p:nvPr/>
        </p:nvSpPr>
        <p:spPr>
          <a:xfrm>
            <a:off x="7616952" y="5481828"/>
            <a:ext cx="3886200" cy="187452"/>
          </a:xfrm>
          <a:prstGeom prst="rect">
            <a:avLst/>
          </a:prstGeom>
          <a:noFill/>
          <a:ln/>
        </p:spPr>
        <p:txBody>
          <a:bodyPr wrap="square" lIns="0" tIns="0" rIns="0" bIns="0" rtlCol="0" anchor="ctr"/>
          <a:lstStyle/>
          <a:p>
            <a:pPr marL="0" indent="0">
              <a:buNone/>
            </a:pPr>
            <a:r>
              <a:rPr lang="en-US" sz="1300" b="1" dirty="0">
                <a:solidFill>
                  <a:srgbClr val="44663F"/>
                </a:solidFill>
                <a:latin typeface="Calibri" pitchFamily="34" charset="0"/>
                <a:ea typeface="Calibri" pitchFamily="34" charset="-122"/>
                <a:cs typeface="Calibri" pitchFamily="34" charset="-120"/>
              </a:rPr>
              <a:t>gpt-oss-120b</a:t>
            </a:r>
            <a:endParaRPr lang="en-US" sz="1300" dirty="0"/>
          </a:p>
        </p:txBody>
      </p:sp>
      <p:sp>
        <p:nvSpPr>
          <p:cNvPr id="281" name="Shape 91">
            <a:extLst>
              <a:ext uri="{FF2B5EF4-FFF2-40B4-BE49-F238E27FC236}">
                <a16:creationId xmlns:a16="http://schemas.microsoft.com/office/drawing/2014/main" id="{19E605AB-20C4-6E56-203B-98DC1497222E}"/>
              </a:ext>
            </a:extLst>
          </p:cNvPr>
          <p:cNvSpPr/>
          <p:nvPr/>
        </p:nvSpPr>
        <p:spPr>
          <a:xfrm>
            <a:off x="6400800" y="5705856"/>
            <a:ext cx="5129784" cy="475488"/>
          </a:xfrm>
          <a:prstGeom prst="roundRect">
            <a:avLst>
              <a:gd name="adj" fmla="val 7692"/>
            </a:avLst>
          </a:prstGeom>
          <a:solidFill>
            <a:srgbClr val="FFFFFF"/>
          </a:solidFill>
          <a:ln w="12700">
            <a:solidFill>
              <a:srgbClr val="CEDCC7"/>
            </a:solidFill>
            <a:prstDash val="solid"/>
          </a:ln>
        </p:spPr>
        <p:txBody>
          <a:bodyPr/>
          <a:lstStyle/>
          <a:p>
            <a:endParaRPr lang="en-IN"/>
          </a:p>
        </p:txBody>
      </p:sp>
      <p:sp>
        <p:nvSpPr>
          <p:cNvPr id="283" name="Text 92">
            <a:extLst>
              <a:ext uri="{FF2B5EF4-FFF2-40B4-BE49-F238E27FC236}">
                <a16:creationId xmlns:a16="http://schemas.microsoft.com/office/drawing/2014/main" id="{E6DFE149-CEDC-2995-C3D7-2DBA6D9E7108}"/>
              </a:ext>
            </a:extLst>
          </p:cNvPr>
          <p:cNvSpPr/>
          <p:nvPr/>
        </p:nvSpPr>
        <p:spPr>
          <a:xfrm>
            <a:off x="6446520"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0.2795</a:t>
            </a:r>
            <a:endParaRPr lang="en-US" sz="1300" dirty="0"/>
          </a:p>
        </p:txBody>
      </p:sp>
      <p:sp>
        <p:nvSpPr>
          <p:cNvPr id="285" name="Text 93">
            <a:extLst>
              <a:ext uri="{FF2B5EF4-FFF2-40B4-BE49-F238E27FC236}">
                <a16:creationId xmlns:a16="http://schemas.microsoft.com/office/drawing/2014/main" id="{88F879C0-599D-DA67-294C-742C4321893D}"/>
              </a:ext>
            </a:extLst>
          </p:cNvPr>
          <p:cNvSpPr/>
          <p:nvPr/>
        </p:nvSpPr>
        <p:spPr>
          <a:xfrm>
            <a:off x="7454189"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0.2937</a:t>
            </a:r>
            <a:endParaRPr lang="en-US" sz="1300" dirty="0"/>
          </a:p>
        </p:txBody>
      </p:sp>
      <p:sp>
        <p:nvSpPr>
          <p:cNvPr id="287" name="Text 94">
            <a:extLst>
              <a:ext uri="{FF2B5EF4-FFF2-40B4-BE49-F238E27FC236}">
                <a16:creationId xmlns:a16="http://schemas.microsoft.com/office/drawing/2014/main" id="{4A7847FE-0810-332D-9362-B0A3B7D99CF2}"/>
              </a:ext>
            </a:extLst>
          </p:cNvPr>
          <p:cNvSpPr/>
          <p:nvPr/>
        </p:nvSpPr>
        <p:spPr>
          <a:xfrm>
            <a:off x="8461858"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0.3845</a:t>
            </a:r>
            <a:endParaRPr lang="en-US" sz="1300" dirty="0"/>
          </a:p>
        </p:txBody>
      </p:sp>
      <p:sp>
        <p:nvSpPr>
          <p:cNvPr id="289" name="Text 95">
            <a:extLst>
              <a:ext uri="{FF2B5EF4-FFF2-40B4-BE49-F238E27FC236}">
                <a16:creationId xmlns:a16="http://schemas.microsoft.com/office/drawing/2014/main" id="{4B085313-6931-4212-417B-E7E69DEAE2F6}"/>
              </a:ext>
            </a:extLst>
          </p:cNvPr>
          <p:cNvSpPr/>
          <p:nvPr/>
        </p:nvSpPr>
        <p:spPr>
          <a:xfrm>
            <a:off x="9469526"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44663F"/>
                </a:solidFill>
                <a:latin typeface="Calibri" pitchFamily="34" charset="0"/>
                <a:ea typeface="Calibri" pitchFamily="34" charset="-122"/>
                <a:cs typeface="Calibri" pitchFamily="34" charset="-120"/>
              </a:rPr>
              <a:t>0.6416</a:t>
            </a:r>
            <a:endParaRPr lang="en-US" sz="1300" dirty="0"/>
          </a:p>
        </p:txBody>
      </p:sp>
      <p:sp>
        <p:nvSpPr>
          <p:cNvPr id="291" name="Text 96">
            <a:extLst>
              <a:ext uri="{FF2B5EF4-FFF2-40B4-BE49-F238E27FC236}">
                <a16:creationId xmlns:a16="http://schemas.microsoft.com/office/drawing/2014/main" id="{CB88CD4D-E578-3D46-F983-68BFC38D9E9C}"/>
              </a:ext>
            </a:extLst>
          </p:cNvPr>
          <p:cNvSpPr/>
          <p:nvPr/>
        </p:nvSpPr>
        <p:spPr>
          <a:xfrm>
            <a:off x="10477195" y="5705856"/>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200</a:t>
            </a:r>
            <a:endParaRPr lang="en-US" sz="1300" dirty="0"/>
          </a:p>
        </p:txBody>
      </p:sp>
      <p:sp>
        <p:nvSpPr>
          <p:cNvPr id="293" name="Text 97">
            <a:extLst>
              <a:ext uri="{FF2B5EF4-FFF2-40B4-BE49-F238E27FC236}">
                <a16:creationId xmlns:a16="http://schemas.microsoft.com/office/drawing/2014/main" id="{44628F4C-5894-97E2-43C2-00AB487A9912}"/>
              </a:ext>
            </a:extLst>
          </p:cNvPr>
          <p:cNvSpPr/>
          <p:nvPr/>
        </p:nvSpPr>
        <p:spPr>
          <a:xfrm>
            <a:off x="457200" y="6272784"/>
            <a:ext cx="11274552" cy="219456"/>
          </a:xfrm>
          <a:prstGeom prst="rect">
            <a:avLst/>
          </a:prstGeom>
          <a:noFill/>
          <a:ln/>
        </p:spPr>
        <p:txBody>
          <a:bodyPr wrap="square" lIns="0" tIns="0" rIns="0" bIns="0" rtlCol="0" anchor="ctr"/>
          <a:lstStyle/>
          <a:p>
            <a:pPr marL="0" indent="0">
              <a:buNone/>
            </a:pPr>
            <a:r>
              <a:rPr lang="en-US" sz="1300" i="1" dirty="0">
                <a:solidFill>
                  <a:srgbClr val="6E675E"/>
                </a:solidFill>
                <a:latin typeface="Calibri" pitchFamily="34" charset="0"/>
                <a:ea typeface="Calibri" pitchFamily="34" charset="-122"/>
                <a:cs typeface="Calibri" pitchFamily="34" charset="-120"/>
              </a:rPr>
              <a:t>Same embedder and re-ranker; AUROC is near-blind here (gold adherence positive rate 1.000 at N=25).</a:t>
            </a:r>
            <a:endParaRPr lang="en-US" sz="1300" dirty="0"/>
          </a:p>
        </p:txBody>
      </p:sp>
    </p:spTree>
    <p:extLst>
      <p:ext uri="{BB962C8B-B14F-4D97-AF65-F5344CB8AC3E}">
        <p14:creationId xmlns:p14="http://schemas.microsoft.com/office/powerpoint/2010/main" val="2063581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BAFF54ED-95EC-3135-7B11-BA34C82D7E5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2B7D87B-1DB3-67B1-3588-EC99B651E43C}"/>
              </a:ext>
            </a:extLst>
          </p:cNvPr>
          <p:cNvSpPr/>
          <p:nvPr/>
        </p:nvSpPr>
        <p:spPr>
          <a:xfrm>
            <a:off x="0" y="0"/>
            <a:ext cx="12188952" cy="1078992"/>
          </a:xfrm>
          <a:prstGeom prst="roundRect">
            <a:avLst/>
          </a:prstGeom>
          <a:solidFill>
            <a:srgbClr val="FFFFFF"/>
          </a:solidFill>
          <a:ln/>
        </p:spPr>
        <p:txBody>
          <a:bodyPr/>
          <a:lstStyle/>
          <a:p>
            <a:endParaRPr lang="en-IN"/>
          </a:p>
        </p:txBody>
      </p:sp>
      <p:sp>
        <p:nvSpPr>
          <p:cNvPr id="4" name="Text 2">
            <a:extLst>
              <a:ext uri="{FF2B5EF4-FFF2-40B4-BE49-F238E27FC236}">
                <a16:creationId xmlns:a16="http://schemas.microsoft.com/office/drawing/2014/main" id="{D036BA3B-C334-B8C4-0550-EE5EA1554DC8}"/>
              </a:ext>
            </a:extLst>
          </p:cNvPr>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Comparison</a:t>
            </a:r>
            <a:endParaRPr lang="en-US" sz="2400" dirty="0"/>
          </a:p>
        </p:txBody>
      </p:sp>
      <p:sp>
        <p:nvSpPr>
          <p:cNvPr id="7" name="Text 2">
            <a:extLst>
              <a:ext uri="{FF2B5EF4-FFF2-40B4-BE49-F238E27FC236}">
                <a16:creationId xmlns:a16="http://schemas.microsoft.com/office/drawing/2014/main" id="{5F661718-091C-E1D2-A4D2-73A2F0E26AE1}"/>
              </a:ext>
            </a:extLst>
          </p:cNvPr>
          <p:cNvSpPr/>
          <p:nvPr/>
        </p:nvSpPr>
        <p:spPr>
          <a:xfrm>
            <a:off x="457200" y="932688"/>
            <a:ext cx="7863840" cy="256032"/>
          </a:xfrm>
          <a:prstGeom prst="rect">
            <a:avLst/>
          </a:prstGeom>
          <a:noFill/>
          <a:ln/>
        </p:spPr>
        <p:txBody>
          <a:bodyPr wrap="square" lIns="0" tIns="0" rIns="0" bIns="0" rtlCol="0" anchor="ctr"/>
          <a:lstStyle/>
          <a:p>
            <a:pPr marL="0" indent="0">
              <a:buNone/>
            </a:pPr>
            <a:r>
              <a:rPr lang="en-US" sz="1600" b="1" dirty="0">
                <a:solidFill>
                  <a:srgbClr val="5A4A3C"/>
                </a:solidFill>
                <a:latin typeface="Cambria" pitchFamily="34" charset="0"/>
                <a:ea typeface="Cambria" pitchFamily="34" charset="-122"/>
                <a:cs typeface="Cambria" pitchFamily="34" charset="-120"/>
              </a:rPr>
              <a:t>Finance  ·  FinQA</a:t>
            </a:r>
            <a:endParaRPr lang="en-US" sz="1600" dirty="0"/>
          </a:p>
        </p:txBody>
      </p:sp>
      <p:sp>
        <p:nvSpPr>
          <p:cNvPr id="11" name="Shape 3">
            <a:extLst>
              <a:ext uri="{FF2B5EF4-FFF2-40B4-BE49-F238E27FC236}">
                <a16:creationId xmlns:a16="http://schemas.microsoft.com/office/drawing/2014/main" id="{41CD007A-770E-68CD-1935-1636A554E288}"/>
              </a:ext>
            </a:extLst>
          </p:cNvPr>
          <p:cNvSpPr/>
          <p:nvPr/>
        </p:nvSpPr>
        <p:spPr>
          <a:xfrm>
            <a:off x="457200" y="1207008"/>
            <a:ext cx="5532120" cy="2176272"/>
          </a:xfrm>
          <a:prstGeom prst="roundRect">
            <a:avLst>
              <a:gd name="adj" fmla="val 2521"/>
            </a:avLst>
          </a:prstGeom>
          <a:solidFill>
            <a:srgbClr val="FAF4ED"/>
          </a:solidFill>
          <a:ln w="12700">
            <a:solidFill>
              <a:srgbClr val="E0D0BC"/>
            </a:solidFill>
            <a:prstDash val="solid"/>
          </a:ln>
        </p:spPr>
        <p:txBody>
          <a:bodyPr/>
          <a:lstStyle/>
          <a:p>
            <a:endParaRPr lang="en-IN"/>
          </a:p>
        </p:txBody>
      </p:sp>
      <p:sp>
        <p:nvSpPr>
          <p:cNvPr id="15" name="Shape 4">
            <a:extLst>
              <a:ext uri="{FF2B5EF4-FFF2-40B4-BE49-F238E27FC236}">
                <a16:creationId xmlns:a16="http://schemas.microsoft.com/office/drawing/2014/main" id="{B30CE0AD-9FF7-1468-6D60-6D4FCAADBFDB}"/>
              </a:ext>
            </a:extLst>
          </p:cNvPr>
          <p:cNvSpPr/>
          <p:nvPr/>
        </p:nvSpPr>
        <p:spPr>
          <a:xfrm>
            <a:off x="658368" y="1362456"/>
            <a:ext cx="274320" cy="274320"/>
          </a:xfrm>
          <a:prstGeom prst="ellipse">
            <a:avLst/>
          </a:prstGeom>
          <a:solidFill>
            <a:srgbClr val="6B4423"/>
          </a:solidFill>
          <a:ln/>
        </p:spPr>
        <p:txBody>
          <a:bodyPr/>
          <a:lstStyle/>
          <a:p>
            <a:endParaRPr lang="en-IN"/>
          </a:p>
        </p:txBody>
      </p:sp>
      <p:sp>
        <p:nvSpPr>
          <p:cNvPr id="19" name="Text 5">
            <a:extLst>
              <a:ext uri="{FF2B5EF4-FFF2-40B4-BE49-F238E27FC236}">
                <a16:creationId xmlns:a16="http://schemas.microsoft.com/office/drawing/2014/main" id="{F376C048-1496-B22E-9E35-53ACE4213CB4}"/>
              </a:ext>
            </a:extLst>
          </p:cNvPr>
          <p:cNvSpPr/>
          <p:nvPr/>
        </p:nvSpPr>
        <p:spPr>
          <a:xfrm>
            <a:off x="658368" y="13624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a:t>
            </a:r>
            <a:endParaRPr lang="en-US" sz="1300" dirty="0"/>
          </a:p>
        </p:txBody>
      </p:sp>
      <p:sp>
        <p:nvSpPr>
          <p:cNvPr id="23" name="Text 6">
            <a:extLst>
              <a:ext uri="{FF2B5EF4-FFF2-40B4-BE49-F238E27FC236}">
                <a16:creationId xmlns:a16="http://schemas.microsoft.com/office/drawing/2014/main" id="{ABB55445-A505-8ACF-7385-FB1EFB8340D3}"/>
              </a:ext>
            </a:extLst>
          </p:cNvPr>
          <p:cNvSpPr/>
          <p:nvPr/>
        </p:nvSpPr>
        <p:spPr>
          <a:xfrm>
            <a:off x="1005840" y="1353312"/>
            <a:ext cx="3017520" cy="292608"/>
          </a:xfrm>
          <a:prstGeom prst="rect">
            <a:avLst/>
          </a:prstGeom>
          <a:noFill/>
          <a:ln/>
        </p:spPr>
        <p:txBody>
          <a:bodyPr wrap="square" lIns="0" tIns="0" rIns="0" bIns="0" rtlCol="0" anchor="ctr"/>
          <a:lstStyle/>
          <a:p>
            <a:pPr marL="0" indent="0">
              <a:buNone/>
            </a:pPr>
            <a:r>
              <a:rPr lang="en-US" sz="1350" b="1" kern="0" spc="60" dirty="0">
                <a:solidFill>
                  <a:srgbClr val="6B4423"/>
                </a:solidFill>
                <a:latin typeface="Calibri" pitchFamily="34" charset="0"/>
                <a:ea typeface="Calibri" pitchFamily="34" charset="-122"/>
                <a:cs typeface="Calibri" pitchFamily="34" charset="-120"/>
              </a:rPr>
              <a:t>GREEDY  ·  stage-wise ladder</a:t>
            </a:r>
            <a:endParaRPr lang="en-US" sz="1350" dirty="0"/>
          </a:p>
        </p:txBody>
      </p:sp>
      <p:sp>
        <p:nvSpPr>
          <p:cNvPr id="27" name="Text 7">
            <a:extLst>
              <a:ext uri="{FF2B5EF4-FFF2-40B4-BE49-F238E27FC236}">
                <a16:creationId xmlns:a16="http://schemas.microsoft.com/office/drawing/2014/main" id="{4A547D7E-7D2C-FA88-AF17-B28AE7C7862A}"/>
              </a:ext>
            </a:extLst>
          </p:cNvPr>
          <p:cNvSpPr/>
          <p:nvPr/>
        </p:nvSpPr>
        <p:spPr>
          <a:xfrm>
            <a:off x="4087368" y="1353312"/>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NEW-A</a:t>
            </a:r>
            <a:endParaRPr lang="en-US" sz="1300" dirty="0"/>
          </a:p>
        </p:txBody>
      </p:sp>
      <p:sp>
        <p:nvSpPr>
          <p:cNvPr id="31" name="Text 8">
            <a:extLst>
              <a:ext uri="{FF2B5EF4-FFF2-40B4-BE49-F238E27FC236}">
                <a16:creationId xmlns:a16="http://schemas.microsoft.com/office/drawing/2014/main" id="{466035A4-A0BE-049D-40DD-B598F71EB654}"/>
              </a:ext>
            </a:extLst>
          </p:cNvPr>
          <p:cNvSpPr/>
          <p:nvPr/>
        </p:nvSpPr>
        <p:spPr>
          <a:xfrm>
            <a:off x="685800" y="164592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35" name="Text 9">
            <a:extLst>
              <a:ext uri="{FF2B5EF4-FFF2-40B4-BE49-F238E27FC236}">
                <a16:creationId xmlns:a16="http://schemas.microsoft.com/office/drawing/2014/main" id="{A728095A-BE81-2EB0-EC32-F7A02D08CCBF}"/>
              </a:ext>
            </a:extLst>
          </p:cNvPr>
          <p:cNvSpPr/>
          <p:nvPr/>
        </p:nvSpPr>
        <p:spPr>
          <a:xfrm>
            <a:off x="1874520" y="164592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Whole Document</a:t>
            </a:r>
            <a:endParaRPr lang="en-US" sz="1300" dirty="0"/>
          </a:p>
        </p:txBody>
      </p:sp>
      <p:sp>
        <p:nvSpPr>
          <p:cNvPr id="39" name="Text 10">
            <a:extLst>
              <a:ext uri="{FF2B5EF4-FFF2-40B4-BE49-F238E27FC236}">
                <a16:creationId xmlns:a16="http://schemas.microsoft.com/office/drawing/2014/main" id="{1A8057EF-3C37-7BDE-1154-5165DED6AE30}"/>
              </a:ext>
            </a:extLst>
          </p:cNvPr>
          <p:cNvSpPr/>
          <p:nvPr/>
        </p:nvSpPr>
        <p:spPr>
          <a:xfrm>
            <a:off x="685800" y="184251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43" name="Text 11">
            <a:extLst>
              <a:ext uri="{FF2B5EF4-FFF2-40B4-BE49-F238E27FC236}">
                <a16:creationId xmlns:a16="http://schemas.microsoft.com/office/drawing/2014/main" id="{D7467AC1-C1E9-EB59-6853-9064E526CDA1}"/>
              </a:ext>
            </a:extLst>
          </p:cNvPr>
          <p:cNvSpPr/>
          <p:nvPr/>
        </p:nvSpPr>
        <p:spPr>
          <a:xfrm>
            <a:off x="1874520" y="184251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ProsusAI/FinBERT (mean-pooled)</a:t>
            </a:r>
            <a:endParaRPr lang="en-US" sz="1300" dirty="0"/>
          </a:p>
        </p:txBody>
      </p:sp>
      <p:sp>
        <p:nvSpPr>
          <p:cNvPr id="47" name="Text 12">
            <a:extLst>
              <a:ext uri="{FF2B5EF4-FFF2-40B4-BE49-F238E27FC236}">
                <a16:creationId xmlns:a16="http://schemas.microsoft.com/office/drawing/2014/main" id="{37537F84-AF0B-3169-4332-0F7A8990FF8E}"/>
              </a:ext>
            </a:extLst>
          </p:cNvPr>
          <p:cNvSpPr/>
          <p:nvPr/>
        </p:nvSpPr>
        <p:spPr>
          <a:xfrm>
            <a:off x="685800" y="203911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51" name="Text 13">
            <a:extLst>
              <a:ext uri="{FF2B5EF4-FFF2-40B4-BE49-F238E27FC236}">
                <a16:creationId xmlns:a16="http://schemas.microsoft.com/office/drawing/2014/main" id="{0E0417FE-A6E2-8681-B32E-E11F98A6D287}"/>
              </a:ext>
            </a:extLst>
          </p:cNvPr>
          <p:cNvSpPr/>
          <p:nvPr/>
        </p:nvSpPr>
        <p:spPr>
          <a:xfrm>
            <a:off x="1874520" y="2039112"/>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FAISS dense, k=3</a:t>
            </a:r>
            <a:endParaRPr lang="en-US" sz="1300" dirty="0"/>
          </a:p>
        </p:txBody>
      </p:sp>
      <p:sp>
        <p:nvSpPr>
          <p:cNvPr id="55" name="Text 14">
            <a:extLst>
              <a:ext uri="{FF2B5EF4-FFF2-40B4-BE49-F238E27FC236}">
                <a16:creationId xmlns:a16="http://schemas.microsoft.com/office/drawing/2014/main" id="{464A8EE6-2EF7-165B-87C2-24FD6F8315D1}"/>
              </a:ext>
            </a:extLst>
          </p:cNvPr>
          <p:cNvSpPr/>
          <p:nvPr/>
        </p:nvSpPr>
        <p:spPr>
          <a:xfrm>
            <a:off x="685800" y="223570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59" name="Text 15">
            <a:extLst>
              <a:ext uri="{FF2B5EF4-FFF2-40B4-BE49-F238E27FC236}">
                <a16:creationId xmlns:a16="http://schemas.microsoft.com/office/drawing/2014/main" id="{3E5C6C26-714A-51C1-7C21-C6341D39353E}"/>
              </a:ext>
            </a:extLst>
          </p:cNvPr>
          <p:cNvSpPr/>
          <p:nvPr/>
        </p:nvSpPr>
        <p:spPr>
          <a:xfrm>
            <a:off x="1874520" y="223570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None + Sides</a:t>
            </a:r>
            <a:endParaRPr lang="en-US" sz="1300" dirty="0"/>
          </a:p>
        </p:txBody>
      </p:sp>
      <p:sp>
        <p:nvSpPr>
          <p:cNvPr id="63" name="Text 16">
            <a:extLst>
              <a:ext uri="{FF2B5EF4-FFF2-40B4-BE49-F238E27FC236}">
                <a16:creationId xmlns:a16="http://schemas.microsoft.com/office/drawing/2014/main" id="{C5EF0AF1-286A-29CB-EE8C-8B6F92643C17}"/>
              </a:ext>
            </a:extLst>
          </p:cNvPr>
          <p:cNvSpPr/>
          <p:nvPr/>
        </p:nvSpPr>
        <p:spPr>
          <a:xfrm>
            <a:off x="685800" y="243230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67" name="Text 17">
            <a:extLst>
              <a:ext uri="{FF2B5EF4-FFF2-40B4-BE49-F238E27FC236}">
                <a16:creationId xmlns:a16="http://schemas.microsoft.com/office/drawing/2014/main" id="{0556540B-10D8-5611-18AB-F22B9DAE5163}"/>
              </a:ext>
            </a:extLst>
          </p:cNvPr>
          <p:cNvSpPr/>
          <p:nvPr/>
        </p:nvSpPr>
        <p:spPr>
          <a:xfrm>
            <a:off x="1874520" y="2432304"/>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71" name="Text 18">
            <a:extLst>
              <a:ext uri="{FF2B5EF4-FFF2-40B4-BE49-F238E27FC236}">
                <a16:creationId xmlns:a16="http://schemas.microsoft.com/office/drawing/2014/main" id="{429FE4AA-44CD-9CDC-7A9C-B0E2B4D1739E}"/>
              </a:ext>
            </a:extLst>
          </p:cNvPr>
          <p:cNvSpPr/>
          <p:nvPr/>
        </p:nvSpPr>
        <p:spPr>
          <a:xfrm>
            <a:off x="685800" y="262890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75" name="Text 19">
            <a:extLst>
              <a:ext uri="{FF2B5EF4-FFF2-40B4-BE49-F238E27FC236}">
                <a16:creationId xmlns:a16="http://schemas.microsoft.com/office/drawing/2014/main" id="{2B9610ED-0F0E-AA81-76A8-FD2299B33787}"/>
              </a:ext>
            </a:extLst>
          </p:cNvPr>
          <p:cNvSpPr/>
          <p:nvPr/>
        </p:nvSpPr>
        <p:spPr>
          <a:xfrm>
            <a:off x="1874520" y="2628900"/>
            <a:ext cx="3886200" cy="187452"/>
          </a:xfrm>
          <a:prstGeom prst="rect">
            <a:avLst/>
          </a:prstGeom>
          <a:noFill/>
          <a:ln/>
        </p:spPr>
        <p:txBody>
          <a:bodyPr wrap="square" lIns="0" tIns="0" rIns="0" bIns="0" rtlCol="0" anchor="ctr"/>
          <a:lstStyle/>
          <a:p>
            <a:pPr marL="0" indent="0">
              <a:buNone/>
            </a:pPr>
            <a:r>
              <a:rPr lang="en-US" sz="1300" b="1" dirty="0">
                <a:solidFill>
                  <a:srgbClr val="6B4423"/>
                </a:solidFill>
                <a:latin typeface="Calibri" pitchFamily="34" charset="0"/>
                <a:ea typeface="Calibri" pitchFamily="34" charset="-122"/>
                <a:cs typeface="Calibri" pitchFamily="34" charset="-120"/>
              </a:rPr>
              <a:t>llama-3.1-8b  (weaker than generator)</a:t>
            </a:r>
            <a:endParaRPr lang="en-US" sz="1300" dirty="0"/>
          </a:p>
        </p:txBody>
      </p:sp>
      <p:sp>
        <p:nvSpPr>
          <p:cNvPr id="79" name="Shape 20">
            <a:extLst>
              <a:ext uri="{FF2B5EF4-FFF2-40B4-BE49-F238E27FC236}">
                <a16:creationId xmlns:a16="http://schemas.microsoft.com/office/drawing/2014/main" id="{5E0C6F11-D94A-5197-3788-888537E1859F}"/>
              </a:ext>
            </a:extLst>
          </p:cNvPr>
          <p:cNvSpPr/>
          <p:nvPr/>
        </p:nvSpPr>
        <p:spPr>
          <a:xfrm>
            <a:off x="658368" y="2852928"/>
            <a:ext cx="5129784" cy="475488"/>
          </a:xfrm>
          <a:prstGeom prst="roundRect">
            <a:avLst>
              <a:gd name="adj" fmla="val 7692"/>
            </a:avLst>
          </a:prstGeom>
          <a:solidFill>
            <a:srgbClr val="FFFFFF"/>
          </a:solidFill>
          <a:ln w="12700">
            <a:solidFill>
              <a:srgbClr val="E0D0BC"/>
            </a:solidFill>
            <a:prstDash val="solid"/>
          </a:ln>
        </p:spPr>
        <p:txBody>
          <a:bodyPr/>
          <a:lstStyle/>
          <a:p>
            <a:endParaRPr lang="en-IN"/>
          </a:p>
        </p:txBody>
      </p:sp>
      <p:sp>
        <p:nvSpPr>
          <p:cNvPr id="81" name="Text 21">
            <a:extLst>
              <a:ext uri="{FF2B5EF4-FFF2-40B4-BE49-F238E27FC236}">
                <a16:creationId xmlns:a16="http://schemas.microsoft.com/office/drawing/2014/main" id="{ED3DA9DE-E6D5-AA73-A459-C71BEA1781C4}"/>
              </a:ext>
            </a:extLst>
          </p:cNvPr>
          <p:cNvSpPr/>
          <p:nvPr/>
        </p:nvSpPr>
        <p:spPr>
          <a:xfrm>
            <a:off x="704088"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0.3534</a:t>
            </a:r>
            <a:endParaRPr lang="en-US" sz="1300" dirty="0"/>
          </a:p>
        </p:txBody>
      </p:sp>
      <p:sp>
        <p:nvSpPr>
          <p:cNvPr id="84" name="Text 22">
            <a:extLst>
              <a:ext uri="{FF2B5EF4-FFF2-40B4-BE49-F238E27FC236}">
                <a16:creationId xmlns:a16="http://schemas.microsoft.com/office/drawing/2014/main" id="{51C6E1E4-5B5F-7B25-1125-B287B2F9AEB5}"/>
              </a:ext>
            </a:extLst>
          </p:cNvPr>
          <p:cNvSpPr/>
          <p:nvPr/>
        </p:nvSpPr>
        <p:spPr>
          <a:xfrm>
            <a:off x="1711757"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0.1067</a:t>
            </a:r>
            <a:endParaRPr lang="en-US" sz="1300" dirty="0"/>
          </a:p>
        </p:txBody>
      </p:sp>
      <p:sp>
        <p:nvSpPr>
          <p:cNvPr id="87" name="Text 23">
            <a:extLst>
              <a:ext uri="{FF2B5EF4-FFF2-40B4-BE49-F238E27FC236}">
                <a16:creationId xmlns:a16="http://schemas.microsoft.com/office/drawing/2014/main" id="{CBAA791C-4461-F8FD-CF6E-EE23F4CFA1C6}"/>
              </a:ext>
            </a:extLst>
          </p:cNvPr>
          <p:cNvSpPr/>
          <p:nvPr/>
        </p:nvSpPr>
        <p:spPr>
          <a:xfrm>
            <a:off x="2719426"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0.6035</a:t>
            </a:r>
            <a:endParaRPr lang="en-US" sz="1300" dirty="0"/>
          </a:p>
        </p:txBody>
      </p:sp>
      <p:sp>
        <p:nvSpPr>
          <p:cNvPr id="89" name="Text 24">
            <a:extLst>
              <a:ext uri="{FF2B5EF4-FFF2-40B4-BE49-F238E27FC236}">
                <a16:creationId xmlns:a16="http://schemas.microsoft.com/office/drawing/2014/main" id="{5A2B630D-82FB-B555-974A-520BA518E785}"/>
              </a:ext>
            </a:extLst>
          </p:cNvPr>
          <p:cNvSpPr/>
          <p:nvPr/>
        </p:nvSpPr>
        <p:spPr>
          <a:xfrm>
            <a:off x="3727094"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6B4423"/>
                </a:solidFill>
                <a:latin typeface="Calibri" pitchFamily="34" charset="0"/>
                <a:ea typeface="Calibri" pitchFamily="34" charset="-122"/>
                <a:cs typeface="Calibri" pitchFamily="34" charset="-120"/>
              </a:rPr>
              <a:t>0.6196</a:t>
            </a:r>
            <a:endParaRPr lang="en-US" sz="1300" dirty="0"/>
          </a:p>
        </p:txBody>
      </p:sp>
      <p:sp>
        <p:nvSpPr>
          <p:cNvPr id="92" name="Text 25">
            <a:extLst>
              <a:ext uri="{FF2B5EF4-FFF2-40B4-BE49-F238E27FC236}">
                <a16:creationId xmlns:a16="http://schemas.microsoft.com/office/drawing/2014/main" id="{E1C08F39-C8FA-BABA-92CB-C91586D6194B}"/>
              </a:ext>
            </a:extLst>
          </p:cNvPr>
          <p:cNvSpPr/>
          <p:nvPr/>
        </p:nvSpPr>
        <p:spPr>
          <a:xfrm>
            <a:off x="4734763"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196</a:t>
            </a:r>
            <a:endParaRPr lang="en-US" sz="1300" dirty="0"/>
          </a:p>
        </p:txBody>
      </p:sp>
      <p:sp>
        <p:nvSpPr>
          <p:cNvPr id="95" name="Shape 26">
            <a:extLst>
              <a:ext uri="{FF2B5EF4-FFF2-40B4-BE49-F238E27FC236}">
                <a16:creationId xmlns:a16="http://schemas.microsoft.com/office/drawing/2014/main" id="{B81FF042-79D8-095D-FE01-025F1358A6CF}"/>
              </a:ext>
            </a:extLst>
          </p:cNvPr>
          <p:cNvSpPr/>
          <p:nvPr/>
        </p:nvSpPr>
        <p:spPr>
          <a:xfrm>
            <a:off x="6199632" y="1207008"/>
            <a:ext cx="5532120" cy="2176272"/>
          </a:xfrm>
          <a:prstGeom prst="roundRect">
            <a:avLst>
              <a:gd name="adj" fmla="val 2521"/>
            </a:avLst>
          </a:prstGeom>
          <a:solidFill>
            <a:srgbClr val="F1F5EE"/>
          </a:solidFill>
          <a:ln w="12700">
            <a:solidFill>
              <a:srgbClr val="CEDCC7"/>
            </a:solidFill>
            <a:prstDash val="solid"/>
          </a:ln>
        </p:spPr>
        <p:txBody>
          <a:bodyPr/>
          <a:lstStyle/>
          <a:p>
            <a:endParaRPr lang="en-IN"/>
          </a:p>
        </p:txBody>
      </p:sp>
      <p:sp>
        <p:nvSpPr>
          <p:cNvPr id="97" name="Shape 27">
            <a:extLst>
              <a:ext uri="{FF2B5EF4-FFF2-40B4-BE49-F238E27FC236}">
                <a16:creationId xmlns:a16="http://schemas.microsoft.com/office/drawing/2014/main" id="{3037F3BA-8DDA-35D6-A7F5-DBC3631C932C}"/>
              </a:ext>
            </a:extLst>
          </p:cNvPr>
          <p:cNvSpPr/>
          <p:nvPr/>
        </p:nvSpPr>
        <p:spPr>
          <a:xfrm>
            <a:off x="6400800" y="1362456"/>
            <a:ext cx="274320" cy="274320"/>
          </a:xfrm>
          <a:prstGeom prst="ellipse">
            <a:avLst/>
          </a:prstGeom>
          <a:solidFill>
            <a:srgbClr val="44663F"/>
          </a:solidFill>
          <a:ln/>
        </p:spPr>
        <p:txBody>
          <a:bodyPr/>
          <a:lstStyle/>
          <a:p>
            <a:endParaRPr lang="en-IN"/>
          </a:p>
        </p:txBody>
      </p:sp>
      <p:sp>
        <p:nvSpPr>
          <p:cNvPr id="100" name="Text 28">
            <a:extLst>
              <a:ext uri="{FF2B5EF4-FFF2-40B4-BE49-F238E27FC236}">
                <a16:creationId xmlns:a16="http://schemas.microsoft.com/office/drawing/2014/main" id="{D5A9FE44-4B93-A2C3-4219-1F75A64BAC8E}"/>
              </a:ext>
            </a:extLst>
          </p:cNvPr>
          <p:cNvSpPr/>
          <p:nvPr/>
        </p:nvSpPr>
        <p:spPr>
          <a:xfrm>
            <a:off x="6400800" y="1362456"/>
            <a:ext cx="27432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t>
            </a:r>
            <a:endParaRPr lang="en-US" sz="1300" dirty="0"/>
          </a:p>
        </p:txBody>
      </p:sp>
      <p:sp>
        <p:nvSpPr>
          <p:cNvPr id="103" name="Text 29">
            <a:extLst>
              <a:ext uri="{FF2B5EF4-FFF2-40B4-BE49-F238E27FC236}">
                <a16:creationId xmlns:a16="http://schemas.microsoft.com/office/drawing/2014/main" id="{6DACB878-E527-7792-384D-B30B15A69E2D}"/>
              </a:ext>
            </a:extLst>
          </p:cNvPr>
          <p:cNvSpPr/>
          <p:nvPr/>
        </p:nvSpPr>
        <p:spPr>
          <a:xfrm>
            <a:off x="6748272" y="1353312"/>
            <a:ext cx="3017520" cy="292608"/>
          </a:xfrm>
          <a:prstGeom prst="rect">
            <a:avLst/>
          </a:prstGeom>
          <a:noFill/>
          <a:ln/>
        </p:spPr>
        <p:txBody>
          <a:bodyPr wrap="square" lIns="0" tIns="0" rIns="0" bIns="0" rtlCol="0" anchor="ctr"/>
          <a:lstStyle/>
          <a:p>
            <a:pPr marL="0" indent="0">
              <a:buNone/>
            </a:pPr>
            <a:r>
              <a:rPr lang="en-US" sz="1350" b="1" kern="0" spc="60" dirty="0">
                <a:solidFill>
                  <a:srgbClr val="44663F"/>
                </a:solidFill>
                <a:latin typeface="Calibri" pitchFamily="34" charset="0"/>
                <a:ea typeface="Calibri" pitchFamily="34" charset="-122"/>
                <a:cs typeface="Calibri" pitchFamily="34" charset="-120"/>
              </a:rPr>
              <a:t>FACTORIAL  ·  full grid</a:t>
            </a:r>
            <a:endParaRPr lang="en-US" sz="1350" dirty="0"/>
          </a:p>
        </p:txBody>
      </p:sp>
      <p:sp>
        <p:nvSpPr>
          <p:cNvPr id="105" name="Text 30">
            <a:extLst>
              <a:ext uri="{FF2B5EF4-FFF2-40B4-BE49-F238E27FC236}">
                <a16:creationId xmlns:a16="http://schemas.microsoft.com/office/drawing/2014/main" id="{9DBE0275-4CD3-E047-4FE2-93BA7F04ABA4}"/>
              </a:ext>
            </a:extLst>
          </p:cNvPr>
          <p:cNvSpPr/>
          <p:nvPr/>
        </p:nvSpPr>
        <p:spPr>
          <a:xfrm>
            <a:off x="9829800" y="1353312"/>
            <a:ext cx="1719072" cy="292608"/>
          </a:xfrm>
          <a:prstGeom prst="rect">
            <a:avLst/>
          </a:prstGeom>
          <a:noFill/>
          <a:ln/>
        </p:spPr>
        <p:txBody>
          <a:bodyPr wrap="square" lIns="0" tIns="0" rIns="0" bIns="0" rtlCol="0" anchor="ctr"/>
          <a:lstStyle/>
          <a:p>
            <a:pPr marL="0" indent="0" algn="r">
              <a:buNone/>
            </a:pPr>
            <a:r>
              <a:rPr lang="en-US" sz="1300" dirty="0">
                <a:solidFill>
                  <a:srgbClr val="6E675E"/>
                </a:solidFill>
                <a:latin typeface="Courier New" pitchFamily="34" charset="0"/>
                <a:ea typeface="Courier New" pitchFamily="34" charset="-122"/>
                <a:cs typeface="Courier New" pitchFamily="34" charset="-120"/>
              </a:rPr>
              <a:t>FIN-031</a:t>
            </a:r>
            <a:endParaRPr lang="en-US" sz="1300" dirty="0"/>
          </a:p>
        </p:txBody>
      </p:sp>
      <p:sp>
        <p:nvSpPr>
          <p:cNvPr id="108" name="Text 31">
            <a:extLst>
              <a:ext uri="{FF2B5EF4-FFF2-40B4-BE49-F238E27FC236}">
                <a16:creationId xmlns:a16="http://schemas.microsoft.com/office/drawing/2014/main" id="{C102EBAE-A210-16B6-6D50-7D323DDBC23E}"/>
              </a:ext>
            </a:extLst>
          </p:cNvPr>
          <p:cNvSpPr/>
          <p:nvPr/>
        </p:nvSpPr>
        <p:spPr>
          <a:xfrm>
            <a:off x="6428232" y="164592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Chunking</a:t>
            </a:r>
            <a:endParaRPr lang="en-US" sz="1300" dirty="0"/>
          </a:p>
        </p:txBody>
      </p:sp>
      <p:sp>
        <p:nvSpPr>
          <p:cNvPr id="111" name="Text 32">
            <a:extLst>
              <a:ext uri="{FF2B5EF4-FFF2-40B4-BE49-F238E27FC236}">
                <a16:creationId xmlns:a16="http://schemas.microsoft.com/office/drawing/2014/main" id="{297961AD-C969-A464-2ACF-5A110D3AFB6B}"/>
              </a:ext>
            </a:extLst>
          </p:cNvPr>
          <p:cNvSpPr/>
          <p:nvPr/>
        </p:nvSpPr>
        <p:spPr>
          <a:xfrm>
            <a:off x="7616952" y="1645920"/>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fixed_150w</a:t>
            </a:r>
            <a:endParaRPr lang="en-US" sz="1300" dirty="0"/>
          </a:p>
        </p:txBody>
      </p:sp>
      <p:sp>
        <p:nvSpPr>
          <p:cNvPr id="113" name="Text 33">
            <a:extLst>
              <a:ext uri="{FF2B5EF4-FFF2-40B4-BE49-F238E27FC236}">
                <a16:creationId xmlns:a16="http://schemas.microsoft.com/office/drawing/2014/main" id="{BAF8CD14-54B1-B6FC-EAB0-1F962761CC82}"/>
              </a:ext>
            </a:extLst>
          </p:cNvPr>
          <p:cNvSpPr/>
          <p:nvPr/>
        </p:nvSpPr>
        <p:spPr>
          <a:xfrm>
            <a:off x="6428232" y="1842516"/>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Embedder</a:t>
            </a:r>
            <a:endParaRPr lang="en-US" sz="1300" dirty="0"/>
          </a:p>
        </p:txBody>
      </p:sp>
      <p:sp>
        <p:nvSpPr>
          <p:cNvPr id="116" name="Text 34">
            <a:extLst>
              <a:ext uri="{FF2B5EF4-FFF2-40B4-BE49-F238E27FC236}">
                <a16:creationId xmlns:a16="http://schemas.microsoft.com/office/drawing/2014/main" id="{11A3C4C6-E41D-0E3B-476D-280683ED3F2A}"/>
              </a:ext>
            </a:extLst>
          </p:cNvPr>
          <p:cNvSpPr/>
          <p:nvPr/>
        </p:nvSpPr>
        <p:spPr>
          <a:xfrm>
            <a:off x="7616952" y="1842516"/>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finbert</a:t>
            </a:r>
            <a:endParaRPr lang="en-US" sz="1300" dirty="0"/>
          </a:p>
        </p:txBody>
      </p:sp>
      <p:sp>
        <p:nvSpPr>
          <p:cNvPr id="119" name="Text 35">
            <a:extLst>
              <a:ext uri="{FF2B5EF4-FFF2-40B4-BE49-F238E27FC236}">
                <a16:creationId xmlns:a16="http://schemas.microsoft.com/office/drawing/2014/main" id="{489FC1A8-29E2-0D17-FB36-9ABCD6ABDB55}"/>
              </a:ext>
            </a:extLst>
          </p:cNvPr>
          <p:cNvSpPr/>
          <p:nvPr/>
        </p:nvSpPr>
        <p:spPr>
          <a:xfrm>
            <a:off x="6428232" y="2039112"/>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Retrieval</a:t>
            </a:r>
            <a:endParaRPr lang="en-US" sz="1300" dirty="0"/>
          </a:p>
        </p:txBody>
      </p:sp>
      <p:sp>
        <p:nvSpPr>
          <p:cNvPr id="121" name="Text 36">
            <a:extLst>
              <a:ext uri="{FF2B5EF4-FFF2-40B4-BE49-F238E27FC236}">
                <a16:creationId xmlns:a16="http://schemas.microsoft.com/office/drawing/2014/main" id="{FF49C629-E80B-5FBB-BD4E-D7C7D9C85E19}"/>
              </a:ext>
            </a:extLst>
          </p:cNvPr>
          <p:cNvSpPr/>
          <p:nvPr/>
        </p:nvSpPr>
        <p:spPr>
          <a:xfrm>
            <a:off x="7616952" y="2039112"/>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hybrid RRF, k=5</a:t>
            </a:r>
            <a:endParaRPr lang="en-US" sz="1300" dirty="0"/>
          </a:p>
        </p:txBody>
      </p:sp>
      <p:sp>
        <p:nvSpPr>
          <p:cNvPr id="124" name="Text 37">
            <a:extLst>
              <a:ext uri="{FF2B5EF4-FFF2-40B4-BE49-F238E27FC236}">
                <a16:creationId xmlns:a16="http://schemas.microsoft.com/office/drawing/2014/main" id="{590822E4-3F99-C429-6D99-4D67FAD5E61C}"/>
              </a:ext>
            </a:extLst>
          </p:cNvPr>
          <p:cNvSpPr/>
          <p:nvPr/>
        </p:nvSpPr>
        <p:spPr>
          <a:xfrm>
            <a:off x="6428232" y="2235708"/>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Rerank / order</a:t>
            </a:r>
            <a:endParaRPr lang="en-US" sz="1300" dirty="0"/>
          </a:p>
        </p:txBody>
      </p:sp>
      <p:sp>
        <p:nvSpPr>
          <p:cNvPr id="127" name="Text 38">
            <a:extLst>
              <a:ext uri="{FF2B5EF4-FFF2-40B4-BE49-F238E27FC236}">
                <a16:creationId xmlns:a16="http://schemas.microsoft.com/office/drawing/2014/main" id="{1C6C9785-2153-4964-F0CF-E8431F2A5677}"/>
              </a:ext>
            </a:extLst>
          </p:cNvPr>
          <p:cNvSpPr/>
          <p:nvPr/>
        </p:nvSpPr>
        <p:spPr>
          <a:xfrm>
            <a:off x="7616952" y="2235708"/>
            <a:ext cx="3886200" cy="187452"/>
          </a:xfrm>
          <a:prstGeom prst="rect">
            <a:avLst/>
          </a:prstGeom>
          <a:noFill/>
          <a:ln/>
        </p:spPr>
        <p:txBody>
          <a:bodyPr wrap="square" lIns="0" tIns="0" rIns="0" bIns="0" rtlCol="0" anchor="ctr"/>
          <a:lstStyle/>
          <a:p>
            <a:pPr marL="0" indent="0">
              <a:buNone/>
            </a:pPr>
            <a:r>
              <a:rPr lang="en-US" sz="1300" dirty="0">
                <a:solidFill>
                  <a:srgbClr val="33322F"/>
                </a:solidFill>
                <a:latin typeface="Calibri" pitchFamily="34" charset="0"/>
                <a:ea typeface="Calibri" pitchFamily="34" charset="-122"/>
                <a:cs typeface="Calibri" pitchFamily="34" charset="-120"/>
              </a:rPr>
              <a:t>None + forward</a:t>
            </a:r>
            <a:endParaRPr lang="en-US" sz="1300" dirty="0"/>
          </a:p>
        </p:txBody>
      </p:sp>
      <p:sp>
        <p:nvSpPr>
          <p:cNvPr id="129" name="Text 39">
            <a:extLst>
              <a:ext uri="{FF2B5EF4-FFF2-40B4-BE49-F238E27FC236}">
                <a16:creationId xmlns:a16="http://schemas.microsoft.com/office/drawing/2014/main" id="{085CE3D9-BF53-0D6B-79FB-1627A9051FCB}"/>
              </a:ext>
            </a:extLst>
          </p:cNvPr>
          <p:cNvSpPr/>
          <p:nvPr/>
        </p:nvSpPr>
        <p:spPr>
          <a:xfrm>
            <a:off x="6428232" y="2432304"/>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Generator</a:t>
            </a:r>
            <a:endParaRPr lang="en-US" sz="1300" dirty="0"/>
          </a:p>
        </p:txBody>
      </p:sp>
      <p:sp>
        <p:nvSpPr>
          <p:cNvPr id="132" name="Text 40">
            <a:extLst>
              <a:ext uri="{FF2B5EF4-FFF2-40B4-BE49-F238E27FC236}">
                <a16:creationId xmlns:a16="http://schemas.microsoft.com/office/drawing/2014/main" id="{7B09A80F-A1F3-A763-F361-A7C71A77CFD7}"/>
              </a:ext>
            </a:extLst>
          </p:cNvPr>
          <p:cNvSpPr/>
          <p:nvPr/>
        </p:nvSpPr>
        <p:spPr>
          <a:xfrm>
            <a:off x="7616952" y="2432304"/>
            <a:ext cx="3886200" cy="187452"/>
          </a:xfrm>
          <a:prstGeom prst="rect">
            <a:avLst/>
          </a:prstGeom>
          <a:noFill/>
          <a:ln/>
        </p:spPr>
        <p:txBody>
          <a:bodyPr wrap="square" lIns="0" tIns="0" rIns="0" bIns="0" rtlCol="0" anchor="ctr"/>
          <a:lstStyle/>
          <a:p>
            <a:pPr marL="0" indent="0">
              <a:buNone/>
            </a:pPr>
            <a:r>
              <a:rPr lang="en-US" sz="1300" b="1" dirty="0">
                <a:solidFill>
                  <a:srgbClr val="33322F"/>
                </a:solidFill>
                <a:latin typeface="Calibri" pitchFamily="34" charset="0"/>
                <a:ea typeface="Calibri" pitchFamily="34" charset="-122"/>
                <a:cs typeface="Calibri" pitchFamily="34" charset="-120"/>
              </a:rPr>
              <a:t>llama-3.3-70b</a:t>
            </a:r>
            <a:endParaRPr lang="en-US" sz="1300" dirty="0"/>
          </a:p>
        </p:txBody>
      </p:sp>
      <p:sp>
        <p:nvSpPr>
          <p:cNvPr id="135" name="Text 41">
            <a:extLst>
              <a:ext uri="{FF2B5EF4-FFF2-40B4-BE49-F238E27FC236}">
                <a16:creationId xmlns:a16="http://schemas.microsoft.com/office/drawing/2014/main" id="{0E940A68-577D-7BA6-9CCA-025851005B1E}"/>
              </a:ext>
            </a:extLst>
          </p:cNvPr>
          <p:cNvSpPr/>
          <p:nvPr/>
        </p:nvSpPr>
        <p:spPr>
          <a:xfrm>
            <a:off x="6428232" y="2628900"/>
            <a:ext cx="1170432" cy="187452"/>
          </a:xfrm>
          <a:prstGeom prst="rect">
            <a:avLst/>
          </a:prstGeom>
          <a:noFill/>
          <a:ln/>
        </p:spPr>
        <p:txBody>
          <a:bodyPr wrap="square" lIns="0" tIns="0" rIns="0" bIns="0" rtlCol="0" anchor="ctr"/>
          <a:lstStyle/>
          <a:p>
            <a:pPr marL="0" indent="0">
              <a:buNone/>
            </a:pPr>
            <a:r>
              <a:rPr lang="en-US" sz="1300" dirty="0">
                <a:solidFill>
                  <a:srgbClr val="6E675E"/>
                </a:solidFill>
                <a:latin typeface="Calibri" pitchFamily="34" charset="0"/>
                <a:ea typeface="Calibri" pitchFamily="34" charset="-122"/>
                <a:cs typeface="Calibri" pitchFamily="34" charset="-120"/>
              </a:rPr>
              <a:t>Judge</a:t>
            </a:r>
            <a:endParaRPr lang="en-US" sz="1300" dirty="0"/>
          </a:p>
        </p:txBody>
      </p:sp>
      <p:sp>
        <p:nvSpPr>
          <p:cNvPr id="137" name="Text 42">
            <a:extLst>
              <a:ext uri="{FF2B5EF4-FFF2-40B4-BE49-F238E27FC236}">
                <a16:creationId xmlns:a16="http://schemas.microsoft.com/office/drawing/2014/main" id="{9C16B0BD-6DC7-E9C4-EF34-E34B069341A5}"/>
              </a:ext>
            </a:extLst>
          </p:cNvPr>
          <p:cNvSpPr/>
          <p:nvPr/>
        </p:nvSpPr>
        <p:spPr>
          <a:xfrm>
            <a:off x="7616952" y="2628900"/>
            <a:ext cx="3886200" cy="187452"/>
          </a:xfrm>
          <a:prstGeom prst="rect">
            <a:avLst/>
          </a:prstGeom>
          <a:noFill/>
          <a:ln/>
        </p:spPr>
        <p:txBody>
          <a:bodyPr wrap="square" lIns="0" tIns="0" rIns="0" bIns="0" rtlCol="0" anchor="ctr"/>
          <a:lstStyle/>
          <a:p>
            <a:pPr marL="0" indent="0">
              <a:buNone/>
            </a:pPr>
            <a:r>
              <a:rPr lang="en-US" sz="1300" b="1" dirty="0">
                <a:solidFill>
                  <a:srgbClr val="44663F"/>
                </a:solidFill>
                <a:latin typeface="Calibri" pitchFamily="34" charset="0"/>
                <a:ea typeface="Calibri" pitchFamily="34" charset="-122"/>
                <a:cs typeface="Calibri" pitchFamily="34" charset="-120"/>
              </a:rPr>
              <a:t>gpt-oss-120b</a:t>
            </a:r>
            <a:endParaRPr lang="en-US" sz="1300" dirty="0"/>
          </a:p>
        </p:txBody>
      </p:sp>
      <p:sp>
        <p:nvSpPr>
          <p:cNvPr id="140" name="Shape 43">
            <a:extLst>
              <a:ext uri="{FF2B5EF4-FFF2-40B4-BE49-F238E27FC236}">
                <a16:creationId xmlns:a16="http://schemas.microsoft.com/office/drawing/2014/main" id="{5F7BA4BA-554F-9869-1CBD-A4A0002C3C5F}"/>
              </a:ext>
            </a:extLst>
          </p:cNvPr>
          <p:cNvSpPr/>
          <p:nvPr/>
        </p:nvSpPr>
        <p:spPr>
          <a:xfrm>
            <a:off x="6400800" y="2852928"/>
            <a:ext cx="5129784" cy="475488"/>
          </a:xfrm>
          <a:prstGeom prst="roundRect">
            <a:avLst>
              <a:gd name="adj" fmla="val 7692"/>
            </a:avLst>
          </a:prstGeom>
          <a:solidFill>
            <a:srgbClr val="FFFFFF"/>
          </a:solidFill>
          <a:ln w="12700">
            <a:solidFill>
              <a:srgbClr val="CEDCC7"/>
            </a:solidFill>
            <a:prstDash val="solid"/>
          </a:ln>
        </p:spPr>
        <p:txBody>
          <a:bodyPr/>
          <a:lstStyle/>
          <a:p>
            <a:endParaRPr lang="en-IN"/>
          </a:p>
        </p:txBody>
      </p:sp>
      <p:sp>
        <p:nvSpPr>
          <p:cNvPr id="143" name="Text 44">
            <a:extLst>
              <a:ext uri="{FF2B5EF4-FFF2-40B4-BE49-F238E27FC236}">
                <a16:creationId xmlns:a16="http://schemas.microsoft.com/office/drawing/2014/main" id="{28BC04C2-AA1B-7AE1-AAB8-1BB448767593}"/>
              </a:ext>
            </a:extLst>
          </p:cNvPr>
          <p:cNvSpPr/>
          <p:nvPr/>
        </p:nvSpPr>
        <p:spPr>
          <a:xfrm>
            <a:off x="6446520"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Rel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0.3275</a:t>
            </a:r>
            <a:endParaRPr lang="en-US" sz="1300" dirty="0"/>
          </a:p>
        </p:txBody>
      </p:sp>
      <p:sp>
        <p:nvSpPr>
          <p:cNvPr id="145" name="Text 45">
            <a:extLst>
              <a:ext uri="{FF2B5EF4-FFF2-40B4-BE49-F238E27FC236}">
                <a16:creationId xmlns:a16="http://schemas.microsoft.com/office/drawing/2014/main" id="{1035751C-E005-7B83-A16F-BDC03C9DB80F}"/>
              </a:ext>
            </a:extLst>
          </p:cNvPr>
          <p:cNvSpPr/>
          <p:nvPr/>
        </p:nvSpPr>
        <p:spPr>
          <a:xfrm>
            <a:off x="7454189"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Util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0.2815</a:t>
            </a:r>
            <a:endParaRPr lang="en-US" sz="1300" dirty="0"/>
          </a:p>
        </p:txBody>
      </p:sp>
      <p:sp>
        <p:nvSpPr>
          <p:cNvPr id="148" name="Text 46">
            <a:extLst>
              <a:ext uri="{FF2B5EF4-FFF2-40B4-BE49-F238E27FC236}">
                <a16:creationId xmlns:a16="http://schemas.microsoft.com/office/drawing/2014/main" id="{BAA29BC3-F48A-31F9-8B65-62BC19BBBBFD}"/>
              </a:ext>
            </a:extLst>
          </p:cNvPr>
          <p:cNvSpPr/>
          <p:nvPr/>
        </p:nvSpPr>
        <p:spPr>
          <a:xfrm>
            <a:off x="8461858"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Comp ↓</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0.4496</a:t>
            </a:r>
            <a:endParaRPr lang="en-US" sz="1300" dirty="0"/>
          </a:p>
        </p:txBody>
      </p:sp>
      <p:sp>
        <p:nvSpPr>
          <p:cNvPr id="151" name="Text 47">
            <a:extLst>
              <a:ext uri="{FF2B5EF4-FFF2-40B4-BE49-F238E27FC236}">
                <a16:creationId xmlns:a16="http://schemas.microsoft.com/office/drawing/2014/main" id="{94770504-974C-613C-9635-FA3AA9E287AA}"/>
              </a:ext>
            </a:extLst>
          </p:cNvPr>
          <p:cNvSpPr/>
          <p:nvPr/>
        </p:nvSpPr>
        <p:spPr>
          <a:xfrm>
            <a:off x="9469526"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AUROC ↑</a:t>
            </a:r>
            <a:endParaRPr lang="en-US" sz="1300" dirty="0"/>
          </a:p>
          <a:p>
            <a:pPr marL="0" indent="0" algn="ctr">
              <a:lnSpc>
                <a:spcPts val="1500"/>
              </a:lnSpc>
              <a:buNone/>
            </a:pPr>
            <a:r>
              <a:rPr lang="en-US" sz="1300" b="1" dirty="0">
                <a:solidFill>
                  <a:srgbClr val="44663F"/>
                </a:solidFill>
                <a:latin typeface="Calibri" pitchFamily="34" charset="0"/>
                <a:ea typeface="Calibri" pitchFamily="34" charset="-122"/>
                <a:cs typeface="Calibri" pitchFamily="34" charset="-120"/>
              </a:rPr>
              <a:t>0.4480</a:t>
            </a:r>
            <a:endParaRPr lang="en-US" sz="1300" dirty="0"/>
          </a:p>
        </p:txBody>
      </p:sp>
      <p:sp>
        <p:nvSpPr>
          <p:cNvPr id="153" name="Text 48">
            <a:extLst>
              <a:ext uri="{FF2B5EF4-FFF2-40B4-BE49-F238E27FC236}">
                <a16:creationId xmlns:a16="http://schemas.microsoft.com/office/drawing/2014/main" id="{4CC6BC2D-85E1-5DCC-4CAB-43CF44311183}"/>
              </a:ext>
            </a:extLst>
          </p:cNvPr>
          <p:cNvSpPr/>
          <p:nvPr/>
        </p:nvSpPr>
        <p:spPr>
          <a:xfrm>
            <a:off x="10477195" y="2852928"/>
            <a:ext cx="1007669" cy="475488"/>
          </a:xfrm>
          <a:prstGeom prst="rect">
            <a:avLst/>
          </a:prstGeom>
          <a:noFill/>
          <a:ln/>
        </p:spPr>
        <p:txBody>
          <a:bodyPr wrap="square" lIns="0" tIns="0" rIns="0" bIns="0" rtlCol="0" anchor="ctr"/>
          <a:lstStyle/>
          <a:p>
            <a:pPr marL="0" indent="0" algn="ctr">
              <a:lnSpc>
                <a:spcPts val="1500"/>
              </a:lnSpc>
              <a:buNone/>
            </a:pPr>
            <a:r>
              <a:rPr lang="en-US" sz="1300" dirty="0">
                <a:solidFill>
                  <a:srgbClr val="6E675E"/>
                </a:solidFill>
                <a:latin typeface="Calibri" pitchFamily="34" charset="0"/>
                <a:ea typeface="Calibri" pitchFamily="34" charset="-122"/>
                <a:cs typeface="Calibri" pitchFamily="34" charset="-120"/>
              </a:rPr>
              <a:t>N</a:t>
            </a:r>
            <a:endParaRPr lang="en-US" sz="1300" dirty="0"/>
          </a:p>
          <a:p>
            <a:pPr marL="0" indent="0" algn="ctr">
              <a:lnSpc>
                <a:spcPts val="1500"/>
              </a:lnSpc>
              <a:buNone/>
            </a:pPr>
            <a:r>
              <a:rPr lang="en-US" sz="1300" b="1" dirty="0">
                <a:solidFill>
                  <a:srgbClr val="33322F"/>
                </a:solidFill>
                <a:latin typeface="Calibri" pitchFamily="34" charset="0"/>
                <a:ea typeface="Calibri" pitchFamily="34" charset="-122"/>
                <a:cs typeface="Calibri" pitchFamily="34" charset="-120"/>
              </a:rPr>
              <a:t>200</a:t>
            </a:r>
            <a:endParaRPr lang="en-US" sz="1300" dirty="0"/>
          </a:p>
        </p:txBody>
      </p:sp>
      <p:sp>
        <p:nvSpPr>
          <p:cNvPr id="156" name="Text 49">
            <a:extLst>
              <a:ext uri="{FF2B5EF4-FFF2-40B4-BE49-F238E27FC236}">
                <a16:creationId xmlns:a16="http://schemas.microsoft.com/office/drawing/2014/main" id="{15C536E4-25EF-54F7-6AA5-D576DC07899F}"/>
              </a:ext>
            </a:extLst>
          </p:cNvPr>
          <p:cNvSpPr/>
          <p:nvPr/>
        </p:nvSpPr>
        <p:spPr>
          <a:xfrm>
            <a:off x="457200" y="3419856"/>
            <a:ext cx="11274552" cy="219456"/>
          </a:xfrm>
          <a:prstGeom prst="rect">
            <a:avLst/>
          </a:prstGeom>
          <a:noFill/>
          <a:ln/>
        </p:spPr>
        <p:txBody>
          <a:bodyPr wrap="square" lIns="0" tIns="0" rIns="0" bIns="0" rtlCol="0" anchor="ctr"/>
          <a:lstStyle/>
          <a:p>
            <a:pPr marL="0" indent="0">
              <a:buNone/>
            </a:pPr>
            <a:r>
              <a:rPr lang="en-US" sz="1300" i="1" dirty="0">
                <a:solidFill>
                  <a:srgbClr val="6E675E"/>
                </a:solidFill>
                <a:latin typeface="Calibri" pitchFamily="34" charset="0"/>
                <a:ea typeface="Calibri" pitchFamily="34" charset="-122"/>
                <a:cs typeface="Calibri" pitchFamily="34" charset="-120"/>
              </a:rPr>
              <a:t>Both keep FinBERT, but only inside a full stack. Note the greedy final was judged by the 8B model.</a:t>
            </a:r>
            <a:endParaRPr lang="en-US" sz="1300" dirty="0"/>
          </a:p>
        </p:txBody>
      </p:sp>
      <p:sp>
        <p:nvSpPr>
          <p:cNvPr id="159" name="Shape 50">
            <a:extLst>
              <a:ext uri="{FF2B5EF4-FFF2-40B4-BE49-F238E27FC236}">
                <a16:creationId xmlns:a16="http://schemas.microsoft.com/office/drawing/2014/main" id="{8140431D-FF69-B465-A4D3-77B180F9329B}"/>
              </a:ext>
            </a:extLst>
          </p:cNvPr>
          <p:cNvSpPr/>
          <p:nvPr/>
        </p:nvSpPr>
        <p:spPr>
          <a:xfrm>
            <a:off x="457200" y="4041648"/>
            <a:ext cx="11274552" cy="2084832"/>
          </a:xfrm>
          <a:prstGeom prst="roundRect">
            <a:avLst>
              <a:gd name="adj" fmla="val 2632"/>
            </a:avLst>
          </a:prstGeom>
          <a:solidFill>
            <a:srgbClr val="F1F5EE"/>
          </a:solidFill>
          <a:ln w="12700">
            <a:solidFill>
              <a:srgbClr val="CEDCC7"/>
            </a:solidFill>
            <a:prstDash val="solid"/>
          </a:ln>
        </p:spPr>
        <p:txBody>
          <a:bodyPr/>
          <a:lstStyle/>
          <a:p>
            <a:endParaRPr lang="en-IN"/>
          </a:p>
        </p:txBody>
      </p:sp>
      <p:sp>
        <p:nvSpPr>
          <p:cNvPr id="161" name="Text 51">
            <a:extLst>
              <a:ext uri="{FF2B5EF4-FFF2-40B4-BE49-F238E27FC236}">
                <a16:creationId xmlns:a16="http://schemas.microsoft.com/office/drawing/2014/main" id="{01D44805-B52C-55B1-99E7-85F06F393FED}"/>
              </a:ext>
            </a:extLst>
          </p:cNvPr>
          <p:cNvSpPr/>
          <p:nvPr/>
        </p:nvSpPr>
        <p:spPr>
          <a:xfrm>
            <a:off x="731520" y="4187952"/>
            <a:ext cx="10698480" cy="292608"/>
          </a:xfrm>
          <a:prstGeom prst="rect">
            <a:avLst/>
          </a:prstGeom>
          <a:noFill/>
          <a:ln/>
        </p:spPr>
        <p:txBody>
          <a:bodyPr wrap="square" lIns="0" tIns="0" rIns="0" bIns="0" rtlCol="0" anchor="ctr"/>
          <a:lstStyle/>
          <a:p>
            <a:pPr marL="0" indent="0">
              <a:buNone/>
            </a:pPr>
            <a:r>
              <a:rPr lang="en-US" sz="1550" b="1" dirty="0">
                <a:solidFill>
                  <a:srgbClr val="44663F"/>
                </a:solidFill>
                <a:latin typeface="Cambria" pitchFamily="34" charset="0"/>
                <a:ea typeface="Cambria" pitchFamily="34" charset="-122"/>
                <a:cs typeface="Cambria" pitchFamily="34" charset="-120"/>
              </a:rPr>
              <a:t>Why we ran both:  the ladder found the pipeline, the grid tested whether the ladder was entitled to it</a:t>
            </a:r>
            <a:endParaRPr lang="en-US" sz="1550" dirty="0"/>
          </a:p>
        </p:txBody>
      </p:sp>
      <p:sp>
        <p:nvSpPr>
          <p:cNvPr id="164" name="Text 52">
            <a:extLst>
              <a:ext uri="{FF2B5EF4-FFF2-40B4-BE49-F238E27FC236}">
                <a16:creationId xmlns:a16="http://schemas.microsoft.com/office/drawing/2014/main" id="{23CC898C-F60B-3D4E-0559-662CAFCC0029}"/>
              </a:ext>
            </a:extLst>
          </p:cNvPr>
          <p:cNvSpPr/>
          <p:nvPr/>
        </p:nvSpPr>
        <p:spPr>
          <a:xfrm>
            <a:off x="731520" y="4608576"/>
            <a:ext cx="3364992" cy="256032"/>
          </a:xfrm>
          <a:prstGeom prst="rect">
            <a:avLst/>
          </a:prstGeom>
          <a:noFill/>
          <a:ln/>
        </p:spPr>
        <p:txBody>
          <a:bodyPr wrap="square" lIns="0" tIns="0" rIns="0" bIns="0" rtlCol="0" anchor="ctr"/>
          <a:lstStyle/>
          <a:p>
            <a:pPr marL="0" indent="0">
              <a:buNone/>
            </a:pPr>
            <a:r>
              <a:rPr lang="en-US" sz="1350" b="1" dirty="0">
                <a:solidFill>
                  <a:srgbClr val="6B4423"/>
                </a:solidFill>
                <a:latin typeface="Calibri" pitchFamily="34" charset="0"/>
                <a:ea typeface="Calibri" pitchFamily="34" charset="-122"/>
                <a:cs typeface="Calibri" pitchFamily="34" charset="-120"/>
              </a:rPr>
              <a:t>Greedy  ·  93 experiments</a:t>
            </a:r>
            <a:endParaRPr lang="en-US" sz="1350" dirty="0"/>
          </a:p>
        </p:txBody>
      </p:sp>
      <p:sp>
        <p:nvSpPr>
          <p:cNvPr id="167" name="Text 53">
            <a:extLst>
              <a:ext uri="{FF2B5EF4-FFF2-40B4-BE49-F238E27FC236}">
                <a16:creationId xmlns:a16="http://schemas.microsoft.com/office/drawing/2014/main" id="{9B1AC183-E980-7CB7-4092-4E8C8331C5AA}"/>
              </a:ext>
            </a:extLst>
          </p:cNvPr>
          <p:cNvSpPr/>
          <p:nvPr/>
        </p:nvSpPr>
        <p:spPr>
          <a:xfrm>
            <a:off x="731520" y="4901184"/>
            <a:ext cx="3364992" cy="1078992"/>
          </a:xfrm>
          <a:prstGeom prst="rect">
            <a:avLst/>
          </a:prstGeom>
          <a:noFill/>
          <a:ln/>
        </p:spPr>
        <p:txBody>
          <a:bodyPr wrap="square" lIns="0" tIns="0" rIns="0" bIns="0" rtlCol="0" anchor="ctr"/>
          <a:lstStyle/>
          <a:p>
            <a:pPr marL="0" indent="0">
              <a:lnSpc>
                <a:spcPts val="1600"/>
              </a:lnSpc>
              <a:buNone/>
            </a:pPr>
            <a:r>
              <a:rPr lang="en-US" sz="1300" dirty="0">
                <a:solidFill>
                  <a:srgbClr val="33322F"/>
                </a:solidFill>
                <a:latin typeface="Calibri" pitchFamily="34" charset="0"/>
                <a:ea typeface="Calibri" pitchFamily="34" charset="-122"/>
                <a:cs typeface="Calibri" pitchFamily="34" charset="-120"/>
              </a:rPr>
              <a:t>Varies one component per stage, keeps the winner. Visits the sum of levels (13), not the product (96). Every locked choice traces to one named experiment.</a:t>
            </a:r>
            <a:endParaRPr lang="en-US" sz="1300" dirty="0"/>
          </a:p>
        </p:txBody>
      </p:sp>
      <p:sp>
        <p:nvSpPr>
          <p:cNvPr id="169" name="Text 54">
            <a:extLst>
              <a:ext uri="{FF2B5EF4-FFF2-40B4-BE49-F238E27FC236}">
                <a16:creationId xmlns:a16="http://schemas.microsoft.com/office/drawing/2014/main" id="{AE179F16-B4E2-E8EA-32FE-D6216D47EE2D}"/>
              </a:ext>
            </a:extLst>
          </p:cNvPr>
          <p:cNvSpPr/>
          <p:nvPr/>
        </p:nvSpPr>
        <p:spPr>
          <a:xfrm>
            <a:off x="4407408" y="4608576"/>
            <a:ext cx="3364992" cy="256032"/>
          </a:xfrm>
          <a:prstGeom prst="rect">
            <a:avLst/>
          </a:prstGeom>
          <a:noFill/>
          <a:ln/>
        </p:spPr>
        <p:txBody>
          <a:bodyPr wrap="square" lIns="0" tIns="0" rIns="0" bIns="0" rtlCol="0" anchor="ctr"/>
          <a:lstStyle/>
          <a:p>
            <a:pPr marL="0" indent="0">
              <a:buNone/>
            </a:pPr>
            <a:r>
              <a:rPr lang="en-US" sz="1350" b="1" dirty="0">
                <a:solidFill>
                  <a:srgbClr val="44663F"/>
                </a:solidFill>
                <a:latin typeface="Calibri" pitchFamily="34" charset="0"/>
                <a:ea typeface="Calibri" pitchFamily="34" charset="-122"/>
                <a:cs typeface="Calibri" pitchFamily="34" charset="-120"/>
              </a:rPr>
              <a:t>Factorial  ·  478 cells</a:t>
            </a:r>
            <a:endParaRPr lang="en-US" sz="1350" dirty="0"/>
          </a:p>
        </p:txBody>
      </p:sp>
      <p:sp>
        <p:nvSpPr>
          <p:cNvPr id="172" name="Text 55">
            <a:extLst>
              <a:ext uri="{FF2B5EF4-FFF2-40B4-BE49-F238E27FC236}">
                <a16:creationId xmlns:a16="http://schemas.microsoft.com/office/drawing/2014/main" id="{C05A65F6-4A9B-5669-92BF-0A32E9701E7A}"/>
              </a:ext>
            </a:extLst>
          </p:cNvPr>
          <p:cNvSpPr/>
          <p:nvPr/>
        </p:nvSpPr>
        <p:spPr>
          <a:xfrm>
            <a:off x="4407408" y="4901184"/>
            <a:ext cx="3364992" cy="1078992"/>
          </a:xfrm>
          <a:prstGeom prst="rect">
            <a:avLst/>
          </a:prstGeom>
          <a:noFill/>
          <a:ln/>
        </p:spPr>
        <p:txBody>
          <a:bodyPr wrap="square" lIns="0" tIns="0" rIns="0" bIns="0" rtlCol="0" anchor="ctr"/>
          <a:lstStyle/>
          <a:p>
            <a:pPr marL="0" indent="0">
              <a:lnSpc>
                <a:spcPts val="1600"/>
              </a:lnSpc>
              <a:buNone/>
            </a:pPr>
            <a:r>
              <a:rPr lang="en-US" sz="1300" dirty="0">
                <a:solidFill>
                  <a:srgbClr val="33322F"/>
                </a:solidFill>
                <a:latin typeface="Calibri" pitchFamily="34" charset="0"/>
                <a:ea typeface="Calibri" pitchFamily="34" charset="-122"/>
                <a:cs typeface="Calibri" pitchFamily="34" charset="-120"/>
              </a:rPr>
              <a:t>96 per domain, 430 eligible after the ≥0.80 judge-coverage quarantine, 18 confirmed at N=200. Reports main effects with other factors marginalised out.</a:t>
            </a:r>
            <a:endParaRPr lang="en-US" sz="1300" dirty="0"/>
          </a:p>
        </p:txBody>
      </p:sp>
      <p:sp>
        <p:nvSpPr>
          <p:cNvPr id="175" name="Text 56">
            <a:extLst>
              <a:ext uri="{FF2B5EF4-FFF2-40B4-BE49-F238E27FC236}">
                <a16:creationId xmlns:a16="http://schemas.microsoft.com/office/drawing/2014/main" id="{F897D964-188B-0407-7F35-6F14028F89CA}"/>
              </a:ext>
            </a:extLst>
          </p:cNvPr>
          <p:cNvSpPr/>
          <p:nvPr/>
        </p:nvSpPr>
        <p:spPr>
          <a:xfrm>
            <a:off x="8083296" y="4608576"/>
            <a:ext cx="3364992" cy="256032"/>
          </a:xfrm>
          <a:prstGeom prst="rect">
            <a:avLst/>
          </a:prstGeom>
          <a:noFill/>
          <a:ln/>
        </p:spPr>
        <p:txBody>
          <a:bodyPr wrap="square" lIns="0" tIns="0" rIns="0" bIns="0" rtlCol="0" anchor="ctr"/>
          <a:lstStyle/>
          <a:p>
            <a:pPr marL="0" indent="0">
              <a:buNone/>
            </a:pPr>
            <a:r>
              <a:rPr lang="en-US" sz="1350" b="1" dirty="0">
                <a:solidFill>
                  <a:srgbClr val="5A4A3C"/>
                </a:solidFill>
                <a:latin typeface="Calibri" pitchFamily="34" charset="0"/>
                <a:ea typeface="Calibri" pitchFamily="34" charset="-122"/>
                <a:cs typeface="Calibri" pitchFamily="34" charset="-120"/>
              </a:rPr>
              <a:t>What the pairing showed</a:t>
            </a:r>
            <a:endParaRPr lang="en-US" sz="1350" dirty="0"/>
          </a:p>
        </p:txBody>
      </p:sp>
      <p:sp>
        <p:nvSpPr>
          <p:cNvPr id="177" name="Text 57">
            <a:extLst>
              <a:ext uri="{FF2B5EF4-FFF2-40B4-BE49-F238E27FC236}">
                <a16:creationId xmlns:a16="http://schemas.microsoft.com/office/drawing/2014/main" id="{4FD06F74-4293-3CA6-8DA8-1EC65023B1A5}"/>
              </a:ext>
            </a:extLst>
          </p:cNvPr>
          <p:cNvSpPr/>
          <p:nvPr/>
        </p:nvSpPr>
        <p:spPr>
          <a:xfrm>
            <a:off x="8083296" y="4901184"/>
            <a:ext cx="3364992" cy="1078992"/>
          </a:xfrm>
          <a:prstGeom prst="rect">
            <a:avLst/>
          </a:prstGeom>
          <a:noFill/>
          <a:ln/>
        </p:spPr>
        <p:txBody>
          <a:bodyPr wrap="square" lIns="0" tIns="0" rIns="0" bIns="0" rtlCol="0" anchor="ctr"/>
          <a:lstStyle/>
          <a:p>
            <a:pPr marL="0" indent="0">
              <a:lnSpc>
                <a:spcPts val="1600"/>
              </a:lnSpc>
              <a:buNone/>
            </a:pPr>
            <a:r>
              <a:rPr lang="en-US" sz="1300" dirty="0">
                <a:solidFill>
                  <a:srgbClr val="33322F"/>
                </a:solidFill>
                <a:latin typeface="Calibri" pitchFamily="34" charset="0"/>
                <a:ea typeface="Calibri" pitchFamily="34" charset="-122"/>
                <a:cs typeface="Calibri" pitchFamily="34" charset="-120"/>
              </a:rPr>
              <a:t>Agreement on every negative result about domain encoders. Disagreement only where components interact — Finance EXP-013 and CS-EXP-023 win as combinations.</a:t>
            </a:r>
            <a:endParaRPr lang="en-US" sz="1300" dirty="0"/>
          </a:p>
        </p:txBody>
      </p:sp>
      <p:sp>
        <p:nvSpPr>
          <p:cNvPr id="180" name="Text 58">
            <a:extLst>
              <a:ext uri="{FF2B5EF4-FFF2-40B4-BE49-F238E27FC236}">
                <a16:creationId xmlns:a16="http://schemas.microsoft.com/office/drawing/2014/main" id="{37780B50-6E03-B3F3-10E0-CC6A4D606CCB}"/>
              </a:ext>
            </a:extLst>
          </p:cNvPr>
          <p:cNvSpPr/>
          <p:nvPr/>
        </p:nvSpPr>
        <p:spPr>
          <a:xfrm>
            <a:off x="457200" y="6236208"/>
            <a:ext cx="11274552" cy="237744"/>
          </a:xfrm>
          <a:prstGeom prst="rect">
            <a:avLst/>
          </a:prstGeom>
          <a:noFill/>
          <a:ln/>
        </p:spPr>
        <p:txBody>
          <a:bodyPr wrap="square" lIns="0" tIns="0" rIns="0" bIns="0" rtlCol="0" anchor="ctr"/>
          <a:lstStyle/>
          <a:p>
            <a:pPr marL="0" indent="0">
              <a:buNone/>
            </a:pPr>
            <a:r>
              <a:rPr lang="en-US" sz="1300" i="1" dirty="0">
                <a:solidFill>
                  <a:srgbClr val="6E675E"/>
                </a:solidFill>
                <a:latin typeface="Calibri" pitchFamily="34" charset="0"/>
                <a:ea typeface="Calibri" pitchFamily="34" charset="-122"/>
                <a:cs typeface="Calibri" pitchFamily="34" charset="-120"/>
              </a:rPr>
              <a:t>Caveat: the ladders varied generator and judge as part of the search; the grid held the generator fixed and swept retrieval-side factors only. Quote one artefact at a time.</a:t>
            </a:r>
            <a:endParaRPr lang="en-US" sz="1300" dirty="0"/>
          </a:p>
        </p:txBody>
      </p:sp>
    </p:spTree>
    <p:extLst>
      <p:ext uri="{BB962C8B-B14F-4D97-AF65-F5344CB8AC3E}">
        <p14:creationId xmlns:p14="http://schemas.microsoft.com/office/powerpoint/2010/main" val="430938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D0E8E2D3-C7C5-6F65-1372-8BD03EC8508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65FDA8A-3D33-B7A7-6AA1-C2AA7B15AF87}"/>
              </a:ext>
            </a:extLst>
          </p:cNvPr>
          <p:cNvSpPr/>
          <p:nvPr/>
        </p:nvSpPr>
        <p:spPr>
          <a:xfrm>
            <a:off x="0" y="0"/>
            <a:ext cx="12188952" cy="1078992"/>
          </a:xfrm>
          <a:prstGeom prst="roundRect">
            <a:avLst/>
          </a:prstGeom>
          <a:solidFill>
            <a:srgbClr val="FFFFFF"/>
          </a:solidFill>
          <a:ln/>
        </p:spPr>
        <p:txBody>
          <a:bodyPr/>
          <a:lstStyle/>
          <a:p>
            <a:endParaRPr lang="en-IN"/>
          </a:p>
        </p:txBody>
      </p:sp>
      <p:sp>
        <p:nvSpPr>
          <p:cNvPr id="3" name="Shape 1">
            <a:extLst>
              <a:ext uri="{FF2B5EF4-FFF2-40B4-BE49-F238E27FC236}">
                <a16:creationId xmlns:a16="http://schemas.microsoft.com/office/drawing/2014/main" id="{6D53A9ED-6A32-10BD-3A8A-294DA003A7D6}"/>
              </a:ext>
            </a:extLst>
          </p:cNvPr>
          <p:cNvSpPr/>
          <p:nvPr/>
        </p:nvSpPr>
        <p:spPr>
          <a:xfrm>
            <a:off x="0" y="1060704"/>
            <a:ext cx="12188952" cy="32004"/>
          </a:xfrm>
          <a:prstGeom prst="rect">
            <a:avLst/>
          </a:prstGeom>
          <a:solidFill>
            <a:srgbClr val="7D9B76"/>
          </a:solidFill>
          <a:ln/>
        </p:spPr>
        <p:txBody>
          <a:bodyPr/>
          <a:lstStyle/>
          <a:p>
            <a:endParaRPr lang="en-IN"/>
          </a:p>
        </p:txBody>
      </p:sp>
      <p:sp>
        <p:nvSpPr>
          <p:cNvPr id="4" name="Text 2">
            <a:extLst>
              <a:ext uri="{FF2B5EF4-FFF2-40B4-BE49-F238E27FC236}">
                <a16:creationId xmlns:a16="http://schemas.microsoft.com/office/drawing/2014/main" id="{1175EDDA-4C27-7FBD-24D8-2FD8C84980F5}"/>
              </a:ext>
            </a:extLst>
          </p:cNvPr>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How We Chose When the Metrics Disagreed</a:t>
            </a:r>
            <a:endParaRPr lang="en-US" sz="2400" dirty="0"/>
          </a:p>
        </p:txBody>
      </p:sp>
      <p:sp>
        <p:nvSpPr>
          <p:cNvPr id="5" name="Text 3">
            <a:extLst>
              <a:ext uri="{FF2B5EF4-FFF2-40B4-BE49-F238E27FC236}">
                <a16:creationId xmlns:a16="http://schemas.microsoft.com/office/drawing/2014/main" id="{BDC7080A-1195-2C99-17F4-85D119668AC9}"/>
              </a:ext>
            </a:extLst>
          </p:cNvPr>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In two domains the leading configurations split the metrics. Picking the highest AUCROC would have given a different answer.</a:t>
            </a:r>
            <a:endParaRPr lang="en-US" sz="1250" dirty="0"/>
          </a:p>
        </p:txBody>
      </p:sp>
      <p:sp>
        <p:nvSpPr>
          <p:cNvPr id="6" name="Text 4">
            <a:extLst>
              <a:ext uri="{FF2B5EF4-FFF2-40B4-BE49-F238E27FC236}">
                <a16:creationId xmlns:a16="http://schemas.microsoft.com/office/drawing/2014/main" id="{81D89B7A-6AE3-630D-7810-8E733BCFD4C1}"/>
              </a:ext>
            </a:extLst>
          </p:cNvPr>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7.9</a:t>
            </a:r>
            <a:endParaRPr lang="en-US" sz="1000" dirty="0"/>
          </a:p>
        </p:txBody>
      </p:sp>
      <p:sp>
        <p:nvSpPr>
          <p:cNvPr id="7" name="Shape 5">
            <a:extLst>
              <a:ext uri="{FF2B5EF4-FFF2-40B4-BE49-F238E27FC236}">
                <a16:creationId xmlns:a16="http://schemas.microsoft.com/office/drawing/2014/main" id="{8B710D20-F36E-9F53-2318-A861502693F8}"/>
              </a:ext>
            </a:extLst>
          </p:cNvPr>
          <p:cNvSpPr/>
          <p:nvPr/>
        </p:nvSpPr>
        <p:spPr>
          <a:xfrm>
            <a:off x="548640" y="1325880"/>
            <a:ext cx="5486400" cy="2697480"/>
          </a:xfrm>
          <a:prstGeom prst="roundRect">
            <a:avLst>
              <a:gd name="adj" fmla="val 2712"/>
            </a:avLst>
          </a:prstGeom>
          <a:solidFill>
            <a:srgbClr val="FFFFFF"/>
          </a:solidFill>
          <a:ln w="9525">
            <a:solidFill>
              <a:srgbClr val="C9B195"/>
            </a:solidFill>
            <a:prstDash val="solid"/>
          </a:ln>
        </p:spPr>
        <p:txBody>
          <a:bodyPr/>
          <a:lstStyle/>
          <a:p>
            <a:endParaRPr lang="en-IN" sz="2400"/>
          </a:p>
        </p:txBody>
      </p:sp>
      <p:sp>
        <p:nvSpPr>
          <p:cNvPr id="8" name="Text 6">
            <a:extLst>
              <a:ext uri="{FF2B5EF4-FFF2-40B4-BE49-F238E27FC236}">
                <a16:creationId xmlns:a16="http://schemas.microsoft.com/office/drawing/2014/main" id="{EB052792-4532-08D2-E65F-CCF92F4427E1}"/>
              </a:ext>
            </a:extLst>
          </p:cNvPr>
          <p:cNvSpPr/>
          <p:nvPr/>
        </p:nvSpPr>
        <p:spPr>
          <a:xfrm>
            <a:off x="777240" y="1408176"/>
            <a:ext cx="5029200" cy="256032"/>
          </a:xfrm>
          <a:prstGeom prst="rect">
            <a:avLst/>
          </a:prstGeom>
          <a:noFill/>
          <a:ln/>
        </p:spPr>
        <p:txBody>
          <a:bodyPr wrap="square" lIns="0" tIns="0" rIns="0" bIns="0" rtlCol="0" anchor="ctr"/>
          <a:lstStyle/>
          <a:p>
            <a:pPr marL="0" indent="0">
              <a:buNone/>
            </a:pPr>
            <a:r>
              <a:rPr lang="en-US" sz="1600" b="1" dirty="0">
                <a:solidFill>
                  <a:srgbClr val="8C6E52"/>
                </a:solidFill>
                <a:latin typeface="Calibri" pitchFamily="34" charset="0"/>
                <a:ea typeface="Calibri" pitchFamily="34" charset="-122"/>
                <a:cs typeface="Calibri" pitchFamily="34" charset="-120"/>
              </a:rPr>
              <a:t>Finance — FIN-031 locked</a:t>
            </a:r>
            <a:endParaRPr lang="en-US" sz="1600" dirty="0"/>
          </a:p>
        </p:txBody>
      </p:sp>
      <p:sp>
        <p:nvSpPr>
          <p:cNvPr id="9" name="Shape 7">
            <a:extLst>
              <a:ext uri="{FF2B5EF4-FFF2-40B4-BE49-F238E27FC236}">
                <a16:creationId xmlns:a16="http://schemas.microsoft.com/office/drawing/2014/main" id="{D6036BFF-066C-F79E-8D9B-C8A518B4F124}"/>
              </a:ext>
            </a:extLst>
          </p:cNvPr>
          <p:cNvSpPr/>
          <p:nvPr/>
        </p:nvSpPr>
        <p:spPr>
          <a:xfrm>
            <a:off x="777240" y="1700784"/>
            <a:ext cx="4709160" cy="384048"/>
          </a:xfrm>
          <a:prstGeom prst="roundRect">
            <a:avLst>
              <a:gd name="adj" fmla="val 11905"/>
            </a:avLst>
          </a:prstGeom>
          <a:solidFill>
            <a:srgbClr val="5C4A38"/>
          </a:solidFill>
          <a:ln/>
        </p:spPr>
        <p:txBody>
          <a:bodyPr/>
          <a:lstStyle/>
          <a:p>
            <a:endParaRPr lang="en-IN" sz="2400"/>
          </a:p>
        </p:txBody>
      </p:sp>
      <p:sp>
        <p:nvSpPr>
          <p:cNvPr id="10" name="Text 8">
            <a:extLst>
              <a:ext uri="{FF2B5EF4-FFF2-40B4-BE49-F238E27FC236}">
                <a16:creationId xmlns:a16="http://schemas.microsoft.com/office/drawing/2014/main" id="{2234D73B-B33F-9CF1-065B-646CADF89CC8}"/>
              </a:ext>
            </a:extLst>
          </p:cNvPr>
          <p:cNvSpPr/>
          <p:nvPr/>
        </p:nvSpPr>
        <p:spPr>
          <a:xfrm>
            <a:off x="868680" y="1700784"/>
            <a:ext cx="192024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p>
        </p:txBody>
      </p:sp>
      <p:sp>
        <p:nvSpPr>
          <p:cNvPr id="11" name="Text 9">
            <a:extLst>
              <a:ext uri="{FF2B5EF4-FFF2-40B4-BE49-F238E27FC236}">
                <a16:creationId xmlns:a16="http://schemas.microsoft.com/office/drawing/2014/main" id="{0C2E0CC7-5B63-AE52-3BF0-1BC9E9EA2A63}"/>
              </a:ext>
            </a:extLst>
          </p:cNvPr>
          <p:cNvSpPr/>
          <p:nvPr/>
        </p:nvSpPr>
        <p:spPr>
          <a:xfrm>
            <a:off x="278892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FIN-031</a:t>
            </a:r>
            <a:endParaRPr lang="en-US" sz="1000" dirty="0"/>
          </a:p>
        </p:txBody>
      </p:sp>
      <p:sp>
        <p:nvSpPr>
          <p:cNvPr id="12" name="Text 10">
            <a:extLst>
              <a:ext uri="{FF2B5EF4-FFF2-40B4-BE49-F238E27FC236}">
                <a16:creationId xmlns:a16="http://schemas.microsoft.com/office/drawing/2014/main" id="{19B75A08-1E52-53EF-2840-6E753B472FFE}"/>
              </a:ext>
            </a:extLst>
          </p:cNvPr>
          <p:cNvSpPr/>
          <p:nvPr/>
        </p:nvSpPr>
        <p:spPr>
          <a:xfrm>
            <a:off x="420624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FIN-075</a:t>
            </a:r>
            <a:endParaRPr lang="en-US" sz="1000" dirty="0"/>
          </a:p>
        </p:txBody>
      </p:sp>
      <p:sp>
        <p:nvSpPr>
          <p:cNvPr id="13" name="Shape 11">
            <a:extLst>
              <a:ext uri="{FF2B5EF4-FFF2-40B4-BE49-F238E27FC236}">
                <a16:creationId xmlns:a16="http://schemas.microsoft.com/office/drawing/2014/main" id="{647CDA8E-85B8-1331-D20E-77971BF48F08}"/>
              </a:ext>
            </a:extLst>
          </p:cNvPr>
          <p:cNvSpPr/>
          <p:nvPr/>
        </p:nvSpPr>
        <p:spPr>
          <a:xfrm>
            <a:off x="777240" y="2121408"/>
            <a:ext cx="4709160" cy="265176"/>
          </a:xfrm>
          <a:prstGeom prst="roundRect">
            <a:avLst>
              <a:gd name="adj" fmla="val 13793"/>
            </a:avLst>
          </a:prstGeom>
          <a:solidFill>
            <a:srgbClr val="E3EDE0"/>
          </a:solidFill>
          <a:ln w="15240">
            <a:solidFill>
              <a:srgbClr val="A8C0A0"/>
            </a:solidFill>
            <a:prstDash val="solid"/>
          </a:ln>
        </p:spPr>
        <p:txBody>
          <a:bodyPr/>
          <a:lstStyle/>
          <a:p>
            <a:endParaRPr lang="en-IN" sz="2400"/>
          </a:p>
        </p:txBody>
      </p:sp>
      <p:sp>
        <p:nvSpPr>
          <p:cNvPr id="14" name="Text 12">
            <a:extLst>
              <a:ext uri="{FF2B5EF4-FFF2-40B4-BE49-F238E27FC236}">
                <a16:creationId xmlns:a16="http://schemas.microsoft.com/office/drawing/2014/main" id="{BCA0B678-EDFB-1FA1-2B15-4ED9A0830858}"/>
              </a:ext>
            </a:extLst>
          </p:cNvPr>
          <p:cNvSpPr/>
          <p:nvPr/>
        </p:nvSpPr>
        <p:spPr>
          <a:xfrm>
            <a:off x="868680" y="2121408"/>
            <a:ext cx="192024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Adherence</a:t>
            </a:r>
            <a:endParaRPr lang="en-US" sz="1000" dirty="0"/>
          </a:p>
        </p:txBody>
      </p:sp>
      <p:sp>
        <p:nvSpPr>
          <p:cNvPr id="15" name="Text 13">
            <a:extLst>
              <a:ext uri="{FF2B5EF4-FFF2-40B4-BE49-F238E27FC236}">
                <a16:creationId xmlns:a16="http://schemas.microsoft.com/office/drawing/2014/main" id="{1791D822-F3BE-EAB1-4484-8B89CE93BD5A}"/>
              </a:ext>
            </a:extLst>
          </p:cNvPr>
          <p:cNvSpPr/>
          <p:nvPr/>
        </p:nvSpPr>
        <p:spPr>
          <a:xfrm>
            <a:off x="2788920" y="2121408"/>
            <a:ext cx="137160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0.8254</a:t>
            </a:r>
            <a:endParaRPr lang="en-US" sz="1000" dirty="0"/>
          </a:p>
        </p:txBody>
      </p:sp>
      <p:sp>
        <p:nvSpPr>
          <p:cNvPr id="16" name="Text 14">
            <a:extLst>
              <a:ext uri="{FF2B5EF4-FFF2-40B4-BE49-F238E27FC236}">
                <a16:creationId xmlns:a16="http://schemas.microsoft.com/office/drawing/2014/main" id="{C86E0434-8CF4-38AD-DD9E-CAE67F75B9E2}"/>
              </a:ext>
            </a:extLst>
          </p:cNvPr>
          <p:cNvSpPr/>
          <p:nvPr/>
        </p:nvSpPr>
        <p:spPr>
          <a:xfrm>
            <a:off x="4206240" y="2121408"/>
            <a:ext cx="137160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0.7849</a:t>
            </a:r>
            <a:endParaRPr lang="en-US" sz="1000" dirty="0"/>
          </a:p>
        </p:txBody>
      </p:sp>
      <p:sp>
        <p:nvSpPr>
          <p:cNvPr id="17" name="Shape 15">
            <a:extLst>
              <a:ext uri="{FF2B5EF4-FFF2-40B4-BE49-F238E27FC236}">
                <a16:creationId xmlns:a16="http://schemas.microsoft.com/office/drawing/2014/main" id="{9DE67B4A-3162-8AE4-80FD-7C27E8CE7152}"/>
              </a:ext>
            </a:extLst>
          </p:cNvPr>
          <p:cNvSpPr/>
          <p:nvPr/>
        </p:nvSpPr>
        <p:spPr>
          <a:xfrm>
            <a:off x="777240" y="2423160"/>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18" name="Text 16">
            <a:extLst>
              <a:ext uri="{FF2B5EF4-FFF2-40B4-BE49-F238E27FC236}">
                <a16:creationId xmlns:a16="http://schemas.microsoft.com/office/drawing/2014/main" id="{7672ABB5-A40B-E265-9D99-94D1FAC7289F}"/>
              </a:ext>
            </a:extLst>
          </p:cNvPr>
          <p:cNvSpPr/>
          <p:nvPr/>
        </p:nvSpPr>
        <p:spPr>
          <a:xfrm>
            <a:off x="868680" y="2423160"/>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AUCROC</a:t>
            </a:r>
            <a:endParaRPr lang="en-US" sz="1000" dirty="0"/>
          </a:p>
        </p:txBody>
      </p:sp>
      <p:sp>
        <p:nvSpPr>
          <p:cNvPr id="19" name="Text 17">
            <a:extLst>
              <a:ext uri="{FF2B5EF4-FFF2-40B4-BE49-F238E27FC236}">
                <a16:creationId xmlns:a16="http://schemas.microsoft.com/office/drawing/2014/main" id="{47E6E715-CD33-1DCE-CEE1-71616F251B85}"/>
              </a:ext>
            </a:extLst>
          </p:cNvPr>
          <p:cNvSpPr/>
          <p:nvPr/>
        </p:nvSpPr>
        <p:spPr>
          <a:xfrm>
            <a:off x="278892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0.4480</a:t>
            </a:r>
            <a:endParaRPr lang="en-US" sz="1000" dirty="0"/>
          </a:p>
        </p:txBody>
      </p:sp>
      <p:sp>
        <p:nvSpPr>
          <p:cNvPr id="20" name="Text 18">
            <a:extLst>
              <a:ext uri="{FF2B5EF4-FFF2-40B4-BE49-F238E27FC236}">
                <a16:creationId xmlns:a16="http://schemas.microsoft.com/office/drawing/2014/main" id="{C531F9D8-870A-5E72-1627-DB37AA474BAC}"/>
              </a:ext>
            </a:extLst>
          </p:cNvPr>
          <p:cNvSpPr/>
          <p:nvPr/>
        </p:nvSpPr>
        <p:spPr>
          <a:xfrm>
            <a:off x="420624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0.4492</a:t>
            </a:r>
            <a:endParaRPr lang="en-US" sz="1000" dirty="0"/>
          </a:p>
        </p:txBody>
      </p:sp>
      <p:sp>
        <p:nvSpPr>
          <p:cNvPr id="21" name="Shape 19">
            <a:extLst>
              <a:ext uri="{FF2B5EF4-FFF2-40B4-BE49-F238E27FC236}">
                <a16:creationId xmlns:a16="http://schemas.microsoft.com/office/drawing/2014/main" id="{C1BF248F-981B-E2C3-D053-AA6D3BD09F22}"/>
              </a:ext>
            </a:extLst>
          </p:cNvPr>
          <p:cNvSpPr/>
          <p:nvPr/>
        </p:nvSpPr>
        <p:spPr>
          <a:xfrm>
            <a:off x="777240" y="2724912"/>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22" name="Text 20">
            <a:extLst>
              <a:ext uri="{FF2B5EF4-FFF2-40B4-BE49-F238E27FC236}">
                <a16:creationId xmlns:a16="http://schemas.microsoft.com/office/drawing/2014/main" id="{A30298AB-2F73-9D5C-FD1E-15FB25253DCB}"/>
              </a:ext>
            </a:extLst>
          </p:cNvPr>
          <p:cNvSpPr/>
          <p:nvPr/>
        </p:nvSpPr>
        <p:spPr>
          <a:xfrm>
            <a:off x="868680" y="2724912"/>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Relevance RMSE</a:t>
            </a:r>
            <a:endParaRPr lang="en-US" sz="1000" dirty="0"/>
          </a:p>
        </p:txBody>
      </p:sp>
      <p:sp>
        <p:nvSpPr>
          <p:cNvPr id="23" name="Text 21">
            <a:extLst>
              <a:ext uri="{FF2B5EF4-FFF2-40B4-BE49-F238E27FC236}">
                <a16:creationId xmlns:a16="http://schemas.microsoft.com/office/drawing/2014/main" id="{5AE3431A-3A73-E1EE-2689-338AB38680A5}"/>
              </a:ext>
            </a:extLst>
          </p:cNvPr>
          <p:cNvSpPr/>
          <p:nvPr/>
        </p:nvSpPr>
        <p:spPr>
          <a:xfrm>
            <a:off x="278892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0.3275</a:t>
            </a:r>
            <a:endParaRPr lang="en-US" sz="1000" dirty="0"/>
          </a:p>
        </p:txBody>
      </p:sp>
      <p:sp>
        <p:nvSpPr>
          <p:cNvPr id="24" name="Text 22">
            <a:extLst>
              <a:ext uri="{FF2B5EF4-FFF2-40B4-BE49-F238E27FC236}">
                <a16:creationId xmlns:a16="http://schemas.microsoft.com/office/drawing/2014/main" id="{AEE3416E-8844-80B1-95F6-38EC9653F5FA}"/>
              </a:ext>
            </a:extLst>
          </p:cNvPr>
          <p:cNvSpPr/>
          <p:nvPr/>
        </p:nvSpPr>
        <p:spPr>
          <a:xfrm>
            <a:off x="420624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0.3298</a:t>
            </a:r>
            <a:endParaRPr lang="en-US" sz="1000" dirty="0"/>
          </a:p>
        </p:txBody>
      </p:sp>
      <p:sp>
        <p:nvSpPr>
          <p:cNvPr id="25" name="Shape 23">
            <a:extLst>
              <a:ext uri="{FF2B5EF4-FFF2-40B4-BE49-F238E27FC236}">
                <a16:creationId xmlns:a16="http://schemas.microsoft.com/office/drawing/2014/main" id="{43028FF7-D6F0-CD95-76A0-B1C41526BDF6}"/>
              </a:ext>
            </a:extLst>
          </p:cNvPr>
          <p:cNvSpPr/>
          <p:nvPr/>
        </p:nvSpPr>
        <p:spPr>
          <a:xfrm>
            <a:off x="777240" y="3026664"/>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26" name="Text 24">
            <a:extLst>
              <a:ext uri="{FF2B5EF4-FFF2-40B4-BE49-F238E27FC236}">
                <a16:creationId xmlns:a16="http://schemas.microsoft.com/office/drawing/2014/main" id="{82CA124F-A261-532C-745F-4BC69382D279}"/>
              </a:ext>
            </a:extLst>
          </p:cNvPr>
          <p:cNvSpPr/>
          <p:nvPr/>
        </p:nvSpPr>
        <p:spPr>
          <a:xfrm>
            <a:off x="868680" y="3026664"/>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Utilization RMSE</a:t>
            </a:r>
            <a:endParaRPr lang="en-US" sz="1000" dirty="0"/>
          </a:p>
        </p:txBody>
      </p:sp>
      <p:sp>
        <p:nvSpPr>
          <p:cNvPr id="27" name="Text 25">
            <a:extLst>
              <a:ext uri="{FF2B5EF4-FFF2-40B4-BE49-F238E27FC236}">
                <a16:creationId xmlns:a16="http://schemas.microsoft.com/office/drawing/2014/main" id="{6B90428B-0EFA-983F-C368-E495254E1CC7}"/>
              </a:ext>
            </a:extLst>
          </p:cNvPr>
          <p:cNvSpPr/>
          <p:nvPr/>
        </p:nvSpPr>
        <p:spPr>
          <a:xfrm>
            <a:off x="278892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0.2815</a:t>
            </a:r>
            <a:endParaRPr lang="en-US" sz="1000" dirty="0"/>
          </a:p>
        </p:txBody>
      </p:sp>
      <p:sp>
        <p:nvSpPr>
          <p:cNvPr id="28" name="Text 26">
            <a:extLst>
              <a:ext uri="{FF2B5EF4-FFF2-40B4-BE49-F238E27FC236}">
                <a16:creationId xmlns:a16="http://schemas.microsoft.com/office/drawing/2014/main" id="{FC392889-C091-E1D5-4E6B-A9AB40D3C30A}"/>
              </a:ext>
            </a:extLst>
          </p:cNvPr>
          <p:cNvSpPr/>
          <p:nvPr/>
        </p:nvSpPr>
        <p:spPr>
          <a:xfrm>
            <a:off x="420624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0.2621</a:t>
            </a:r>
            <a:endParaRPr lang="en-US" sz="1000" dirty="0"/>
          </a:p>
        </p:txBody>
      </p:sp>
      <p:sp>
        <p:nvSpPr>
          <p:cNvPr id="29" name="Shape 27">
            <a:extLst>
              <a:ext uri="{FF2B5EF4-FFF2-40B4-BE49-F238E27FC236}">
                <a16:creationId xmlns:a16="http://schemas.microsoft.com/office/drawing/2014/main" id="{FCAFF697-17FA-1B5F-FD94-8BB01D342B98}"/>
              </a:ext>
            </a:extLst>
          </p:cNvPr>
          <p:cNvSpPr/>
          <p:nvPr/>
        </p:nvSpPr>
        <p:spPr>
          <a:xfrm>
            <a:off x="777240" y="3328416"/>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30" name="Text 28">
            <a:extLst>
              <a:ext uri="{FF2B5EF4-FFF2-40B4-BE49-F238E27FC236}">
                <a16:creationId xmlns:a16="http://schemas.microsoft.com/office/drawing/2014/main" id="{408AC9C7-D153-A3DE-712F-1B4C9B520401}"/>
              </a:ext>
            </a:extLst>
          </p:cNvPr>
          <p:cNvSpPr/>
          <p:nvPr/>
        </p:nvSpPr>
        <p:spPr>
          <a:xfrm>
            <a:off x="868680" y="3328416"/>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Completeness RMSE</a:t>
            </a:r>
            <a:endParaRPr lang="en-US" sz="1000" dirty="0"/>
          </a:p>
        </p:txBody>
      </p:sp>
      <p:sp>
        <p:nvSpPr>
          <p:cNvPr id="31" name="Text 29">
            <a:extLst>
              <a:ext uri="{FF2B5EF4-FFF2-40B4-BE49-F238E27FC236}">
                <a16:creationId xmlns:a16="http://schemas.microsoft.com/office/drawing/2014/main" id="{D83BDDAC-0792-3949-31CA-20B44992150B}"/>
              </a:ext>
            </a:extLst>
          </p:cNvPr>
          <p:cNvSpPr/>
          <p:nvPr/>
        </p:nvSpPr>
        <p:spPr>
          <a:xfrm>
            <a:off x="2788920" y="3328416"/>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0.4496</a:t>
            </a:r>
            <a:endParaRPr lang="en-US" sz="1000" dirty="0"/>
          </a:p>
        </p:txBody>
      </p:sp>
      <p:sp>
        <p:nvSpPr>
          <p:cNvPr id="32" name="Text 30">
            <a:extLst>
              <a:ext uri="{FF2B5EF4-FFF2-40B4-BE49-F238E27FC236}">
                <a16:creationId xmlns:a16="http://schemas.microsoft.com/office/drawing/2014/main" id="{9887E267-0BFD-B73F-62AE-54FF6F42E791}"/>
              </a:ext>
            </a:extLst>
          </p:cNvPr>
          <p:cNvSpPr/>
          <p:nvPr/>
        </p:nvSpPr>
        <p:spPr>
          <a:xfrm>
            <a:off x="4206240" y="3328416"/>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0.4553</a:t>
            </a:r>
            <a:endParaRPr lang="en-US" sz="1000" dirty="0"/>
          </a:p>
        </p:txBody>
      </p:sp>
      <p:sp>
        <p:nvSpPr>
          <p:cNvPr id="33" name="Text 31">
            <a:extLst>
              <a:ext uri="{FF2B5EF4-FFF2-40B4-BE49-F238E27FC236}">
                <a16:creationId xmlns:a16="http://schemas.microsoft.com/office/drawing/2014/main" id="{235DBF3B-BC27-F0E7-8299-55A79EC00DE2}"/>
              </a:ext>
            </a:extLst>
          </p:cNvPr>
          <p:cNvSpPr/>
          <p:nvPr/>
        </p:nvSpPr>
        <p:spPr>
          <a:xfrm>
            <a:off x="777240" y="3675888"/>
            <a:ext cx="4937760" cy="237744"/>
          </a:xfrm>
          <a:prstGeom prst="rect">
            <a:avLst/>
          </a:prstGeom>
          <a:noFill/>
          <a:ln/>
        </p:spPr>
        <p:txBody>
          <a:bodyPr wrap="square" lIns="0" tIns="0" rIns="0" bIns="0" rtlCol="0" anchor="ctr"/>
          <a:lstStyle/>
          <a:p>
            <a:pPr marL="0" indent="0">
              <a:buNone/>
            </a:pPr>
            <a:r>
              <a:rPr lang="en-US" sz="1050" i="1" dirty="0">
                <a:solidFill>
                  <a:srgbClr val="7A6A5A"/>
                </a:solidFill>
                <a:latin typeface="Calibri" pitchFamily="34" charset="0"/>
                <a:ea typeface="Calibri" pitchFamily="34" charset="-122"/>
                <a:cs typeface="Calibri" pitchFamily="34" charset="-120"/>
              </a:rPr>
              <a:t>Wins 3 of 5.  Loses AUCROC by 0.0012.</a:t>
            </a:r>
            <a:endParaRPr lang="en-US" sz="1050" dirty="0"/>
          </a:p>
        </p:txBody>
      </p:sp>
      <p:sp>
        <p:nvSpPr>
          <p:cNvPr id="34" name="Shape 32">
            <a:extLst>
              <a:ext uri="{FF2B5EF4-FFF2-40B4-BE49-F238E27FC236}">
                <a16:creationId xmlns:a16="http://schemas.microsoft.com/office/drawing/2014/main" id="{237B4B98-2070-6FA0-4D8D-86983A746579}"/>
              </a:ext>
            </a:extLst>
          </p:cNvPr>
          <p:cNvSpPr/>
          <p:nvPr/>
        </p:nvSpPr>
        <p:spPr>
          <a:xfrm>
            <a:off x="6172200" y="1325880"/>
            <a:ext cx="5486400" cy="2697480"/>
          </a:xfrm>
          <a:prstGeom prst="roundRect">
            <a:avLst>
              <a:gd name="adj" fmla="val 2712"/>
            </a:avLst>
          </a:prstGeom>
          <a:solidFill>
            <a:srgbClr val="FFFFFF"/>
          </a:solidFill>
          <a:ln w="9525">
            <a:solidFill>
              <a:srgbClr val="C9B195"/>
            </a:solidFill>
            <a:prstDash val="solid"/>
          </a:ln>
        </p:spPr>
        <p:txBody>
          <a:bodyPr/>
          <a:lstStyle/>
          <a:p>
            <a:endParaRPr lang="en-IN" sz="2400"/>
          </a:p>
        </p:txBody>
      </p:sp>
      <p:sp>
        <p:nvSpPr>
          <p:cNvPr id="35" name="Text 33">
            <a:extLst>
              <a:ext uri="{FF2B5EF4-FFF2-40B4-BE49-F238E27FC236}">
                <a16:creationId xmlns:a16="http://schemas.microsoft.com/office/drawing/2014/main" id="{6497E24F-B342-378B-ADAE-FAFECB870641}"/>
              </a:ext>
            </a:extLst>
          </p:cNvPr>
          <p:cNvSpPr/>
          <p:nvPr/>
        </p:nvSpPr>
        <p:spPr>
          <a:xfrm>
            <a:off x="6400800" y="1408176"/>
            <a:ext cx="5029200" cy="256032"/>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General Knowledge — GK-031 locked</a:t>
            </a:r>
            <a:endParaRPr lang="en-US" sz="1600" dirty="0"/>
          </a:p>
        </p:txBody>
      </p:sp>
      <p:sp>
        <p:nvSpPr>
          <p:cNvPr id="36" name="Shape 34">
            <a:extLst>
              <a:ext uri="{FF2B5EF4-FFF2-40B4-BE49-F238E27FC236}">
                <a16:creationId xmlns:a16="http://schemas.microsoft.com/office/drawing/2014/main" id="{773BFE31-56C7-7A97-6A0B-DADCBB853E68}"/>
              </a:ext>
            </a:extLst>
          </p:cNvPr>
          <p:cNvSpPr/>
          <p:nvPr/>
        </p:nvSpPr>
        <p:spPr>
          <a:xfrm>
            <a:off x="6400800" y="1700784"/>
            <a:ext cx="4709160" cy="384048"/>
          </a:xfrm>
          <a:prstGeom prst="roundRect">
            <a:avLst>
              <a:gd name="adj" fmla="val 11905"/>
            </a:avLst>
          </a:prstGeom>
          <a:solidFill>
            <a:srgbClr val="5C4A38"/>
          </a:solidFill>
          <a:ln/>
        </p:spPr>
        <p:txBody>
          <a:bodyPr/>
          <a:lstStyle/>
          <a:p>
            <a:endParaRPr lang="en-IN" sz="2400"/>
          </a:p>
        </p:txBody>
      </p:sp>
      <p:sp>
        <p:nvSpPr>
          <p:cNvPr id="37" name="Text 35">
            <a:extLst>
              <a:ext uri="{FF2B5EF4-FFF2-40B4-BE49-F238E27FC236}">
                <a16:creationId xmlns:a16="http://schemas.microsoft.com/office/drawing/2014/main" id="{ACCA547B-5E4D-8D2D-E1A0-B795C4C697CE}"/>
              </a:ext>
            </a:extLst>
          </p:cNvPr>
          <p:cNvSpPr/>
          <p:nvPr/>
        </p:nvSpPr>
        <p:spPr>
          <a:xfrm>
            <a:off x="6492240" y="1700784"/>
            <a:ext cx="192024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p>
        </p:txBody>
      </p:sp>
      <p:sp>
        <p:nvSpPr>
          <p:cNvPr id="38" name="Text 36">
            <a:extLst>
              <a:ext uri="{FF2B5EF4-FFF2-40B4-BE49-F238E27FC236}">
                <a16:creationId xmlns:a16="http://schemas.microsoft.com/office/drawing/2014/main" id="{227A3A60-CC36-873C-540D-03FF7A9D3284}"/>
              </a:ext>
            </a:extLst>
          </p:cNvPr>
          <p:cNvSpPr/>
          <p:nvPr/>
        </p:nvSpPr>
        <p:spPr>
          <a:xfrm>
            <a:off x="841248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GK-031</a:t>
            </a:r>
            <a:endParaRPr lang="en-US" sz="1000" dirty="0"/>
          </a:p>
        </p:txBody>
      </p:sp>
      <p:sp>
        <p:nvSpPr>
          <p:cNvPr id="39" name="Text 37">
            <a:extLst>
              <a:ext uri="{FF2B5EF4-FFF2-40B4-BE49-F238E27FC236}">
                <a16:creationId xmlns:a16="http://schemas.microsoft.com/office/drawing/2014/main" id="{5BA3FB44-8736-8A58-69E2-642E75161B0B}"/>
              </a:ext>
            </a:extLst>
          </p:cNvPr>
          <p:cNvSpPr/>
          <p:nvPr/>
        </p:nvSpPr>
        <p:spPr>
          <a:xfrm>
            <a:off x="982980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GK-040</a:t>
            </a:r>
            <a:endParaRPr lang="en-US" sz="1000" dirty="0"/>
          </a:p>
        </p:txBody>
      </p:sp>
      <p:sp>
        <p:nvSpPr>
          <p:cNvPr id="40" name="Shape 38">
            <a:extLst>
              <a:ext uri="{FF2B5EF4-FFF2-40B4-BE49-F238E27FC236}">
                <a16:creationId xmlns:a16="http://schemas.microsoft.com/office/drawing/2014/main" id="{BD5FDD0C-7762-5592-C8E8-FE3792836EEE}"/>
              </a:ext>
            </a:extLst>
          </p:cNvPr>
          <p:cNvSpPr/>
          <p:nvPr/>
        </p:nvSpPr>
        <p:spPr>
          <a:xfrm>
            <a:off x="6400800" y="2121408"/>
            <a:ext cx="4709160" cy="265176"/>
          </a:xfrm>
          <a:prstGeom prst="roundRect">
            <a:avLst>
              <a:gd name="adj" fmla="val 13793"/>
            </a:avLst>
          </a:prstGeom>
          <a:solidFill>
            <a:srgbClr val="E3EDE0"/>
          </a:solidFill>
          <a:ln w="15240">
            <a:solidFill>
              <a:srgbClr val="A8C0A0"/>
            </a:solidFill>
            <a:prstDash val="solid"/>
          </a:ln>
        </p:spPr>
        <p:txBody>
          <a:bodyPr/>
          <a:lstStyle/>
          <a:p>
            <a:endParaRPr lang="en-IN" sz="2400"/>
          </a:p>
        </p:txBody>
      </p:sp>
      <p:sp>
        <p:nvSpPr>
          <p:cNvPr id="41" name="Text 39">
            <a:extLst>
              <a:ext uri="{FF2B5EF4-FFF2-40B4-BE49-F238E27FC236}">
                <a16:creationId xmlns:a16="http://schemas.microsoft.com/office/drawing/2014/main" id="{ABEE38C4-634B-2F77-A2A5-0DE63397DA48}"/>
              </a:ext>
            </a:extLst>
          </p:cNvPr>
          <p:cNvSpPr/>
          <p:nvPr/>
        </p:nvSpPr>
        <p:spPr>
          <a:xfrm>
            <a:off x="6492240" y="2121408"/>
            <a:ext cx="192024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Adherence</a:t>
            </a:r>
            <a:endParaRPr lang="en-US" sz="1000" dirty="0"/>
          </a:p>
        </p:txBody>
      </p:sp>
      <p:sp>
        <p:nvSpPr>
          <p:cNvPr id="42" name="Text 40">
            <a:extLst>
              <a:ext uri="{FF2B5EF4-FFF2-40B4-BE49-F238E27FC236}">
                <a16:creationId xmlns:a16="http://schemas.microsoft.com/office/drawing/2014/main" id="{73AE5528-337F-9BCD-1D16-657D18F680A9}"/>
              </a:ext>
            </a:extLst>
          </p:cNvPr>
          <p:cNvSpPr/>
          <p:nvPr/>
        </p:nvSpPr>
        <p:spPr>
          <a:xfrm>
            <a:off x="8412480" y="2121408"/>
            <a:ext cx="137160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0.8773</a:t>
            </a:r>
            <a:endParaRPr lang="en-US" sz="1000" dirty="0"/>
          </a:p>
        </p:txBody>
      </p:sp>
      <p:sp>
        <p:nvSpPr>
          <p:cNvPr id="43" name="Text 41">
            <a:extLst>
              <a:ext uri="{FF2B5EF4-FFF2-40B4-BE49-F238E27FC236}">
                <a16:creationId xmlns:a16="http://schemas.microsoft.com/office/drawing/2014/main" id="{36B91286-1D02-B3C3-C67D-898A8BBFED82}"/>
              </a:ext>
            </a:extLst>
          </p:cNvPr>
          <p:cNvSpPr/>
          <p:nvPr/>
        </p:nvSpPr>
        <p:spPr>
          <a:xfrm>
            <a:off x="9829800" y="2121408"/>
            <a:ext cx="137160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0.8511</a:t>
            </a:r>
            <a:endParaRPr lang="en-US" sz="1000" dirty="0"/>
          </a:p>
        </p:txBody>
      </p:sp>
      <p:sp>
        <p:nvSpPr>
          <p:cNvPr id="44" name="Shape 42">
            <a:extLst>
              <a:ext uri="{FF2B5EF4-FFF2-40B4-BE49-F238E27FC236}">
                <a16:creationId xmlns:a16="http://schemas.microsoft.com/office/drawing/2014/main" id="{023D4E7B-15C2-25D5-9B72-D68D46FF8204}"/>
              </a:ext>
            </a:extLst>
          </p:cNvPr>
          <p:cNvSpPr/>
          <p:nvPr/>
        </p:nvSpPr>
        <p:spPr>
          <a:xfrm>
            <a:off x="6400800" y="2423160"/>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45" name="Text 43">
            <a:extLst>
              <a:ext uri="{FF2B5EF4-FFF2-40B4-BE49-F238E27FC236}">
                <a16:creationId xmlns:a16="http://schemas.microsoft.com/office/drawing/2014/main" id="{B0FB386E-3D83-131A-886D-1CEE2F0F9501}"/>
              </a:ext>
            </a:extLst>
          </p:cNvPr>
          <p:cNvSpPr/>
          <p:nvPr/>
        </p:nvSpPr>
        <p:spPr>
          <a:xfrm>
            <a:off x="6492240" y="2423160"/>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AUCROC</a:t>
            </a:r>
            <a:endParaRPr lang="en-US" sz="1000" dirty="0"/>
          </a:p>
        </p:txBody>
      </p:sp>
      <p:sp>
        <p:nvSpPr>
          <p:cNvPr id="46" name="Text 44">
            <a:extLst>
              <a:ext uri="{FF2B5EF4-FFF2-40B4-BE49-F238E27FC236}">
                <a16:creationId xmlns:a16="http://schemas.microsoft.com/office/drawing/2014/main" id="{BA2A3A0E-37E0-2C78-BCC2-DEC6BB3A6058}"/>
              </a:ext>
            </a:extLst>
          </p:cNvPr>
          <p:cNvSpPr/>
          <p:nvPr/>
        </p:nvSpPr>
        <p:spPr>
          <a:xfrm>
            <a:off x="841248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0.6221</a:t>
            </a:r>
            <a:endParaRPr lang="en-US" sz="1000" dirty="0"/>
          </a:p>
        </p:txBody>
      </p:sp>
      <p:sp>
        <p:nvSpPr>
          <p:cNvPr id="47" name="Text 45">
            <a:extLst>
              <a:ext uri="{FF2B5EF4-FFF2-40B4-BE49-F238E27FC236}">
                <a16:creationId xmlns:a16="http://schemas.microsoft.com/office/drawing/2014/main" id="{A0836B36-A64D-2BF9-01FD-794CE104A44D}"/>
              </a:ext>
            </a:extLst>
          </p:cNvPr>
          <p:cNvSpPr/>
          <p:nvPr/>
        </p:nvSpPr>
        <p:spPr>
          <a:xfrm>
            <a:off x="982980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0.6416</a:t>
            </a:r>
            <a:endParaRPr lang="en-US" sz="1000" dirty="0"/>
          </a:p>
        </p:txBody>
      </p:sp>
      <p:sp>
        <p:nvSpPr>
          <p:cNvPr id="48" name="Shape 46">
            <a:extLst>
              <a:ext uri="{FF2B5EF4-FFF2-40B4-BE49-F238E27FC236}">
                <a16:creationId xmlns:a16="http://schemas.microsoft.com/office/drawing/2014/main" id="{11A87ACB-27F9-F88A-5CC7-88F2B296F4F7}"/>
              </a:ext>
            </a:extLst>
          </p:cNvPr>
          <p:cNvSpPr/>
          <p:nvPr/>
        </p:nvSpPr>
        <p:spPr>
          <a:xfrm>
            <a:off x="6400800" y="2724912"/>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49" name="Text 47">
            <a:extLst>
              <a:ext uri="{FF2B5EF4-FFF2-40B4-BE49-F238E27FC236}">
                <a16:creationId xmlns:a16="http://schemas.microsoft.com/office/drawing/2014/main" id="{23F043BE-9CAE-D6EF-3E25-7F8C6C45360D}"/>
              </a:ext>
            </a:extLst>
          </p:cNvPr>
          <p:cNvSpPr/>
          <p:nvPr/>
        </p:nvSpPr>
        <p:spPr>
          <a:xfrm>
            <a:off x="6492240" y="2724912"/>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Relevance RMSE</a:t>
            </a:r>
            <a:endParaRPr lang="en-US" sz="1000" dirty="0"/>
          </a:p>
        </p:txBody>
      </p:sp>
      <p:sp>
        <p:nvSpPr>
          <p:cNvPr id="50" name="Text 48">
            <a:extLst>
              <a:ext uri="{FF2B5EF4-FFF2-40B4-BE49-F238E27FC236}">
                <a16:creationId xmlns:a16="http://schemas.microsoft.com/office/drawing/2014/main" id="{D48C89A6-D4AE-308D-6110-298D1BC50CA6}"/>
              </a:ext>
            </a:extLst>
          </p:cNvPr>
          <p:cNvSpPr/>
          <p:nvPr/>
        </p:nvSpPr>
        <p:spPr>
          <a:xfrm>
            <a:off x="841248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0.1085</a:t>
            </a:r>
            <a:endParaRPr lang="en-US" sz="1000" dirty="0"/>
          </a:p>
        </p:txBody>
      </p:sp>
      <p:sp>
        <p:nvSpPr>
          <p:cNvPr id="51" name="Text 49">
            <a:extLst>
              <a:ext uri="{FF2B5EF4-FFF2-40B4-BE49-F238E27FC236}">
                <a16:creationId xmlns:a16="http://schemas.microsoft.com/office/drawing/2014/main" id="{B9B97145-DAA8-A65E-79CA-9385779FB44B}"/>
              </a:ext>
            </a:extLst>
          </p:cNvPr>
          <p:cNvSpPr/>
          <p:nvPr/>
        </p:nvSpPr>
        <p:spPr>
          <a:xfrm>
            <a:off x="982980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0.2795</a:t>
            </a:r>
            <a:endParaRPr lang="en-US" sz="1000" dirty="0"/>
          </a:p>
        </p:txBody>
      </p:sp>
      <p:sp>
        <p:nvSpPr>
          <p:cNvPr id="52" name="Shape 50">
            <a:extLst>
              <a:ext uri="{FF2B5EF4-FFF2-40B4-BE49-F238E27FC236}">
                <a16:creationId xmlns:a16="http://schemas.microsoft.com/office/drawing/2014/main" id="{60379784-B2EB-9308-FC37-D4695090836F}"/>
              </a:ext>
            </a:extLst>
          </p:cNvPr>
          <p:cNvSpPr/>
          <p:nvPr/>
        </p:nvSpPr>
        <p:spPr>
          <a:xfrm>
            <a:off x="6400800" y="3026664"/>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53" name="Text 51">
            <a:extLst>
              <a:ext uri="{FF2B5EF4-FFF2-40B4-BE49-F238E27FC236}">
                <a16:creationId xmlns:a16="http://schemas.microsoft.com/office/drawing/2014/main" id="{138F06B7-5313-3779-F4B9-6D3FD14FCAEB}"/>
              </a:ext>
            </a:extLst>
          </p:cNvPr>
          <p:cNvSpPr/>
          <p:nvPr/>
        </p:nvSpPr>
        <p:spPr>
          <a:xfrm>
            <a:off x="6492240" y="3026664"/>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Utilization RMSE</a:t>
            </a:r>
            <a:endParaRPr lang="en-US" sz="1000" dirty="0"/>
          </a:p>
        </p:txBody>
      </p:sp>
      <p:sp>
        <p:nvSpPr>
          <p:cNvPr id="54" name="Text 52">
            <a:extLst>
              <a:ext uri="{FF2B5EF4-FFF2-40B4-BE49-F238E27FC236}">
                <a16:creationId xmlns:a16="http://schemas.microsoft.com/office/drawing/2014/main" id="{96F0A66D-9AE1-E89F-9371-E589A949D4C7}"/>
              </a:ext>
            </a:extLst>
          </p:cNvPr>
          <p:cNvSpPr/>
          <p:nvPr/>
        </p:nvSpPr>
        <p:spPr>
          <a:xfrm>
            <a:off x="841248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0.0832</a:t>
            </a:r>
            <a:endParaRPr lang="en-US" sz="1000" dirty="0"/>
          </a:p>
        </p:txBody>
      </p:sp>
      <p:sp>
        <p:nvSpPr>
          <p:cNvPr id="55" name="Text 53">
            <a:extLst>
              <a:ext uri="{FF2B5EF4-FFF2-40B4-BE49-F238E27FC236}">
                <a16:creationId xmlns:a16="http://schemas.microsoft.com/office/drawing/2014/main" id="{3D9406FF-5074-CD19-975D-814A365AD235}"/>
              </a:ext>
            </a:extLst>
          </p:cNvPr>
          <p:cNvSpPr/>
          <p:nvPr/>
        </p:nvSpPr>
        <p:spPr>
          <a:xfrm>
            <a:off x="982980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0.2937</a:t>
            </a:r>
            <a:endParaRPr lang="en-US" sz="1000" dirty="0"/>
          </a:p>
        </p:txBody>
      </p:sp>
      <p:sp>
        <p:nvSpPr>
          <p:cNvPr id="56" name="Shape 54">
            <a:extLst>
              <a:ext uri="{FF2B5EF4-FFF2-40B4-BE49-F238E27FC236}">
                <a16:creationId xmlns:a16="http://schemas.microsoft.com/office/drawing/2014/main" id="{3AF322DF-9D61-BAA1-A54E-F4089D7E4490}"/>
              </a:ext>
            </a:extLst>
          </p:cNvPr>
          <p:cNvSpPr/>
          <p:nvPr/>
        </p:nvSpPr>
        <p:spPr>
          <a:xfrm>
            <a:off x="6400800" y="3328416"/>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57" name="Text 55">
            <a:extLst>
              <a:ext uri="{FF2B5EF4-FFF2-40B4-BE49-F238E27FC236}">
                <a16:creationId xmlns:a16="http://schemas.microsoft.com/office/drawing/2014/main" id="{42975E30-F338-A574-026F-7B01E8318D56}"/>
              </a:ext>
            </a:extLst>
          </p:cNvPr>
          <p:cNvSpPr/>
          <p:nvPr/>
        </p:nvSpPr>
        <p:spPr>
          <a:xfrm>
            <a:off x="6492240" y="3328416"/>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Completeness RMSE</a:t>
            </a:r>
            <a:endParaRPr lang="en-US" sz="1000" dirty="0"/>
          </a:p>
        </p:txBody>
      </p:sp>
      <p:sp>
        <p:nvSpPr>
          <p:cNvPr id="58" name="Text 56">
            <a:extLst>
              <a:ext uri="{FF2B5EF4-FFF2-40B4-BE49-F238E27FC236}">
                <a16:creationId xmlns:a16="http://schemas.microsoft.com/office/drawing/2014/main" id="{5B09ECE2-453C-23F8-4CC3-08DF4D9B55DC}"/>
              </a:ext>
            </a:extLst>
          </p:cNvPr>
          <p:cNvSpPr/>
          <p:nvPr/>
        </p:nvSpPr>
        <p:spPr>
          <a:xfrm>
            <a:off x="8412480" y="3328416"/>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0.3782</a:t>
            </a:r>
            <a:endParaRPr lang="en-US" sz="1000" dirty="0"/>
          </a:p>
        </p:txBody>
      </p:sp>
      <p:sp>
        <p:nvSpPr>
          <p:cNvPr id="59" name="Text 57">
            <a:extLst>
              <a:ext uri="{FF2B5EF4-FFF2-40B4-BE49-F238E27FC236}">
                <a16:creationId xmlns:a16="http://schemas.microsoft.com/office/drawing/2014/main" id="{EB7D8A54-DA85-2102-5BCC-B2BFB8752D3D}"/>
              </a:ext>
            </a:extLst>
          </p:cNvPr>
          <p:cNvSpPr/>
          <p:nvPr/>
        </p:nvSpPr>
        <p:spPr>
          <a:xfrm>
            <a:off x="9829800" y="3328416"/>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0.3845</a:t>
            </a:r>
            <a:endParaRPr lang="en-US" sz="1000" dirty="0"/>
          </a:p>
        </p:txBody>
      </p:sp>
      <p:sp>
        <p:nvSpPr>
          <p:cNvPr id="60" name="Text 58">
            <a:extLst>
              <a:ext uri="{FF2B5EF4-FFF2-40B4-BE49-F238E27FC236}">
                <a16:creationId xmlns:a16="http://schemas.microsoft.com/office/drawing/2014/main" id="{4DA587D0-59D5-B04C-C300-D0834B7C516D}"/>
              </a:ext>
            </a:extLst>
          </p:cNvPr>
          <p:cNvSpPr/>
          <p:nvPr/>
        </p:nvSpPr>
        <p:spPr>
          <a:xfrm>
            <a:off x="6400800" y="3675888"/>
            <a:ext cx="4937760" cy="237744"/>
          </a:xfrm>
          <a:prstGeom prst="rect">
            <a:avLst/>
          </a:prstGeom>
          <a:noFill/>
          <a:ln/>
        </p:spPr>
        <p:txBody>
          <a:bodyPr wrap="square" lIns="0" tIns="0" rIns="0" bIns="0" rtlCol="0" anchor="ctr"/>
          <a:lstStyle/>
          <a:p>
            <a:pPr marL="0" indent="0">
              <a:buNone/>
            </a:pPr>
            <a:r>
              <a:rPr lang="en-US" sz="1050" i="1" dirty="0">
                <a:solidFill>
                  <a:srgbClr val="7A6A5A"/>
                </a:solidFill>
                <a:latin typeface="Calibri" pitchFamily="34" charset="0"/>
                <a:ea typeface="Calibri" pitchFamily="34" charset="-122"/>
                <a:cs typeface="Calibri" pitchFamily="34" charset="-120"/>
              </a:rPr>
              <a:t>Wins 4 of 5.  Loses AUCROC by 0.0195.</a:t>
            </a:r>
            <a:endParaRPr lang="en-US" sz="1050" dirty="0"/>
          </a:p>
        </p:txBody>
      </p:sp>
      <p:sp>
        <p:nvSpPr>
          <p:cNvPr id="61" name="Shape 59">
            <a:extLst>
              <a:ext uri="{FF2B5EF4-FFF2-40B4-BE49-F238E27FC236}">
                <a16:creationId xmlns:a16="http://schemas.microsoft.com/office/drawing/2014/main" id="{6C750438-F3D0-33B8-FADE-8EEB68973B7E}"/>
              </a:ext>
            </a:extLst>
          </p:cNvPr>
          <p:cNvSpPr/>
          <p:nvPr/>
        </p:nvSpPr>
        <p:spPr>
          <a:xfrm>
            <a:off x="548640" y="4160520"/>
            <a:ext cx="11109960" cy="1298448"/>
          </a:xfrm>
          <a:prstGeom prst="roundRect">
            <a:avLst>
              <a:gd name="adj" fmla="val 5634"/>
            </a:avLst>
          </a:prstGeom>
          <a:solidFill>
            <a:srgbClr val="E3EDE0"/>
          </a:solidFill>
          <a:ln w="15240">
            <a:solidFill>
              <a:srgbClr val="A8C0A0"/>
            </a:solidFill>
            <a:prstDash val="solid"/>
          </a:ln>
        </p:spPr>
        <p:txBody>
          <a:bodyPr/>
          <a:lstStyle/>
          <a:p>
            <a:endParaRPr lang="en-IN" sz="2400"/>
          </a:p>
        </p:txBody>
      </p:sp>
      <p:sp>
        <p:nvSpPr>
          <p:cNvPr id="62" name="Text 60">
            <a:extLst>
              <a:ext uri="{FF2B5EF4-FFF2-40B4-BE49-F238E27FC236}">
                <a16:creationId xmlns:a16="http://schemas.microsoft.com/office/drawing/2014/main" id="{0CA98852-9FA7-5481-E69E-5380061070EE}"/>
              </a:ext>
            </a:extLst>
          </p:cNvPr>
          <p:cNvSpPr/>
          <p:nvPr/>
        </p:nvSpPr>
        <p:spPr>
          <a:xfrm>
            <a:off x="822960" y="4233672"/>
            <a:ext cx="10607040" cy="256032"/>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The rule we applied — stated in advance, not chosen to fit the answer</a:t>
            </a:r>
            <a:endParaRPr lang="en-US" sz="1600" dirty="0"/>
          </a:p>
        </p:txBody>
      </p:sp>
      <p:sp>
        <p:nvSpPr>
          <p:cNvPr id="63" name="Shape 61">
            <a:extLst>
              <a:ext uri="{FF2B5EF4-FFF2-40B4-BE49-F238E27FC236}">
                <a16:creationId xmlns:a16="http://schemas.microsoft.com/office/drawing/2014/main" id="{105A3740-5BE1-DFE1-553E-EEF96E99FEF6}"/>
              </a:ext>
            </a:extLst>
          </p:cNvPr>
          <p:cNvSpPr/>
          <p:nvPr/>
        </p:nvSpPr>
        <p:spPr>
          <a:xfrm>
            <a:off x="868680" y="4553712"/>
            <a:ext cx="210312" cy="210312"/>
          </a:xfrm>
          <a:prstGeom prst="ellipse">
            <a:avLst/>
          </a:prstGeom>
          <a:solidFill>
            <a:srgbClr val="4A6B4F"/>
          </a:solidFill>
          <a:ln/>
        </p:spPr>
        <p:txBody>
          <a:bodyPr/>
          <a:lstStyle/>
          <a:p>
            <a:endParaRPr lang="en-IN" sz="2400"/>
          </a:p>
        </p:txBody>
      </p:sp>
      <p:sp>
        <p:nvSpPr>
          <p:cNvPr id="64" name="Text 62">
            <a:extLst>
              <a:ext uri="{FF2B5EF4-FFF2-40B4-BE49-F238E27FC236}">
                <a16:creationId xmlns:a16="http://schemas.microsoft.com/office/drawing/2014/main" id="{8FEE4A29-D6DD-D279-EC8C-83EE3733D9B5}"/>
              </a:ext>
            </a:extLst>
          </p:cNvPr>
          <p:cNvSpPr/>
          <p:nvPr/>
        </p:nvSpPr>
        <p:spPr>
          <a:xfrm>
            <a:off x="868680" y="4553712"/>
            <a:ext cx="210312" cy="2103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5" name="Text 63">
            <a:extLst>
              <a:ext uri="{FF2B5EF4-FFF2-40B4-BE49-F238E27FC236}">
                <a16:creationId xmlns:a16="http://schemas.microsoft.com/office/drawing/2014/main" id="{711F6376-864D-1680-0446-17D88F81CEAB}"/>
              </a:ext>
            </a:extLst>
          </p:cNvPr>
          <p:cNvSpPr/>
          <p:nvPr/>
        </p:nvSpPr>
        <p:spPr>
          <a:xfrm>
            <a:off x="1188720" y="4517136"/>
            <a:ext cx="10241280" cy="27432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 difference below ~0.02 is not interpretable at our sample size. The report says so in its limitations, so the rule must hold when inconvenient too.</a:t>
            </a:r>
            <a:endParaRPr lang="en-US" sz="1100" dirty="0"/>
          </a:p>
        </p:txBody>
      </p:sp>
      <p:sp>
        <p:nvSpPr>
          <p:cNvPr id="66" name="Shape 64">
            <a:extLst>
              <a:ext uri="{FF2B5EF4-FFF2-40B4-BE49-F238E27FC236}">
                <a16:creationId xmlns:a16="http://schemas.microsoft.com/office/drawing/2014/main" id="{8D59B8FE-F61F-1C12-5423-36721522F6D4}"/>
              </a:ext>
            </a:extLst>
          </p:cNvPr>
          <p:cNvSpPr/>
          <p:nvPr/>
        </p:nvSpPr>
        <p:spPr>
          <a:xfrm>
            <a:off x="868680" y="4846320"/>
            <a:ext cx="210312" cy="210312"/>
          </a:xfrm>
          <a:prstGeom prst="ellipse">
            <a:avLst/>
          </a:prstGeom>
          <a:solidFill>
            <a:srgbClr val="4A6B4F"/>
          </a:solidFill>
          <a:ln/>
        </p:spPr>
        <p:txBody>
          <a:bodyPr/>
          <a:lstStyle/>
          <a:p>
            <a:endParaRPr lang="en-IN" sz="2400"/>
          </a:p>
        </p:txBody>
      </p:sp>
      <p:sp>
        <p:nvSpPr>
          <p:cNvPr id="67" name="Text 65">
            <a:extLst>
              <a:ext uri="{FF2B5EF4-FFF2-40B4-BE49-F238E27FC236}">
                <a16:creationId xmlns:a16="http://schemas.microsoft.com/office/drawing/2014/main" id="{FC31DB80-E23C-F537-AE00-02BAE89F71BA}"/>
              </a:ext>
            </a:extLst>
          </p:cNvPr>
          <p:cNvSpPr/>
          <p:nvPr/>
        </p:nvSpPr>
        <p:spPr>
          <a:xfrm>
            <a:off x="868680" y="4846320"/>
            <a:ext cx="210312" cy="2103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68" name="Text 66">
            <a:extLst>
              <a:ext uri="{FF2B5EF4-FFF2-40B4-BE49-F238E27FC236}">
                <a16:creationId xmlns:a16="http://schemas.microsoft.com/office/drawing/2014/main" id="{A9579E91-37C8-51B8-E41E-36CEC119882E}"/>
              </a:ext>
            </a:extLst>
          </p:cNvPr>
          <p:cNvSpPr/>
          <p:nvPr/>
        </p:nvSpPr>
        <p:spPr>
          <a:xfrm>
            <a:off x="1188720" y="4809744"/>
            <a:ext cx="10241280" cy="27432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When AUCROC disagrees with the direct measures, prefer the direct measures — AUCROC is weakened here by the label-transfer effect.</a:t>
            </a:r>
            <a:endParaRPr lang="en-US" sz="1100" dirty="0"/>
          </a:p>
        </p:txBody>
      </p:sp>
      <p:sp>
        <p:nvSpPr>
          <p:cNvPr id="69" name="Shape 67">
            <a:extLst>
              <a:ext uri="{FF2B5EF4-FFF2-40B4-BE49-F238E27FC236}">
                <a16:creationId xmlns:a16="http://schemas.microsoft.com/office/drawing/2014/main" id="{113EAFBC-8C14-7D58-C9D4-A7E73B78426F}"/>
              </a:ext>
            </a:extLst>
          </p:cNvPr>
          <p:cNvSpPr/>
          <p:nvPr/>
        </p:nvSpPr>
        <p:spPr>
          <a:xfrm>
            <a:off x="868680" y="5138928"/>
            <a:ext cx="210312" cy="210312"/>
          </a:xfrm>
          <a:prstGeom prst="ellipse">
            <a:avLst/>
          </a:prstGeom>
          <a:solidFill>
            <a:srgbClr val="4A6B4F"/>
          </a:solidFill>
          <a:ln/>
        </p:spPr>
        <p:txBody>
          <a:bodyPr/>
          <a:lstStyle/>
          <a:p>
            <a:endParaRPr lang="en-IN" sz="2400"/>
          </a:p>
        </p:txBody>
      </p:sp>
      <p:sp>
        <p:nvSpPr>
          <p:cNvPr id="70" name="Text 68">
            <a:extLst>
              <a:ext uri="{FF2B5EF4-FFF2-40B4-BE49-F238E27FC236}">
                <a16:creationId xmlns:a16="http://schemas.microsoft.com/office/drawing/2014/main" id="{074CC97C-BB73-3461-B4E7-FEEB459EAAC8}"/>
              </a:ext>
            </a:extLst>
          </p:cNvPr>
          <p:cNvSpPr/>
          <p:nvPr/>
        </p:nvSpPr>
        <p:spPr>
          <a:xfrm>
            <a:off x="868680" y="5138928"/>
            <a:ext cx="210312" cy="21031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71" name="Text 69">
            <a:extLst>
              <a:ext uri="{FF2B5EF4-FFF2-40B4-BE49-F238E27FC236}">
                <a16:creationId xmlns:a16="http://schemas.microsoft.com/office/drawing/2014/main" id="{9754E5F1-B1F1-81B4-9D88-4CCDBC2D19B8}"/>
              </a:ext>
            </a:extLst>
          </p:cNvPr>
          <p:cNvSpPr/>
          <p:nvPr/>
        </p:nvSpPr>
        <p:spPr>
          <a:xfrm>
            <a:off x="1188720" y="5102352"/>
            <a:ext cx="10241280" cy="274320"/>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Where the direct measures still disagree, adherence carries most weight: groundedness is what the project set out to improve.</a:t>
            </a:r>
            <a:endParaRPr lang="en-US" sz="1100" dirty="0"/>
          </a:p>
        </p:txBody>
      </p:sp>
      <p:sp>
        <p:nvSpPr>
          <p:cNvPr id="72" name="Shape 70">
            <a:extLst>
              <a:ext uri="{FF2B5EF4-FFF2-40B4-BE49-F238E27FC236}">
                <a16:creationId xmlns:a16="http://schemas.microsoft.com/office/drawing/2014/main" id="{EACBB53C-39D9-DA9B-D3A2-63406A5DB431}"/>
              </a:ext>
            </a:extLst>
          </p:cNvPr>
          <p:cNvSpPr/>
          <p:nvPr/>
        </p:nvSpPr>
        <p:spPr>
          <a:xfrm>
            <a:off x="548640" y="5559552"/>
            <a:ext cx="5486400" cy="1024128"/>
          </a:xfrm>
          <a:prstGeom prst="roundRect">
            <a:avLst>
              <a:gd name="adj" fmla="val 7143"/>
            </a:avLst>
          </a:prstGeom>
          <a:solidFill>
            <a:srgbClr val="F0E7DA"/>
          </a:solidFill>
          <a:ln w="9525">
            <a:solidFill>
              <a:srgbClr val="C9B195"/>
            </a:solidFill>
            <a:prstDash val="solid"/>
          </a:ln>
        </p:spPr>
        <p:txBody>
          <a:bodyPr/>
          <a:lstStyle/>
          <a:p>
            <a:endParaRPr lang="en-IN" sz="2400"/>
          </a:p>
        </p:txBody>
      </p:sp>
      <p:sp>
        <p:nvSpPr>
          <p:cNvPr id="73" name="Text 71">
            <a:extLst>
              <a:ext uri="{FF2B5EF4-FFF2-40B4-BE49-F238E27FC236}">
                <a16:creationId xmlns:a16="http://schemas.microsoft.com/office/drawing/2014/main" id="{AD9A3ECF-5869-2A0F-E8A1-9D6282B29ABC}"/>
              </a:ext>
            </a:extLst>
          </p:cNvPr>
          <p:cNvSpPr/>
          <p:nvPr/>
        </p:nvSpPr>
        <p:spPr>
          <a:xfrm>
            <a:off x="777240" y="5623560"/>
            <a:ext cx="5029200" cy="237744"/>
          </a:xfrm>
          <a:prstGeom prst="rect">
            <a:avLst/>
          </a:prstGeom>
          <a:noFill/>
          <a:ln/>
        </p:spPr>
        <p:txBody>
          <a:bodyPr wrap="square" lIns="0" tIns="0" rIns="0" bIns="0" rtlCol="0" anchor="ctr"/>
          <a:lstStyle/>
          <a:p>
            <a:pPr marL="0" indent="0">
              <a:buNone/>
            </a:pPr>
            <a:r>
              <a:rPr lang="en-US" sz="1400" b="1" dirty="0">
                <a:solidFill>
                  <a:srgbClr val="8C6E52"/>
                </a:solidFill>
                <a:latin typeface="Calibri" pitchFamily="34" charset="0"/>
                <a:ea typeface="Calibri" pitchFamily="34" charset="-122"/>
                <a:cs typeface="Calibri" pitchFamily="34" charset="-120"/>
              </a:rPr>
              <a:t>Finance</a:t>
            </a:r>
            <a:endParaRPr lang="en-US" sz="1400" dirty="0"/>
          </a:p>
        </p:txBody>
      </p:sp>
      <p:sp>
        <p:nvSpPr>
          <p:cNvPr id="74" name="Text 72">
            <a:extLst>
              <a:ext uri="{FF2B5EF4-FFF2-40B4-BE49-F238E27FC236}">
                <a16:creationId xmlns:a16="http://schemas.microsoft.com/office/drawing/2014/main" id="{A1849A71-CA80-B52E-DBD0-C5DAF094485C}"/>
              </a:ext>
            </a:extLst>
          </p:cNvPr>
          <p:cNvSpPr/>
          <p:nvPr/>
        </p:nvSpPr>
        <p:spPr>
          <a:xfrm>
            <a:off x="777240" y="5870448"/>
            <a:ext cx="5074920" cy="65836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FIN-075's AUCROC lead of 0.0012 is a twentieth of the noise floor. FIN-031's adherence lead of 0.0405 is thirty-three times larger. Only one comparison clears the threshold, and FIN-031 wins it.</a:t>
            </a:r>
            <a:endParaRPr lang="en-US" sz="1050" dirty="0"/>
          </a:p>
        </p:txBody>
      </p:sp>
      <p:sp>
        <p:nvSpPr>
          <p:cNvPr id="75" name="Shape 73">
            <a:extLst>
              <a:ext uri="{FF2B5EF4-FFF2-40B4-BE49-F238E27FC236}">
                <a16:creationId xmlns:a16="http://schemas.microsoft.com/office/drawing/2014/main" id="{BDA7AAF7-0CF8-C863-8D6D-801464E5622B}"/>
              </a:ext>
            </a:extLst>
          </p:cNvPr>
          <p:cNvSpPr/>
          <p:nvPr/>
        </p:nvSpPr>
        <p:spPr>
          <a:xfrm>
            <a:off x="6172200" y="5559552"/>
            <a:ext cx="5486400" cy="1024128"/>
          </a:xfrm>
          <a:prstGeom prst="roundRect">
            <a:avLst>
              <a:gd name="adj" fmla="val 7143"/>
            </a:avLst>
          </a:prstGeom>
          <a:solidFill>
            <a:srgbClr val="F0E7DA"/>
          </a:solidFill>
          <a:ln w="9525">
            <a:solidFill>
              <a:srgbClr val="C9B195"/>
            </a:solidFill>
            <a:prstDash val="solid"/>
          </a:ln>
        </p:spPr>
        <p:txBody>
          <a:bodyPr/>
          <a:lstStyle/>
          <a:p>
            <a:endParaRPr lang="en-IN" sz="2400"/>
          </a:p>
        </p:txBody>
      </p:sp>
      <p:sp>
        <p:nvSpPr>
          <p:cNvPr id="76" name="Text 74">
            <a:extLst>
              <a:ext uri="{FF2B5EF4-FFF2-40B4-BE49-F238E27FC236}">
                <a16:creationId xmlns:a16="http://schemas.microsoft.com/office/drawing/2014/main" id="{C917FDC0-04D4-8D34-B3FD-9E642850FD47}"/>
              </a:ext>
            </a:extLst>
          </p:cNvPr>
          <p:cNvSpPr/>
          <p:nvPr/>
        </p:nvSpPr>
        <p:spPr>
          <a:xfrm>
            <a:off x="6400800" y="5623560"/>
            <a:ext cx="5029200" cy="237744"/>
          </a:xfrm>
          <a:prstGeom prst="rect">
            <a:avLst/>
          </a:prstGeom>
          <a:noFill/>
          <a:ln/>
        </p:spPr>
        <p:txBody>
          <a:bodyPr wrap="square" lIns="0" tIns="0" rIns="0" bIns="0" rtlCol="0" anchor="ctr"/>
          <a:lstStyle/>
          <a:p>
            <a:pPr marL="0" indent="0">
              <a:buNone/>
            </a:pPr>
            <a:r>
              <a:rPr lang="en-US" sz="1400" b="1" dirty="0">
                <a:solidFill>
                  <a:srgbClr val="4A6B4F"/>
                </a:solidFill>
                <a:latin typeface="Calibri" pitchFamily="34" charset="0"/>
                <a:ea typeface="Calibri" pitchFamily="34" charset="-122"/>
                <a:cs typeface="Calibri" pitchFamily="34" charset="-120"/>
              </a:rPr>
              <a:t>General Knowledge</a:t>
            </a:r>
            <a:endParaRPr lang="en-US" sz="1400" dirty="0"/>
          </a:p>
        </p:txBody>
      </p:sp>
      <p:sp>
        <p:nvSpPr>
          <p:cNvPr id="77" name="Text 75">
            <a:extLst>
              <a:ext uri="{FF2B5EF4-FFF2-40B4-BE49-F238E27FC236}">
                <a16:creationId xmlns:a16="http://schemas.microsoft.com/office/drawing/2014/main" id="{7087D9E1-D361-9A22-1101-AF7A4CCBFE79}"/>
              </a:ext>
            </a:extLst>
          </p:cNvPr>
          <p:cNvSpPr/>
          <p:nvPr/>
        </p:nvSpPr>
        <p:spPr>
          <a:xfrm>
            <a:off x="6400800" y="5870448"/>
            <a:ext cx="5074920" cy="65836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GK-040's AUCROC lead of 0.0195 sits under the floor. GK-031's relevance and utilization advantages of 0.171 and 0.211 sit nine and eleven times above it. A poor exchange to make.</a:t>
            </a:r>
            <a:endParaRPr lang="en-US" sz="1050" dirty="0"/>
          </a:p>
        </p:txBody>
      </p:sp>
    </p:spTree>
    <p:extLst>
      <p:ext uri="{BB962C8B-B14F-4D97-AF65-F5344CB8AC3E}">
        <p14:creationId xmlns:p14="http://schemas.microsoft.com/office/powerpoint/2010/main" val="27089878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60491AAC-DA08-B96F-0DDB-7580FD2BEF1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CD0E49C-FC38-1D92-EF72-AF64BEC7845F}"/>
              </a:ext>
            </a:extLst>
          </p:cNvPr>
          <p:cNvSpPr/>
          <p:nvPr/>
        </p:nvSpPr>
        <p:spPr>
          <a:xfrm>
            <a:off x="0" y="0"/>
            <a:ext cx="12188952" cy="1078992"/>
          </a:xfrm>
          <a:prstGeom prst="roundRect">
            <a:avLst/>
          </a:prstGeom>
          <a:solidFill>
            <a:srgbClr val="FFFFFF"/>
          </a:solidFill>
          <a:ln/>
        </p:spPr>
        <p:txBody>
          <a:bodyPr/>
          <a:lstStyle/>
          <a:p>
            <a:endParaRPr lang="en-IN"/>
          </a:p>
        </p:txBody>
      </p:sp>
      <p:sp>
        <p:nvSpPr>
          <p:cNvPr id="3" name="Shape 1">
            <a:extLst>
              <a:ext uri="{FF2B5EF4-FFF2-40B4-BE49-F238E27FC236}">
                <a16:creationId xmlns:a16="http://schemas.microsoft.com/office/drawing/2014/main" id="{9EB8B0A8-7E53-D232-7BE5-21FF2E07CC12}"/>
              </a:ext>
            </a:extLst>
          </p:cNvPr>
          <p:cNvSpPr/>
          <p:nvPr/>
        </p:nvSpPr>
        <p:spPr>
          <a:xfrm>
            <a:off x="0" y="1060704"/>
            <a:ext cx="12188952" cy="32004"/>
          </a:xfrm>
          <a:prstGeom prst="rect">
            <a:avLst/>
          </a:prstGeom>
          <a:solidFill>
            <a:srgbClr val="7D9B76"/>
          </a:solidFill>
          <a:ln/>
        </p:spPr>
        <p:txBody>
          <a:bodyPr/>
          <a:lstStyle/>
          <a:p>
            <a:endParaRPr lang="en-IN"/>
          </a:p>
        </p:txBody>
      </p:sp>
      <p:sp>
        <p:nvSpPr>
          <p:cNvPr id="4" name="Text 2">
            <a:extLst>
              <a:ext uri="{FF2B5EF4-FFF2-40B4-BE49-F238E27FC236}">
                <a16:creationId xmlns:a16="http://schemas.microsoft.com/office/drawing/2014/main" id="{B924E0C5-9C97-AC72-2D46-D5410CDEC013}"/>
              </a:ext>
            </a:extLst>
          </p:cNvPr>
          <p:cNvSpPr/>
          <p:nvPr/>
        </p:nvSpPr>
        <p:spPr>
          <a:xfrm>
            <a:off x="502920" y="118872"/>
            <a:ext cx="9464040" cy="457200"/>
          </a:xfrm>
          <a:prstGeom prst="rect">
            <a:avLst/>
          </a:prstGeom>
          <a:noFill/>
          <a:ln/>
        </p:spPr>
        <p:txBody>
          <a:bodyPr wrap="square" lIns="0" tIns="0" rIns="0" bIns="0" rtlCol="0" anchor="ctr"/>
          <a:lstStyle/>
          <a:p>
            <a:r>
              <a:rPr lang="en-US" sz="2400" b="1" dirty="0">
                <a:solidFill>
                  <a:srgbClr val="5C4A38"/>
                </a:solidFill>
                <a:latin typeface="Georgia" pitchFamily="34" charset="0"/>
                <a:ea typeface="Georgia" pitchFamily="34" charset="-122"/>
                <a:cs typeface="Georgia" pitchFamily="34" charset="-120"/>
              </a:rPr>
              <a:t>The Same Test Applied to the Other Three Domains</a:t>
            </a:r>
            <a:endParaRPr lang="en-US" sz="2400" dirty="0"/>
          </a:p>
        </p:txBody>
      </p:sp>
      <p:sp>
        <p:nvSpPr>
          <p:cNvPr id="5" name="Text 3">
            <a:extLst>
              <a:ext uri="{FF2B5EF4-FFF2-40B4-BE49-F238E27FC236}">
                <a16:creationId xmlns:a16="http://schemas.microsoft.com/office/drawing/2014/main" id="{4BC673AC-BAA3-C9AE-0D72-7232DEE4FE2D}"/>
              </a:ext>
            </a:extLst>
          </p:cNvPr>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In two domains the leading configurations split the metrics. Picking the highest AUCROC would have given a different answer.</a:t>
            </a:r>
            <a:endParaRPr lang="en-US" sz="1250" dirty="0"/>
          </a:p>
        </p:txBody>
      </p:sp>
      <p:sp>
        <p:nvSpPr>
          <p:cNvPr id="6" name="Text 4">
            <a:extLst>
              <a:ext uri="{FF2B5EF4-FFF2-40B4-BE49-F238E27FC236}">
                <a16:creationId xmlns:a16="http://schemas.microsoft.com/office/drawing/2014/main" id="{1428163C-AEE2-F518-502E-92CF0CB5A1C7}"/>
              </a:ext>
            </a:extLst>
          </p:cNvPr>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7.9</a:t>
            </a:r>
            <a:endParaRPr lang="en-US" sz="1000" dirty="0"/>
          </a:p>
        </p:txBody>
      </p:sp>
      <p:sp>
        <p:nvSpPr>
          <p:cNvPr id="79" name="Shape 5">
            <a:extLst>
              <a:ext uri="{FF2B5EF4-FFF2-40B4-BE49-F238E27FC236}">
                <a16:creationId xmlns:a16="http://schemas.microsoft.com/office/drawing/2014/main" id="{D8AA94F1-9489-54DE-78C4-C39E99D375FC}"/>
              </a:ext>
            </a:extLst>
          </p:cNvPr>
          <p:cNvSpPr/>
          <p:nvPr/>
        </p:nvSpPr>
        <p:spPr>
          <a:xfrm>
            <a:off x="548640" y="1325880"/>
            <a:ext cx="5486400" cy="2697480"/>
          </a:xfrm>
          <a:prstGeom prst="roundRect">
            <a:avLst>
              <a:gd name="adj" fmla="val 2712"/>
            </a:avLst>
          </a:prstGeom>
          <a:solidFill>
            <a:srgbClr val="FFFFFF"/>
          </a:solidFill>
          <a:ln w="9525">
            <a:solidFill>
              <a:srgbClr val="C9B195"/>
            </a:solidFill>
            <a:prstDash val="solid"/>
          </a:ln>
        </p:spPr>
        <p:txBody>
          <a:bodyPr/>
          <a:lstStyle/>
          <a:p>
            <a:endParaRPr lang="en-IN" sz="2400"/>
          </a:p>
        </p:txBody>
      </p:sp>
      <p:sp>
        <p:nvSpPr>
          <p:cNvPr id="81" name="Text 6">
            <a:extLst>
              <a:ext uri="{FF2B5EF4-FFF2-40B4-BE49-F238E27FC236}">
                <a16:creationId xmlns:a16="http://schemas.microsoft.com/office/drawing/2014/main" id="{C7D6168A-F846-EF2F-3278-A6D12EFDCD05}"/>
              </a:ext>
            </a:extLst>
          </p:cNvPr>
          <p:cNvSpPr/>
          <p:nvPr/>
        </p:nvSpPr>
        <p:spPr>
          <a:xfrm>
            <a:off x="777240" y="1408176"/>
            <a:ext cx="5029200" cy="256032"/>
          </a:xfrm>
          <a:prstGeom prst="rect">
            <a:avLst/>
          </a:prstGeom>
          <a:noFill/>
          <a:ln/>
        </p:spPr>
        <p:txBody>
          <a:bodyPr wrap="square" lIns="0" tIns="0" rIns="0" bIns="0" rtlCol="0" anchor="ctr"/>
          <a:lstStyle/>
          <a:p>
            <a:pPr marL="0" indent="0">
              <a:buNone/>
            </a:pPr>
            <a:r>
              <a:rPr lang="en-US" sz="1600" b="1" dirty="0">
                <a:solidFill>
                  <a:srgbClr val="8C6E52"/>
                </a:solidFill>
                <a:latin typeface="Calibri" pitchFamily="34" charset="0"/>
                <a:ea typeface="Calibri" pitchFamily="34" charset="-122"/>
                <a:cs typeface="Calibri" pitchFamily="34" charset="-120"/>
              </a:rPr>
              <a:t>Customer Support — CS-064 locked</a:t>
            </a:r>
            <a:endParaRPr lang="en-US" sz="1600" dirty="0"/>
          </a:p>
        </p:txBody>
      </p:sp>
      <p:sp>
        <p:nvSpPr>
          <p:cNvPr id="83" name="Shape 7">
            <a:extLst>
              <a:ext uri="{FF2B5EF4-FFF2-40B4-BE49-F238E27FC236}">
                <a16:creationId xmlns:a16="http://schemas.microsoft.com/office/drawing/2014/main" id="{9B6792BB-FF7F-F44A-7CB9-161847156193}"/>
              </a:ext>
            </a:extLst>
          </p:cNvPr>
          <p:cNvSpPr/>
          <p:nvPr/>
        </p:nvSpPr>
        <p:spPr>
          <a:xfrm>
            <a:off x="777240" y="1700784"/>
            <a:ext cx="4709160" cy="384048"/>
          </a:xfrm>
          <a:prstGeom prst="roundRect">
            <a:avLst>
              <a:gd name="adj" fmla="val 11905"/>
            </a:avLst>
          </a:prstGeom>
          <a:solidFill>
            <a:srgbClr val="5C4A38"/>
          </a:solidFill>
          <a:ln/>
        </p:spPr>
        <p:txBody>
          <a:bodyPr/>
          <a:lstStyle/>
          <a:p>
            <a:endParaRPr lang="en-IN" sz="2400"/>
          </a:p>
        </p:txBody>
      </p:sp>
      <p:sp>
        <p:nvSpPr>
          <p:cNvPr id="85" name="Text 8">
            <a:extLst>
              <a:ext uri="{FF2B5EF4-FFF2-40B4-BE49-F238E27FC236}">
                <a16:creationId xmlns:a16="http://schemas.microsoft.com/office/drawing/2014/main" id="{65289553-56CD-9D8D-4C61-817D4B1E6862}"/>
              </a:ext>
            </a:extLst>
          </p:cNvPr>
          <p:cNvSpPr/>
          <p:nvPr/>
        </p:nvSpPr>
        <p:spPr>
          <a:xfrm>
            <a:off x="868680" y="1700784"/>
            <a:ext cx="192024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p>
        </p:txBody>
      </p:sp>
      <p:sp>
        <p:nvSpPr>
          <p:cNvPr id="87" name="Text 9">
            <a:extLst>
              <a:ext uri="{FF2B5EF4-FFF2-40B4-BE49-F238E27FC236}">
                <a16:creationId xmlns:a16="http://schemas.microsoft.com/office/drawing/2014/main" id="{B45CDB0B-CD4D-2B0E-8399-152BA7EA99DB}"/>
              </a:ext>
            </a:extLst>
          </p:cNvPr>
          <p:cNvSpPr/>
          <p:nvPr/>
        </p:nvSpPr>
        <p:spPr>
          <a:xfrm>
            <a:off x="278892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CS-064</a:t>
            </a:r>
            <a:endParaRPr lang="en-US" sz="1000" dirty="0"/>
          </a:p>
        </p:txBody>
      </p:sp>
      <p:sp>
        <p:nvSpPr>
          <p:cNvPr id="89" name="Text 10">
            <a:extLst>
              <a:ext uri="{FF2B5EF4-FFF2-40B4-BE49-F238E27FC236}">
                <a16:creationId xmlns:a16="http://schemas.microsoft.com/office/drawing/2014/main" id="{39564942-7CA4-FA73-6E8F-E72DCA307D37}"/>
              </a:ext>
            </a:extLst>
          </p:cNvPr>
          <p:cNvSpPr/>
          <p:nvPr/>
        </p:nvSpPr>
        <p:spPr>
          <a:xfrm>
            <a:off x="420624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CS-037</a:t>
            </a:r>
            <a:endParaRPr lang="en-US" sz="1000" dirty="0"/>
          </a:p>
        </p:txBody>
      </p:sp>
      <p:sp>
        <p:nvSpPr>
          <p:cNvPr id="91" name="Shape 11">
            <a:extLst>
              <a:ext uri="{FF2B5EF4-FFF2-40B4-BE49-F238E27FC236}">
                <a16:creationId xmlns:a16="http://schemas.microsoft.com/office/drawing/2014/main" id="{7DFAAF90-5CD3-6B87-ED8D-4CCAED125328}"/>
              </a:ext>
            </a:extLst>
          </p:cNvPr>
          <p:cNvSpPr/>
          <p:nvPr/>
        </p:nvSpPr>
        <p:spPr>
          <a:xfrm>
            <a:off x="777240" y="2121408"/>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93" name="Text 12">
            <a:extLst>
              <a:ext uri="{FF2B5EF4-FFF2-40B4-BE49-F238E27FC236}">
                <a16:creationId xmlns:a16="http://schemas.microsoft.com/office/drawing/2014/main" id="{DC29A985-232C-BE64-FDDA-02BABBFDB510}"/>
              </a:ext>
            </a:extLst>
          </p:cNvPr>
          <p:cNvSpPr/>
          <p:nvPr/>
        </p:nvSpPr>
        <p:spPr>
          <a:xfrm>
            <a:off x="868680" y="2121408"/>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Adherence</a:t>
            </a:r>
            <a:endParaRPr lang="en-US" sz="1000" dirty="0"/>
          </a:p>
        </p:txBody>
      </p:sp>
      <p:sp>
        <p:nvSpPr>
          <p:cNvPr id="95" name="Text 13">
            <a:extLst>
              <a:ext uri="{FF2B5EF4-FFF2-40B4-BE49-F238E27FC236}">
                <a16:creationId xmlns:a16="http://schemas.microsoft.com/office/drawing/2014/main" id="{6EAFA7BA-F2D9-CADB-C966-A163F9068B71}"/>
              </a:ext>
            </a:extLst>
          </p:cNvPr>
          <p:cNvSpPr/>
          <p:nvPr/>
        </p:nvSpPr>
        <p:spPr>
          <a:xfrm>
            <a:off x="2788920" y="2121408"/>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0.6996</a:t>
            </a:r>
            <a:endParaRPr lang="en-US" sz="1000" dirty="0"/>
          </a:p>
        </p:txBody>
      </p:sp>
      <p:sp>
        <p:nvSpPr>
          <p:cNvPr id="97" name="Text 14">
            <a:extLst>
              <a:ext uri="{FF2B5EF4-FFF2-40B4-BE49-F238E27FC236}">
                <a16:creationId xmlns:a16="http://schemas.microsoft.com/office/drawing/2014/main" id="{3E398992-713C-1405-1C78-33E8F1365302}"/>
              </a:ext>
            </a:extLst>
          </p:cNvPr>
          <p:cNvSpPr/>
          <p:nvPr/>
        </p:nvSpPr>
        <p:spPr>
          <a:xfrm>
            <a:off x="4206240" y="2121408"/>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0.7474</a:t>
            </a:r>
            <a:endParaRPr lang="en-US" sz="1000" dirty="0"/>
          </a:p>
        </p:txBody>
      </p:sp>
      <p:sp>
        <p:nvSpPr>
          <p:cNvPr id="99" name="Shape 15">
            <a:extLst>
              <a:ext uri="{FF2B5EF4-FFF2-40B4-BE49-F238E27FC236}">
                <a16:creationId xmlns:a16="http://schemas.microsoft.com/office/drawing/2014/main" id="{3E5ACA8C-6A85-1637-6287-09619303EDCC}"/>
              </a:ext>
            </a:extLst>
          </p:cNvPr>
          <p:cNvSpPr/>
          <p:nvPr/>
        </p:nvSpPr>
        <p:spPr>
          <a:xfrm>
            <a:off x="777240" y="2423160"/>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101" name="Text 16">
            <a:extLst>
              <a:ext uri="{FF2B5EF4-FFF2-40B4-BE49-F238E27FC236}">
                <a16:creationId xmlns:a16="http://schemas.microsoft.com/office/drawing/2014/main" id="{23F68589-4B13-D45F-1F6D-A57D02EBB87E}"/>
              </a:ext>
            </a:extLst>
          </p:cNvPr>
          <p:cNvSpPr/>
          <p:nvPr/>
        </p:nvSpPr>
        <p:spPr>
          <a:xfrm>
            <a:off x="868680" y="2423160"/>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AUCROC</a:t>
            </a:r>
            <a:endParaRPr lang="en-US" sz="1000" dirty="0"/>
          </a:p>
        </p:txBody>
      </p:sp>
      <p:sp>
        <p:nvSpPr>
          <p:cNvPr id="103" name="Text 17">
            <a:extLst>
              <a:ext uri="{FF2B5EF4-FFF2-40B4-BE49-F238E27FC236}">
                <a16:creationId xmlns:a16="http://schemas.microsoft.com/office/drawing/2014/main" id="{2F35BD73-0AFA-8902-9CEF-7E77C5524F23}"/>
              </a:ext>
            </a:extLst>
          </p:cNvPr>
          <p:cNvSpPr/>
          <p:nvPr/>
        </p:nvSpPr>
        <p:spPr>
          <a:xfrm>
            <a:off x="278892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0.5282</a:t>
            </a:r>
            <a:endParaRPr lang="en-US" sz="1000" dirty="0"/>
          </a:p>
        </p:txBody>
      </p:sp>
      <p:sp>
        <p:nvSpPr>
          <p:cNvPr id="105" name="Text 18">
            <a:extLst>
              <a:ext uri="{FF2B5EF4-FFF2-40B4-BE49-F238E27FC236}">
                <a16:creationId xmlns:a16="http://schemas.microsoft.com/office/drawing/2014/main" id="{6758AC3F-6D0F-A7E1-3DE0-2B0EB1A6FB21}"/>
              </a:ext>
            </a:extLst>
          </p:cNvPr>
          <p:cNvSpPr/>
          <p:nvPr/>
        </p:nvSpPr>
        <p:spPr>
          <a:xfrm>
            <a:off x="420624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0.4989</a:t>
            </a:r>
            <a:endParaRPr lang="en-US" sz="1000" dirty="0"/>
          </a:p>
        </p:txBody>
      </p:sp>
      <p:sp>
        <p:nvSpPr>
          <p:cNvPr id="107" name="Shape 19">
            <a:extLst>
              <a:ext uri="{FF2B5EF4-FFF2-40B4-BE49-F238E27FC236}">
                <a16:creationId xmlns:a16="http://schemas.microsoft.com/office/drawing/2014/main" id="{FFD60C15-FE7B-4FF9-EE1B-240B56468029}"/>
              </a:ext>
            </a:extLst>
          </p:cNvPr>
          <p:cNvSpPr/>
          <p:nvPr/>
        </p:nvSpPr>
        <p:spPr>
          <a:xfrm>
            <a:off x="777240" y="2724912"/>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109" name="Text 20">
            <a:extLst>
              <a:ext uri="{FF2B5EF4-FFF2-40B4-BE49-F238E27FC236}">
                <a16:creationId xmlns:a16="http://schemas.microsoft.com/office/drawing/2014/main" id="{25665095-83A5-1130-00FF-9B9B7F691F96}"/>
              </a:ext>
            </a:extLst>
          </p:cNvPr>
          <p:cNvSpPr/>
          <p:nvPr/>
        </p:nvSpPr>
        <p:spPr>
          <a:xfrm>
            <a:off x="868680" y="2724912"/>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Relevance RMSE</a:t>
            </a:r>
            <a:endParaRPr lang="en-US" sz="1000" dirty="0"/>
          </a:p>
        </p:txBody>
      </p:sp>
      <p:sp>
        <p:nvSpPr>
          <p:cNvPr id="111" name="Text 21">
            <a:extLst>
              <a:ext uri="{FF2B5EF4-FFF2-40B4-BE49-F238E27FC236}">
                <a16:creationId xmlns:a16="http://schemas.microsoft.com/office/drawing/2014/main" id="{98ACE5C5-2A2F-4F7D-3298-0CD8EF5FC9AB}"/>
              </a:ext>
            </a:extLst>
          </p:cNvPr>
          <p:cNvSpPr/>
          <p:nvPr/>
        </p:nvSpPr>
        <p:spPr>
          <a:xfrm>
            <a:off x="278892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0.2732</a:t>
            </a:r>
            <a:endParaRPr lang="en-US" sz="1000" dirty="0"/>
          </a:p>
        </p:txBody>
      </p:sp>
      <p:sp>
        <p:nvSpPr>
          <p:cNvPr id="113" name="Text 22">
            <a:extLst>
              <a:ext uri="{FF2B5EF4-FFF2-40B4-BE49-F238E27FC236}">
                <a16:creationId xmlns:a16="http://schemas.microsoft.com/office/drawing/2014/main" id="{ECACC864-04E5-C9A5-55D3-EAC473F11B6E}"/>
              </a:ext>
            </a:extLst>
          </p:cNvPr>
          <p:cNvSpPr/>
          <p:nvPr/>
        </p:nvSpPr>
        <p:spPr>
          <a:xfrm>
            <a:off x="420624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0.3357</a:t>
            </a:r>
            <a:endParaRPr lang="en-US" sz="1000" dirty="0"/>
          </a:p>
        </p:txBody>
      </p:sp>
      <p:sp>
        <p:nvSpPr>
          <p:cNvPr id="115" name="Shape 23">
            <a:extLst>
              <a:ext uri="{FF2B5EF4-FFF2-40B4-BE49-F238E27FC236}">
                <a16:creationId xmlns:a16="http://schemas.microsoft.com/office/drawing/2014/main" id="{8B4612F9-267F-2C1B-6744-728617F2D010}"/>
              </a:ext>
            </a:extLst>
          </p:cNvPr>
          <p:cNvSpPr/>
          <p:nvPr/>
        </p:nvSpPr>
        <p:spPr>
          <a:xfrm>
            <a:off x="777240" y="3026664"/>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117" name="Text 24">
            <a:extLst>
              <a:ext uri="{FF2B5EF4-FFF2-40B4-BE49-F238E27FC236}">
                <a16:creationId xmlns:a16="http://schemas.microsoft.com/office/drawing/2014/main" id="{A0914F6F-EEAD-612D-D412-82F56DB3408C}"/>
              </a:ext>
            </a:extLst>
          </p:cNvPr>
          <p:cNvSpPr/>
          <p:nvPr/>
        </p:nvSpPr>
        <p:spPr>
          <a:xfrm>
            <a:off x="868680" y="3026664"/>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Utilization RMSE</a:t>
            </a:r>
            <a:endParaRPr lang="en-US" sz="1000" dirty="0"/>
          </a:p>
        </p:txBody>
      </p:sp>
      <p:sp>
        <p:nvSpPr>
          <p:cNvPr id="119" name="Text 25">
            <a:extLst>
              <a:ext uri="{FF2B5EF4-FFF2-40B4-BE49-F238E27FC236}">
                <a16:creationId xmlns:a16="http://schemas.microsoft.com/office/drawing/2014/main" id="{5A542726-EB2B-A4B6-5625-BB19FE0CBCC9}"/>
              </a:ext>
            </a:extLst>
          </p:cNvPr>
          <p:cNvSpPr/>
          <p:nvPr/>
        </p:nvSpPr>
        <p:spPr>
          <a:xfrm>
            <a:off x="278892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0.1762</a:t>
            </a:r>
            <a:endParaRPr lang="en-US" sz="1000" dirty="0"/>
          </a:p>
        </p:txBody>
      </p:sp>
      <p:sp>
        <p:nvSpPr>
          <p:cNvPr id="121" name="Text 26">
            <a:extLst>
              <a:ext uri="{FF2B5EF4-FFF2-40B4-BE49-F238E27FC236}">
                <a16:creationId xmlns:a16="http://schemas.microsoft.com/office/drawing/2014/main" id="{698B7C43-E3BC-F6F4-5FC7-958108B7CF1E}"/>
              </a:ext>
            </a:extLst>
          </p:cNvPr>
          <p:cNvSpPr/>
          <p:nvPr/>
        </p:nvSpPr>
        <p:spPr>
          <a:xfrm>
            <a:off x="420624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0.2443</a:t>
            </a:r>
            <a:endParaRPr lang="en-US" sz="1000" dirty="0"/>
          </a:p>
        </p:txBody>
      </p:sp>
      <p:sp>
        <p:nvSpPr>
          <p:cNvPr id="123" name="Shape 27">
            <a:extLst>
              <a:ext uri="{FF2B5EF4-FFF2-40B4-BE49-F238E27FC236}">
                <a16:creationId xmlns:a16="http://schemas.microsoft.com/office/drawing/2014/main" id="{62418E24-AB68-8B60-B267-C7B705D7D958}"/>
              </a:ext>
            </a:extLst>
          </p:cNvPr>
          <p:cNvSpPr/>
          <p:nvPr/>
        </p:nvSpPr>
        <p:spPr>
          <a:xfrm>
            <a:off x="777240" y="3328416"/>
            <a:ext cx="4709160" cy="265176"/>
          </a:xfrm>
          <a:prstGeom prst="roundRect">
            <a:avLst>
              <a:gd name="adj" fmla="val 13793"/>
            </a:avLst>
          </a:prstGeom>
          <a:solidFill>
            <a:srgbClr val="E3EDE0"/>
          </a:solidFill>
          <a:ln w="15240">
            <a:solidFill>
              <a:srgbClr val="A8C0A0"/>
            </a:solidFill>
            <a:prstDash val="solid"/>
          </a:ln>
        </p:spPr>
        <p:txBody>
          <a:bodyPr/>
          <a:lstStyle/>
          <a:p>
            <a:endParaRPr lang="en-IN" sz="2400"/>
          </a:p>
        </p:txBody>
      </p:sp>
      <p:sp>
        <p:nvSpPr>
          <p:cNvPr id="125" name="Text 28">
            <a:extLst>
              <a:ext uri="{FF2B5EF4-FFF2-40B4-BE49-F238E27FC236}">
                <a16:creationId xmlns:a16="http://schemas.microsoft.com/office/drawing/2014/main" id="{C4F726A3-4643-2330-B93A-032252A5A737}"/>
              </a:ext>
            </a:extLst>
          </p:cNvPr>
          <p:cNvSpPr/>
          <p:nvPr/>
        </p:nvSpPr>
        <p:spPr>
          <a:xfrm>
            <a:off x="868680" y="3328416"/>
            <a:ext cx="192024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Judge coverage</a:t>
            </a:r>
            <a:endParaRPr lang="en-US" sz="1000" dirty="0"/>
          </a:p>
        </p:txBody>
      </p:sp>
      <p:sp>
        <p:nvSpPr>
          <p:cNvPr id="127" name="Text 29">
            <a:extLst>
              <a:ext uri="{FF2B5EF4-FFF2-40B4-BE49-F238E27FC236}">
                <a16:creationId xmlns:a16="http://schemas.microsoft.com/office/drawing/2014/main" id="{C56F8EA9-338C-D795-C1CD-8130FC225353}"/>
              </a:ext>
            </a:extLst>
          </p:cNvPr>
          <p:cNvSpPr/>
          <p:nvPr/>
        </p:nvSpPr>
        <p:spPr>
          <a:xfrm>
            <a:off x="2788920" y="3328416"/>
            <a:ext cx="137160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0.945</a:t>
            </a:r>
            <a:endParaRPr lang="en-US" sz="1000" dirty="0"/>
          </a:p>
        </p:txBody>
      </p:sp>
      <p:sp>
        <p:nvSpPr>
          <p:cNvPr id="129" name="Text 30">
            <a:extLst>
              <a:ext uri="{FF2B5EF4-FFF2-40B4-BE49-F238E27FC236}">
                <a16:creationId xmlns:a16="http://schemas.microsoft.com/office/drawing/2014/main" id="{481A7AEF-1B00-0A9F-36A5-01A670AE4198}"/>
              </a:ext>
            </a:extLst>
          </p:cNvPr>
          <p:cNvSpPr/>
          <p:nvPr/>
        </p:nvSpPr>
        <p:spPr>
          <a:xfrm>
            <a:off x="4206240" y="3328416"/>
            <a:ext cx="1371600" cy="265176"/>
          </a:xfrm>
          <a:prstGeom prst="rect">
            <a:avLst/>
          </a:prstGeom>
          <a:noFill/>
          <a:ln/>
        </p:spPr>
        <p:txBody>
          <a:bodyPr wrap="square" lIns="0" tIns="0" rIns="0" bIns="0" rtlCol="0" anchor="ctr"/>
          <a:lstStyle/>
          <a:p>
            <a:pPr marL="0" indent="0">
              <a:buNone/>
            </a:pPr>
            <a:r>
              <a:rPr lang="en-US" sz="1000" b="1" dirty="0">
                <a:solidFill>
                  <a:srgbClr val="4A6B4F"/>
                </a:solidFill>
                <a:latin typeface="Calibri" pitchFamily="34" charset="0"/>
                <a:ea typeface="Calibri" pitchFamily="34" charset="-122"/>
                <a:cs typeface="Calibri" pitchFamily="34" charset="-120"/>
              </a:rPr>
              <a:t>0.820</a:t>
            </a:r>
            <a:endParaRPr lang="en-US" sz="1000" dirty="0"/>
          </a:p>
        </p:txBody>
      </p:sp>
      <p:sp>
        <p:nvSpPr>
          <p:cNvPr id="131" name="Text 31">
            <a:extLst>
              <a:ext uri="{FF2B5EF4-FFF2-40B4-BE49-F238E27FC236}">
                <a16:creationId xmlns:a16="http://schemas.microsoft.com/office/drawing/2014/main" id="{CB799BE2-BD00-8BBA-0D25-C19C1A77FF83}"/>
              </a:ext>
            </a:extLst>
          </p:cNvPr>
          <p:cNvSpPr/>
          <p:nvPr/>
        </p:nvSpPr>
        <p:spPr>
          <a:xfrm>
            <a:off x="777240" y="3675888"/>
            <a:ext cx="4937760" cy="237744"/>
          </a:xfrm>
          <a:prstGeom prst="rect">
            <a:avLst/>
          </a:prstGeom>
          <a:noFill/>
          <a:ln/>
        </p:spPr>
        <p:txBody>
          <a:bodyPr wrap="square" lIns="0" tIns="0" rIns="0" bIns="0" rtlCol="0" anchor="ctr"/>
          <a:lstStyle/>
          <a:p>
            <a:pPr marL="0" indent="0">
              <a:buNone/>
            </a:pPr>
            <a:r>
              <a:rPr lang="en-US" sz="1050" i="1" dirty="0">
                <a:solidFill>
                  <a:srgbClr val="B5714B"/>
                </a:solidFill>
                <a:latin typeface="Calibri" pitchFamily="34" charset="0"/>
                <a:ea typeface="Calibri" pitchFamily="34" charset="-122"/>
                <a:cs typeface="Calibri" pitchFamily="34" charset="-120"/>
              </a:rPr>
              <a:t>Wins 3 of 5 — but loses adherence by 0.0478.</a:t>
            </a:r>
            <a:endParaRPr lang="en-US" sz="1050" dirty="0"/>
          </a:p>
        </p:txBody>
      </p:sp>
      <p:sp>
        <p:nvSpPr>
          <p:cNvPr id="133" name="Shape 32">
            <a:extLst>
              <a:ext uri="{FF2B5EF4-FFF2-40B4-BE49-F238E27FC236}">
                <a16:creationId xmlns:a16="http://schemas.microsoft.com/office/drawing/2014/main" id="{7929CAF9-9B86-FCEC-02CC-4F28F3775F20}"/>
              </a:ext>
            </a:extLst>
          </p:cNvPr>
          <p:cNvSpPr/>
          <p:nvPr/>
        </p:nvSpPr>
        <p:spPr>
          <a:xfrm>
            <a:off x="6172200" y="1325880"/>
            <a:ext cx="5486400" cy="2697480"/>
          </a:xfrm>
          <a:prstGeom prst="roundRect">
            <a:avLst>
              <a:gd name="adj" fmla="val 2712"/>
            </a:avLst>
          </a:prstGeom>
          <a:solidFill>
            <a:srgbClr val="FFFFFF"/>
          </a:solidFill>
          <a:ln w="9525">
            <a:solidFill>
              <a:srgbClr val="C9B195"/>
            </a:solidFill>
            <a:prstDash val="solid"/>
          </a:ln>
        </p:spPr>
        <p:txBody>
          <a:bodyPr/>
          <a:lstStyle/>
          <a:p>
            <a:endParaRPr lang="en-IN" sz="2400"/>
          </a:p>
        </p:txBody>
      </p:sp>
      <p:sp>
        <p:nvSpPr>
          <p:cNvPr id="135" name="Text 33">
            <a:extLst>
              <a:ext uri="{FF2B5EF4-FFF2-40B4-BE49-F238E27FC236}">
                <a16:creationId xmlns:a16="http://schemas.microsoft.com/office/drawing/2014/main" id="{A443DE47-95B2-C947-913E-9905F0FB17A5}"/>
              </a:ext>
            </a:extLst>
          </p:cNvPr>
          <p:cNvSpPr/>
          <p:nvPr/>
        </p:nvSpPr>
        <p:spPr>
          <a:xfrm>
            <a:off x="6400800" y="1408176"/>
            <a:ext cx="5029200" cy="256032"/>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Biomedical — BIO-004 locked</a:t>
            </a:r>
            <a:endParaRPr lang="en-US" sz="1600" dirty="0"/>
          </a:p>
        </p:txBody>
      </p:sp>
      <p:sp>
        <p:nvSpPr>
          <p:cNvPr id="137" name="Shape 34">
            <a:extLst>
              <a:ext uri="{FF2B5EF4-FFF2-40B4-BE49-F238E27FC236}">
                <a16:creationId xmlns:a16="http://schemas.microsoft.com/office/drawing/2014/main" id="{D686810C-59A4-CD0B-1434-7065A9092936}"/>
              </a:ext>
            </a:extLst>
          </p:cNvPr>
          <p:cNvSpPr/>
          <p:nvPr/>
        </p:nvSpPr>
        <p:spPr>
          <a:xfrm>
            <a:off x="6400800" y="1700784"/>
            <a:ext cx="4709160" cy="384048"/>
          </a:xfrm>
          <a:prstGeom prst="roundRect">
            <a:avLst>
              <a:gd name="adj" fmla="val 11905"/>
            </a:avLst>
          </a:prstGeom>
          <a:solidFill>
            <a:srgbClr val="5C4A38"/>
          </a:solidFill>
          <a:ln/>
        </p:spPr>
        <p:txBody>
          <a:bodyPr/>
          <a:lstStyle/>
          <a:p>
            <a:endParaRPr lang="en-IN" sz="2400"/>
          </a:p>
        </p:txBody>
      </p:sp>
      <p:sp>
        <p:nvSpPr>
          <p:cNvPr id="139" name="Text 35">
            <a:extLst>
              <a:ext uri="{FF2B5EF4-FFF2-40B4-BE49-F238E27FC236}">
                <a16:creationId xmlns:a16="http://schemas.microsoft.com/office/drawing/2014/main" id="{1CB0878B-CE2F-9BC4-60CE-27FD2BB92344}"/>
              </a:ext>
            </a:extLst>
          </p:cNvPr>
          <p:cNvSpPr/>
          <p:nvPr/>
        </p:nvSpPr>
        <p:spPr>
          <a:xfrm>
            <a:off x="6492240" y="1700784"/>
            <a:ext cx="192024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Metric</a:t>
            </a:r>
            <a:endParaRPr lang="en-US" sz="1000" dirty="0"/>
          </a:p>
        </p:txBody>
      </p:sp>
      <p:sp>
        <p:nvSpPr>
          <p:cNvPr id="141" name="Text 36">
            <a:extLst>
              <a:ext uri="{FF2B5EF4-FFF2-40B4-BE49-F238E27FC236}">
                <a16:creationId xmlns:a16="http://schemas.microsoft.com/office/drawing/2014/main" id="{F1C8A777-8C6C-CCE0-4EB6-68C8C9D865B0}"/>
              </a:ext>
            </a:extLst>
          </p:cNvPr>
          <p:cNvSpPr/>
          <p:nvPr/>
        </p:nvSpPr>
        <p:spPr>
          <a:xfrm>
            <a:off x="841248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BIO-004</a:t>
            </a:r>
            <a:endParaRPr lang="en-US" sz="1000" dirty="0"/>
          </a:p>
        </p:txBody>
      </p:sp>
      <p:sp>
        <p:nvSpPr>
          <p:cNvPr id="143" name="Text 37">
            <a:extLst>
              <a:ext uri="{FF2B5EF4-FFF2-40B4-BE49-F238E27FC236}">
                <a16:creationId xmlns:a16="http://schemas.microsoft.com/office/drawing/2014/main" id="{C5EE0331-A24D-4C5B-F696-40B3704E5781}"/>
              </a:ext>
            </a:extLst>
          </p:cNvPr>
          <p:cNvSpPr/>
          <p:nvPr/>
        </p:nvSpPr>
        <p:spPr>
          <a:xfrm>
            <a:off x="9829800" y="1700784"/>
            <a:ext cx="1371600" cy="384048"/>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BIO-007</a:t>
            </a:r>
            <a:endParaRPr lang="en-US" sz="1000" dirty="0"/>
          </a:p>
        </p:txBody>
      </p:sp>
      <p:sp>
        <p:nvSpPr>
          <p:cNvPr id="145" name="Shape 38">
            <a:extLst>
              <a:ext uri="{FF2B5EF4-FFF2-40B4-BE49-F238E27FC236}">
                <a16:creationId xmlns:a16="http://schemas.microsoft.com/office/drawing/2014/main" id="{6C4F456C-C88B-479C-6001-C73B6044BA99}"/>
              </a:ext>
            </a:extLst>
          </p:cNvPr>
          <p:cNvSpPr/>
          <p:nvPr/>
        </p:nvSpPr>
        <p:spPr>
          <a:xfrm>
            <a:off x="6400800" y="2121408"/>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147" name="Text 39">
            <a:extLst>
              <a:ext uri="{FF2B5EF4-FFF2-40B4-BE49-F238E27FC236}">
                <a16:creationId xmlns:a16="http://schemas.microsoft.com/office/drawing/2014/main" id="{5BC9ABA2-AEDF-7FD6-E27F-06FF717B5DA0}"/>
              </a:ext>
            </a:extLst>
          </p:cNvPr>
          <p:cNvSpPr/>
          <p:nvPr/>
        </p:nvSpPr>
        <p:spPr>
          <a:xfrm>
            <a:off x="6492240" y="2121408"/>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Adherence</a:t>
            </a:r>
            <a:endParaRPr lang="en-US" sz="1000" dirty="0"/>
          </a:p>
        </p:txBody>
      </p:sp>
      <p:sp>
        <p:nvSpPr>
          <p:cNvPr id="149" name="Text 40">
            <a:extLst>
              <a:ext uri="{FF2B5EF4-FFF2-40B4-BE49-F238E27FC236}">
                <a16:creationId xmlns:a16="http://schemas.microsoft.com/office/drawing/2014/main" id="{D866B2AB-C665-0EA3-F3EC-D0C6E5A572C7}"/>
              </a:ext>
            </a:extLst>
          </p:cNvPr>
          <p:cNvSpPr/>
          <p:nvPr/>
        </p:nvSpPr>
        <p:spPr>
          <a:xfrm>
            <a:off x="8412480" y="2121408"/>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0.8010</a:t>
            </a:r>
            <a:endParaRPr lang="en-US" sz="1000" dirty="0"/>
          </a:p>
        </p:txBody>
      </p:sp>
      <p:sp>
        <p:nvSpPr>
          <p:cNvPr id="151" name="Text 41">
            <a:extLst>
              <a:ext uri="{FF2B5EF4-FFF2-40B4-BE49-F238E27FC236}">
                <a16:creationId xmlns:a16="http://schemas.microsoft.com/office/drawing/2014/main" id="{8D94CA35-EA7E-B48C-D60C-E4C96909A8B7}"/>
              </a:ext>
            </a:extLst>
          </p:cNvPr>
          <p:cNvSpPr/>
          <p:nvPr/>
        </p:nvSpPr>
        <p:spPr>
          <a:xfrm>
            <a:off x="9829800" y="2121408"/>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0.8270</a:t>
            </a:r>
            <a:endParaRPr lang="en-US" sz="1000" dirty="0"/>
          </a:p>
        </p:txBody>
      </p:sp>
      <p:sp>
        <p:nvSpPr>
          <p:cNvPr id="153" name="Shape 42">
            <a:extLst>
              <a:ext uri="{FF2B5EF4-FFF2-40B4-BE49-F238E27FC236}">
                <a16:creationId xmlns:a16="http://schemas.microsoft.com/office/drawing/2014/main" id="{81C57B54-64B4-C8CE-8F38-4C51232AED57}"/>
              </a:ext>
            </a:extLst>
          </p:cNvPr>
          <p:cNvSpPr/>
          <p:nvPr/>
        </p:nvSpPr>
        <p:spPr>
          <a:xfrm>
            <a:off x="6400800" y="2423160"/>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155" name="Text 43">
            <a:extLst>
              <a:ext uri="{FF2B5EF4-FFF2-40B4-BE49-F238E27FC236}">
                <a16:creationId xmlns:a16="http://schemas.microsoft.com/office/drawing/2014/main" id="{AFA67609-1C7E-EBE2-54D4-0A447E88C4BC}"/>
              </a:ext>
            </a:extLst>
          </p:cNvPr>
          <p:cNvSpPr/>
          <p:nvPr/>
        </p:nvSpPr>
        <p:spPr>
          <a:xfrm>
            <a:off x="6492240" y="2423160"/>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AUCROC</a:t>
            </a:r>
            <a:endParaRPr lang="en-US" sz="1000" dirty="0"/>
          </a:p>
        </p:txBody>
      </p:sp>
      <p:sp>
        <p:nvSpPr>
          <p:cNvPr id="157" name="Text 44">
            <a:extLst>
              <a:ext uri="{FF2B5EF4-FFF2-40B4-BE49-F238E27FC236}">
                <a16:creationId xmlns:a16="http://schemas.microsoft.com/office/drawing/2014/main" id="{EC4D62F1-3431-ED9F-E069-0A17461453F5}"/>
              </a:ext>
            </a:extLst>
          </p:cNvPr>
          <p:cNvSpPr/>
          <p:nvPr/>
        </p:nvSpPr>
        <p:spPr>
          <a:xfrm>
            <a:off x="841248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0.6277</a:t>
            </a:r>
            <a:endParaRPr lang="en-US" sz="1000" dirty="0"/>
          </a:p>
        </p:txBody>
      </p:sp>
      <p:sp>
        <p:nvSpPr>
          <p:cNvPr id="159" name="Text 45">
            <a:extLst>
              <a:ext uri="{FF2B5EF4-FFF2-40B4-BE49-F238E27FC236}">
                <a16:creationId xmlns:a16="http://schemas.microsoft.com/office/drawing/2014/main" id="{5E4CB065-302C-A473-B023-0437B052C0CE}"/>
              </a:ext>
            </a:extLst>
          </p:cNvPr>
          <p:cNvSpPr/>
          <p:nvPr/>
        </p:nvSpPr>
        <p:spPr>
          <a:xfrm>
            <a:off x="9829800" y="2423160"/>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0.5531</a:t>
            </a:r>
            <a:endParaRPr lang="en-US" sz="1000" dirty="0"/>
          </a:p>
        </p:txBody>
      </p:sp>
      <p:sp>
        <p:nvSpPr>
          <p:cNvPr id="161" name="Shape 46">
            <a:extLst>
              <a:ext uri="{FF2B5EF4-FFF2-40B4-BE49-F238E27FC236}">
                <a16:creationId xmlns:a16="http://schemas.microsoft.com/office/drawing/2014/main" id="{0F09B422-9F3B-499C-5B81-A9BD90F78740}"/>
              </a:ext>
            </a:extLst>
          </p:cNvPr>
          <p:cNvSpPr/>
          <p:nvPr/>
        </p:nvSpPr>
        <p:spPr>
          <a:xfrm>
            <a:off x="6400800" y="2724912"/>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163" name="Text 47">
            <a:extLst>
              <a:ext uri="{FF2B5EF4-FFF2-40B4-BE49-F238E27FC236}">
                <a16:creationId xmlns:a16="http://schemas.microsoft.com/office/drawing/2014/main" id="{AF4D3773-B4F2-89CE-D974-1E2D5F6AC57B}"/>
              </a:ext>
            </a:extLst>
          </p:cNvPr>
          <p:cNvSpPr/>
          <p:nvPr/>
        </p:nvSpPr>
        <p:spPr>
          <a:xfrm>
            <a:off x="6492240" y="2724912"/>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Relevance RMSE</a:t>
            </a:r>
            <a:endParaRPr lang="en-US" sz="1000" dirty="0"/>
          </a:p>
        </p:txBody>
      </p:sp>
      <p:sp>
        <p:nvSpPr>
          <p:cNvPr id="165" name="Text 48">
            <a:extLst>
              <a:ext uri="{FF2B5EF4-FFF2-40B4-BE49-F238E27FC236}">
                <a16:creationId xmlns:a16="http://schemas.microsoft.com/office/drawing/2014/main" id="{33BFD601-46B2-9718-A2EC-60F3427760A4}"/>
              </a:ext>
            </a:extLst>
          </p:cNvPr>
          <p:cNvSpPr/>
          <p:nvPr/>
        </p:nvSpPr>
        <p:spPr>
          <a:xfrm>
            <a:off x="841248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0.2398</a:t>
            </a:r>
            <a:endParaRPr lang="en-US" sz="1000" dirty="0"/>
          </a:p>
        </p:txBody>
      </p:sp>
      <p:sp>
        <p:nvSpPr>
          <p:cNvPr id="167" name="Text 49">
            <a:extLst>
              <a:ext uri="{FF2B5EF4-FFF2-40B4-BE49-F238E27FC236}">
                <a16:creationId xmlns:a16="http://schemas.microsoft.com/office/drawing/2014/main" id="{F5461BC0-8DD8-503A-3B09-17C5DD3FDBFB}"/>
              </a:ext>
            </a:extLst>
          </p:cNvPr>
          <p:cNvSpPr/>
          <p:nvPr/>
        </p:nvSpPr>
        <p:spPr>
          <a:xfrm>
            <a:off x="9829800" y="2724912"/>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0.2314</a:t>
            </a:r>
            <a:endParaRPr lang="en-US" sz="1000" dirty="0"/>
          </a:p>
        </p:txBody>
      </p:sp>
      <p:sp>
        <p:nvSpPr>
          <p:cNvPr id="169" name="Shape 50">
            <a:extLst>
              <a:ext uri="{FF2B5EF4-FFF2-40B4-BE49-F238E27FC236}">
                <a16:creationId xmlns:a16="http://schemas.microsoft.com/office/drawing/2014/main" id="{F85590EC-3740-78EA-560D-D4BD525E9F62}"/>
              </a:ext>
            </a:extLst>
          </p:cNvPr>
          <p:cNvSpPr/>
          <p:nvPr/>
        </p:nvSpPr>
        <p:spPr>
          <a:xfrm>
            <a:off x="6400800" y="3026664"/>
            <a:ext cx="4709160" cy="265176"/>
          </a:xfrm>
          <a:prstGeom prst="roundRect">
            <a:avLst>
              <a:gd name="adj" fmla="val 13793"/>
            </a:avLst>
          </a:prstGeom>
          <a:solidFill>
            <a:srgbClr val="F0E7DA"/>
          </a:solidFill>
          <a:ln w="7620">
            <a:solidFill>
              <a:srgbClr val="C9B195"/>
            </a:solidFill>
            <a:prstDash val="solid"/>
          </a:ln>
        </p:spPr>
        <p:txBody>
          <a:bodyPr/>
          <a:lstStyle/>
          <a:p>
            <a:endParaRPr lang="en-IN" sz="2400"/>
          </a:p>
        </p:txBody>
      </p:sp>
      <p:sp>
        <p:nvSpPr>
          <p:cNvPr id="171" name="Text 51">
            <a:extLst>
              <a:ext uri="{FF2B5EF4-FFF2-40B4-BE49-F238E27FC236}">
                <a16:creationId xmlns:a16="http://schemas.microsoft.com/office/drawing/2014/main" id="{3A441B57-E611-F061-47CE-0B831702C218}"/>
              </a:ext>
            </a:extLst>
          </p:cNvPr>
          <p:cNvSpPr/>
          <p:nvPr/>
        </p:nvSpPr>
        <p:spPr>
          <a:xfrm>
            <a:off x="6492240" y="3026664"/>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Utilization RMSE</a:t>
            </a:r>
            <a:endParaRPr lang="en-US" sz="1000" dirty="0"/>
          </a:p>
        </p:txBody>
      </p:sp>
      <p:sp>
        <p:nvSpPr>
          <p:cNvPr id="173" name="Text 52">
            <a:extLst>
              <a:ext uri="{FF2B5EF4-FFF2-40B4-BE49-F238E27FC236}">
                <a16:creationId xmlns:a16="http://schemas.microsoft.com/office/drawing/2014/main" id="{E7200447-C7D5-575B-BBBC-5DE4EB6435F0}"/>
              </a:ext>
            </a:extLst>
          </p:cNvPr>
          <p:cNvSpPr/>
          <p:nvPr/>
        </p:nvSpPr>
        <p:spPr>
          <a:xfrm>
            <a:off x="841248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0.1932</a:t>
            </a:r>
            <a:endParaRPr lang="en-US" sz="1000" dirty="0"/>
          </a:p>
        </p:txBody>
      </p:sp>
      <p:sp>
        <p:nvSpPr>
          <p:cNvPr id="175" name="Text 53">
            <a:extLst>
              <a:ext uri="{FF2B5EF4-FFF2-40B4-BE49-F238E27FC236}">
                <a16:creationId xmlns:a16="http://schemas.microsoft.com/office/drawing/2014/main" id="{8BF48E6A-41A4-B02D-AD7B-0F1518455223}"/>
              </a:ext>
            </a:extLst>
          </p:cNvPr>
          <p:cNvSpPr/>
          <p:nvPr/>
        </p:nvSpPr>
        <p:spPr>
          <a:xfrm>
            <a:off x="9829800" y="3026664"/>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0.1863</a:t>
            </a:r>
            <a:endParaRPr lang="en-US" sz="1000" dirty="0"/>
          </a:p>
        </p:txBody>
      </p:sp>
      <p:sp>
        <p:nvSpPr>
          <p:cNvPr id="177" name="Shape 54">
            <a:extLst>
              <a:ext uri="{FF2B5EF4-FFF2-40B4-BE49-F238E27FC236}">
                <a16:creationId xmlns:a16="http://schemas.microsoft.com/office/drawing/2014/main" id="{FD779ADA-AB20-80AA-F3C4-444BF62F9635}"/>
              </a:ext>
            </a:extLst>
          </p:cNvPr>
          <p:cNvSpPr/>
          <p:nvPr/>
        </p:nvSpPr>
        <p:spPr>
          <a:xfrm>
            <a:off x="6400800" y="3328416"/>
            <a:ext cx="4709160" cy="265176"/>
          </a:xfrm>
          <a:prstGeom prst="roundRect">
            <a:avLst>
              <a:gd name="adj" fmla="val 13793"/>
            </a:avLst>
          </a:prstGeom>
          <a:solidFill>
            <a:srgbClr val="FFFFFF"/>
          </a:solidFill>
          <a:ln w="7620">
            <a:solidFill>
              <a:srgbClr val="C9B195"/>
            </a:solidFill>
            <a:prstDash val="solid"/>
          </a:ln>
        </p:spPr>
        <p:txBody>
          <a:bodyPr/>
          <a:lstStyle/>
          <a:p>
            <a:endParaRPr lang="en-IN" sz="2400"/>
          </a:p>
        </p:txBody>
      </p:sp>
      <p:sp>
        <p:nvSpPr>
          <p:cNvPr id="179" name="Text 55">
            <a:extLst>
              <a:ext uri="{FF2B5EF4-FFF2-40B4-BE49-F238E27FC236}">
                <a16:creationId xmlns:a16="http://schemas.microsoft.com/office/drawing/2014/main" id="{ABFEE94E-3E13-0CC4-E4A7-AB7F2BB896B7}"/>
              </a:ext>
            </a:extLst>
          </p:cNvPr>
          <p:cNvSpPr/>
          <p:nvPr/>
        </p:nvSpPr>
        <p:spPr>
          <a:xfrm>
            <a:off x="6492240" y="3328416"/>
            <a:ext cx="1920240" cy="265176"/>
          </a:xfrm>
          <a:prstGeom prst="rect">
            <a:avLst/>
          </a:prstGeom>
          <a:noFill/>
          <a:ln/>
        </p:spPr>
        <p:txBody>
          <a:bodyPr wrap="square" lIns="0" tIns="0" rIns="0" bIns="0" rtlCol="0" anchor="ctr"/>
          <a:lstStyle/>
          <a:p>
            <a:pPr marL="0" indent="0">
              <a:buNone/>
            </a:pPr>
            <a:r>
              <a:rPr lang="en-US" sz="1000" b="1" dirty="0">
                <a:solidFill>
                  <a:srgbClr val="3E3228"/>
                </a:solidFill>
                <a:latin typeface="Calibri" pitchFamily="34" charset="0"/>
                <a:ea typeface="Calibri" pitchFamily="34" charset="-122"/>
                <a:cs typeface="Calibri" pitchFamily="34" charset="-120"/>
              </a:rPr>
              <a:t>Completeness RMSE</a:t>
            </a:r>
            <a:endParaRPr lang="en-US" sz="1000" dirty="0"/>
          </a:p>
        </p:txBody>
      </p:sp>
      <p:sp>
        <p:nvSpPr>
          <p:cNvPr id="181" name="Text 56">
            <a:extLst>
              <a:ext uri="{FF2B5EF4-FFF2-40B4-BE49-F238E27FC236}">
                <a16:creationId xmlns:a16="http://schemas.microsoft.com/office/drawing/2014/main" id="{C1213AB2-A1A2-9EC8-3E7D-A89F34E3FFCC}"/>
              </a:ext>
            </a:extLst>
          </p:cNvPr>
          <p:cNvSpPr/>
          <p:nvPr/>
        </p:nvSpPr>
        <p:spPr>
          <a:xfrm>
            <a:off x="8412480" y="3328416"/>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0.4605</a:t>
            </a:r>
            <a:endParaRPr lang="en-US" sz="1000" dirty="0"/>
          </a:p>
        </p:txBody>
      </p:sp>
      <p:sp>
        <p:nvSpPr>
          <p:cNvPr id="183" name="Text 57">
            <a:extLst>
              <a:ext uri="{FF2B5EF4-FFF2-40B4-BE49-F238E27FC236}">
                <a16:creationId xmlns:a16="http://schemas.microsoft.com/office/drawing/2014/main" id="{9E379C42-6E3C-8C13-AEAC-9850F027E514}"/>
              </a:ext>
            </a:extLst>
          </p:cNvPr>
          <p:cNvSpPr/>
          <p:nvPr/>
        </p:nvSpPr>
        <p:spPr>
          <a:xfrm>
            <a:off x="9829800" y="3328416"/>
            <a:ext cx="1371600" cy="265176"/>
          </a:xfrm>
          <a:prstGeom prst="rect">
            <a:avLst/>
          </a:prstGeom>
          <a:noFill/>
          <a:ln/>
        </p:spPr>
        <p:txBody>
          <a:bodyPr wrap="square" lIns="0" tIns="0" rIns="0" bIns="0" rtlCol="0" anchor="ctr"/>
          <a:lstStyle/>
          <a:p>
            <a:pPr marL="0" indent="0">
              <a:buNone/>
            </a:pPr>
            <a:r>
              <a:rPr lang="en-US" sz="1000" dirty="0">
                <a:solidFill>
                  <a:srgbClr val="3E3228"/>
                </a:solidFill>
                <a:latin typeface="Calibri" pitchFamily="34" charset="0"/>
                <a:ea typeface="Calibri" pitchFamily="34" charset="-122"/>
                <a:cs typeface="Calibri" pitchFamily="34" charset="-120"/>
              </a:rPr>
              <a:t>0.4786</a:t>
            </a:r>
            <a:endParaRPr lang="en-US" sz="1000" dirty="0"/>
          </a:p>
        </p:txBody>
      </p:sp>
      <p:sp>
        <p:nvSpPr>
          <p:cNvPr id="185" name="Text 58">
            <a:extLst>
              <a:ext uri="{FF2B5EF4-FFF2-40B4-BE49-F238E27FC236}">
                <a16:creationId xmlns:a16="http://schemas.microsoft.com/office/drawing/2014/main" id="{DC41B679-FC10-F88F-E9AC-E7588C414DFC}"/>
              </a:ext>
            </a:extLst>
          </p:cNvPr>
          <p:cNvSpPr/>
          <p:nvPr/>
        </p:nvSpPr>
        <p:spPr>
          <a:xfrm>
            <a:off x="6400800" y="3675888"/>
            <a:ext cx="4937760" cy="237744"/>
          </a:xfrm>
          <a:prstGeom prst="rect">
            <a:avLst/>
          </a:prstGeom>
          <a:noFill/>
          <a:ln/>
        </p:spPr>
        <p:txBody>
          <a:bodyPr wrap="square" lIns="0" tIns="0" rIns="0" bIns="0" rtlCol="0" anchor="ctr"/>
          <a:lstStyle/>
          <a:p>
            <a:pPr marL="0" indent="0">
              <a:buNone/>
            </a:pPr>
            <a:r>
              <a:rPr lang="en-US" sz="1050" i="1" dirty="0">
                <a:solidFill>
                  <a:srgbClr val="7A6A5A"/>
                </a:solidFill>
                <a:latin typeface="Calibri" pitchFamily="34" charset="0"/>
                <a:ea typeface="Calibri" pitchFamily="34" charset="-122"/>
                <a:cs typeface="Calibri" pitchFamily="34" charset="-120"/>
              </a:rPr>
              <a:t>One direct measure each. AUCROC gap 0.0746 breaks the tie.</a:t>
            </a:r>
            <a:endParaRPr lang="en-US" sz="1050" dirty="0"/>
          </a:p>
        </p:txBody>
      </p:sp>
      <p:sp>
        <p:nvSpPr>
          <p:cNvPr id="187" name="Shape 59">
            <a:extLst>
              <a:ext uri="{FF2B5EF4-FFF2-40B4-BE49-F238E27FC236}">
                <a16:creationId xmlns:a16="http://schemas.microsoft.com/office/drawing/2014/main" id="{D3A721C0-8278-7477-BDE5-B98C0A1E8C58}"/>
              </a:ext>
            </a:extLst>
          </p:cNvPr>
          <p:cNvSpPr/>
          <p:nvPr/>
        </p:nvSpPr>
        <p:spPr>
          <a:xfrm>
            <a:off x="548640" y="4160520"/>
            <a:ext cx="5486400" cy="1417320"/>
          </a:xfrm>
          <a:prstGeom prst="roundRect">
            <a:avLst>
              <a:gd name="adj" fmla="val 5161"/>
            </a:avLst>
          </a:prstGeom>
          <a:solidFill>
            <a:srgbClr val="F0E7DA"/>
          </a:solidFill>
          <a:ln w="9525">
            <a:solidFill>
              <a:srgbClr val="C9B195"/>
            </a:solidFill>
            <a:prstDash val="solid"/>
          </a:ln>
        </p:spPr>
        <p:txBody>
          <a:bodyPr/>
          <a:lstStyle/>
          <a:p>
            <a:endParaRPr lang="en-IN" sz="2400"/>
          </a:p>
        </p:txBody>
      </p:sp>
      <p:sp>
        <p:nvSpPr>
          <p:cNvPr id="189" name="Text 60">
            <a:extLst>
              <a:ext uri="{FF2B5EF4-FFF2-40B4-BE49-F238E27FC236}">
                <a16:creationId xmlns:a16="http://schemas.microsoft.com/office/drawing/2014/main" id="{730AE4A3-6494-7E87-62AD-00A6E9FF5A1D}"/>
              </a:ext>
            </a:extLst>
          </p:cNvPr>
          <p:cNvSpPr/>
          <p:nvPr/>
        </p:nvSpPr>
        <p:spPr>
          <a:xfrm>
            <a:off x="777240" y="4251960"/>
            <a:ext cx="5029200" cy="237744"/>
          </a:xfrm>
          <a:prstGeom prst="rect">
            <a:avLst/>
          </a:prstGeom>
          <a:noFill/>
          <a:ln/>
        </p:spPr>
        <p:txBody>
          <a:bodyPr wrap="square" lIns="0" tIns="0" rIns="0" bIns="0" rtlCol="0" anchor="ctr"/>
          <a:lstStyle/>
          <a:p>
            <a:pPr marL="0" indent="0">
              <a:buNone/>
            </a:pPr>
            <a:r>
              <a:rPr lang="en-US" sz="1400" b="1" dirty="0">
                <a:solidFill>
                  <a:srgbClr val="B5714B"/>
                </a:solidFill>
                <a:latin typeface="Calibri" pitchFamily="34" charset="0"/>
                <a:ea typeface="Calibri" pitchFamily="34" charset="-122"/>
                <a:cs typeface="Calibri" pitchFamily="34" charset="-120"/>
              </a:rPr>
              <a:t>Customer Support — decided on judge coverage</a:t>
            </a:r>
            <a:endParaRPr lang="en-US" sz="1400" dirty="0"/>
          </a:p>
        </p:txBody>
      </p:sp>
      <p:sp>
        <p:nvSpPr>
          <p:cNvPr id="191" name="Text 61">
            <a:extLst>
              <a:ext uri="{FF2B5EF4-FFF2-40B4-BE49-F238E27FC236}">
                <a16:creationId xmlns:a16="http://schemas.microsoft.com/office/drawing/2014/main" id="{7DE3B001-0C11-5F76-6041-0090A06BD068}"/>
              </a:ext>
            </a:extLst>
          </p:cNvPr>
          <p:cNvSpPr/>
          <p:nvPr/>
        </p:nvSpPr>
        <p:spPr>
          <a:xfrm>
            <a:off x="777240" y="4498848"/>
            <a:ext cx="5074920" cy="1005840"/>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The honest position: this one splits both ways. CS-064 leads relevance, utilization and AUCROC; CS-037 leads adherence and completeness, and every gap clears the noise floor. What decided it is that CS-037's adherence rests on 82% of examples while CS-064's rests on 94.5% — a higher-looking score computed from less of the data. We locked the better-measured configuration and report CS-037 in full.</a:t>
            </a:r>
            <a:endParaRPr lang="en-US" sz="1050" dirty="0"/>
          </a:p>
        </p:txBody>
      </p:sp>
      <p:sp>
        <p:nvSpPr>
          <p:cNvPr id="193" name="Shape 62">
            <a:extLst>
              <a:ext uri="{FF2B5EF4-FFF2-40B4-BE49-F238E27FC236}">
                <a16:creationId xmlns:a16="http://schemas.microsoft.com/office/drawing/2014/main" id="{6F5ED39B-3BC3-64EF-B375-1864D25C6AEE}"/>
              </a:ext>
            </a:extLst>
          </p:cNvPr>
          <p:cNvSpPr/>
          <p:nvPr/>
        </p:nvSpPr>
        <p:spPr>
          <a:xfrm>
            <a:off x="6172200" y="4160520"/>
            <a:ext cx="5486400" cy="1417320"/>
          </a:xfrm>
          <a:prstGeom prst="roundRect">
            <a:avLst>
              <a:gd name="adj" fmla="val 5161"/>
            </a:avLst>
          </a:prstGeom>
          <a:solidFill>
            <a:srgbClr val="E3EDE0"/>
          </a:solidFill>
          <a:ln w="15240">
            <a:solidFill>
              <a:srgbClr val="A8C0A0"/>
            </a:solidFill>
            <a:prstDash val="solid"/>
          </a:ln>
        </p:spPr>
        <p:txBody>
          <a:bodyPr/>
          <a:lstStyle/>
          <a:p>
            <a:endParaRPr lang="en-IN" sz="2400"/>
          </a:p>
        </p:txBody>
      </p:sp>
      <p:sp>
        <p:nvSpPr>
          <p:cNvPr id="195" name="Text 63">
            <a:extLst>
              <a:ext uri="{FF2B5EF4-FFF2-40B4-BE49-F238E27FC236}">
                <a16:creationId xmlns:a16="http://schemas.microsoft.com/office/drawing/2014/main" id="{6BE7CE45-AED7-44C0-A63B-4DA6888C739C}"/>
              </a:ext>
            </a:extLst>
          </p:cNvPr>
          <p:cNvSpPr/>
          <p:nvPr/>
        </p:nvSpPr>
        <p:spPr>
          <a:xfrm>
            <a:off x="6400800" y="4251960"/>
            <a:ext cx="5029200" cy="237744"/>
          </a:xfrm>
          <a:prstGeom prst="rect">
            <a:avLst/>
          </a:prstGeom>
          <a:noFill/>
          <a:ln/>
        </p:spPr>
        <p:txBody>
          <a:bodyPr wrap="square" lIns="0" tIns="0" rIns="0" bIns="0" rtlCol="0" anchor="ctr"/>
          <a:lstStyle/>
          <a:p>
            <a:pPr marL="0" indent="0">
              <a:buNone/>
            </a:pPr>
            <a:r>
              <a:rPr lang="en-US" sz="1400" b="1" dirty="0">
                <a:solidFill>
                  <a:srgbClr val="4A6B4F"/>
                </a:solidFill>
                <a:latin typeface="Calibri" pitchFamily="34" charset="0"/>
                <a:ea typeface="Calibri" pitchFamily="34" charset="-122"/>
                <a:cs typeface="Calibri" pitchFamily="34" charset="-120"/>
              </a:rPr>
              <a:t>Biomedical — decided on the declared priority metric</a:t>
            </a:r>
            <a:endParaRPr lang="en-US" sz="1400" dirty="0"/>
          </a:p>
        </p:txBody>
      </p:sp>
      <p:sp>
        <p:nvSpPr>
          <p:cNvPr id="197" name="Text 64">
            <a:extLst>
              <a:ext uri="{FF2B5EF4-FFF2-40B4-BE49-F238E27FC236}">
                <a16:creationId xmlns:a16="http://schemas.microsoft.com/office/drawing/2014/main" id="{15771B6D-01C9-FA9F-7571-501010EE5F3F}"/>
              </a:ext>
            </a:extLst>
          </p:cNvPr>
          <p:cNvSpPr/>
          <p:nvPr/>
        </p:nvSpPr>
        <p:spPr>
          <a:xfrm>
            <a:off x="6400800" y="4498848"/>
            <a:ext cx="5074920" cy="1005840"/>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Coverage is 1.00 for both, so that tiebreak is unavailable. On direct measures it is one apiece: BIO-007 leads adherence by 0.026, BIO-004 leads completeness by 0.018 and has the best completeness of all eight runs. AUCROC then decides, and its gap of 0.0746 is nearly three times the adherence gap. CovidQA's high hallucination rate is why AUCROC was declared this domain's priority metric before the runs, in Sec. 7.6.</a:t>
            </a:r>
            <a:endParaRPr lang="en-US" sz="1050" dirty="0"/>
          </a:p>
        </p:txBody>
      </p:sp>
      <p:sp>
        <p:nvSpPr>
          <p:cNvPr id="199" name="Shape 65">
            <a:extLst>
              <a:ext uri="{FF2B5EF4-FFF2-40B4-BE49-F238E27FC236}">
                <a16:creationId xmlns:a16="http://schemas.microsoft.com/office/drawing/2014/main" id="{EBE822CE-4276-E537-B373-8EC7F32D68EC}"/>
              </a:ext>
            </a:extLst>
          </p:cNvPr>
          <p:cNvSpPr/>
          <p:nvPr/>
        </p:nvSpPr>
        <p:spPr>
          <a:xfrm>
            <a:off x="548640" y="5715000"/>
            <a:ext cx="11109960" cy="777240"/>
          </a:xfrm>
          <a:prstGeom prst="roundRect">
            <a:avLst>
              <a:gd name="adj" fmla="val 9412"/>
            </a:avLst>
          </a:prstGeom>
          <a:solidFill>
            <a:srgbClr val="FFFFFF"/>
          </a:solidFill>
          <a:ln w="15240">
            <a:solidFill>
              <a:srgbClr val="C9B195"/>
            </a:solidFill>
            <a:prstDash val="solid"/>
          </a:ln>
        </p:spPr>
        <p:txBody>
          <a:bodyPr/>
          <a:lstStyle/>
          <a:p>
            <a:endParaRPr lang="en-IN" sz="2400"/>
          </a:p>
        </p:txBody>
      </p:sp>
      <p:sp>
        <p:nvSpPr>
          <p:cNvPr id="201" name="Text 66">
            <a:extLst>
              <a:ext uri="{FF2B5EF4-FFF2-40B4-BE49-F238E27FC236}">
                <a16:creationId xmlns:a16="http://schemas.microsoft.com/office/drawing/2014/main" id="{040E2109-0E3A-C9AE-8221-84EEE681CB9B}"/>
              </a:ext>
            </a:extLst>
          </p:cNvPr>
          <p:cNvSpPr/>
          <p:nvPr/>
        </p:nvSpPr>
        <p:spPr>
          <a:xfrm>
            <a:off x="822960" y="5788152"/>
            <a:ext cx="3291840" cy="237744"/>
          </a:xfrm>
          <a:prstGeom prst="rect">
            <a:avLst/>
          </a:prstGeom>
          <a:noFill/>
          <a:ln/>
        </p:spPr>
        <p:txBody>
          <a:bodyPr wrap="square" lIns="0" tIns="0" rIns="0" bIns="0" rtlCol="0" anchor="ctr"/>
          <a:lstStyle/>
          <a:p>
            <a:pPr marL="0" indent="0">
              <a:buNone/>
            </a:pPr>
            <a:r>
              <a:rPr lang="en-US" sz="1400" b="1" dirty="0">
                <a:solidFill>
                  <a:srgbClr val="5C4A38"/>
                </a:solidFill>
                <a:latin typeface="Calibri" pitchFamily="34" charset="0"/>
                <a:ea typeface="Calibri" pitchFamily="34" charset="-122"/>
                <a:cs typeface="Calibri" pitchFamily="34" charset="-120"/>
              </a:rPr>
              <a:t>Legal — no contest to resolve</a:t>
            </a:r>
            <a:endParaRPr lang="en-US" sz="1400" dirty="0"/>
          </a:p>
        </p:txBody>
      </p:sp>
      <p:sp>
        <p:nvSpPr>
          <p:cNvPr id="203" name="Text 67">
            <a:extLst>
              <a:ext uri="{FF2B5EF4-FFF2-40B4-BE49-F238E27FC236}">
                <a16:creationId xmlns:a16="http://schemas.microsoft.com/office/drawing/2014/main" id="{B3C0FCF8-516F-EB0E-2D96-A1F4C1F78969}"/>
              </a:ext>
            </a:extLst>
          </p:cNvPr>
          <p:cNvSpPr/>
          <p:nvPr/>
        </p:nvSpPr>
        <p:spPr>
          <a:xfrm>
            <a:off x="4206240" y="5788152"/>
            <a:ext cx="7223760" cy="640080"/>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Only LEG-025 was carried to 200 examples, so there is no runner-up to compare it against. That is a gap in the evidence rather than a clean win, and we say so: we cannot state how far ahead of second place it is. Promoting more Legal configurations to full scale is listed as remaining work.</a:t>
            </a:r>
            <a:endParaRPr lang="en-US" sz="1050" dirty="0"/>
          </a:p>
        </p:txBody>
      </p:sp>
    </p:spTree>
    <p:extLst>
      <p:ext uri="{BB962C8B-B14F-4D97-AF65-F5344CB8AC3E}">
        <p14:creationId xmlns:p14="http://schemas.microsoft.com/office/powerpoint/2010/main" val="2460782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Adherence vs the Reference</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Four domains — the Biomedical results file carries no reference column, so it is excluded here</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7</a:t>
            </a:r>
            <a:endParaRPr lang="en-US" sz="1000" dirty="0"/>
          </a:p>
        </p:txBody>
      </p:sp>
      <p:sp>
        <p:nvSpPr>
          <p:cNvPr id="8" name="Shape 5"/>
          <p:cNvSpPr/>
          <p:nvPr/>
        </p:nvSpPr>
        <p:spPr>
          <a:xfrm>
            <a:off x="7635240" y="1371600"/>
            <a:ext cx="4023360" cy="3657600"/>
          </a:xfrm>
          <a:prstGeom prst="roundRect">
            <a:avLst>
              <a:gd name="adj" fmla="val 2000"/>
            </a:avLst>
          </a:prstGeom>
          <a:solidFill>
            <a:srgbClr val="FFFFFF"/>
          </a:solidFill>
          <a:ln w="9525">
            <a:solidFill>
              <a:srgbClr val="C9B195"/>
            </a:solidFill>
            <a:prstDash val="solid"/>
          </a:ln>
        </p:spPr>
        <p:txBody>
          <a:bodyPr/>
          <a:lstStyle/>
          <a:p>
            <a:endParaRPr lang="en-IN" sz="2400"/>
          </a:p>
        </p:txBody>
      </p:sp>
      <p:sp>
        <p:nvSpPr>
          <p:cNvPr id="9" name="Text 6"/>
          <p:cNvSpPr/>
          <p:nvPr/>
        </p:nvSpPr>
        <p:spPr>
          <a:xfrm>
            <a:off x="7863840" y="1508760"/>
            <a:ext cx="3566160" cy="274320"/>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Reading this chart</a:t>
            </a:r>
            <a:endParaRPr lang="en-US" sz="1600" dirty="0"/>
          </a:p>
        </p:txBody>
      </p:sp>
      <p:sp>
        <p:nvSpPr>
          <p:cNvPr id="10" name="Text 7"/>
          <p:cNvSpPr/>
          <p:nvPr/>
        </p:nvSpPr>
        <p:spPr>
          <a:xfrm>
            <a:off x="7863840" y="1828800"/>
            <a:ext cx="3566160" cy="301752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3E3228"/>
                </a:solidFill>
                <a:latin typeface="Calibri" pitchFamily="34" charset="0"/>
                <a:ea typeface="Calibri" pitchFamily="34" charset="-122"/>
                <a:cs typeface="Calibri" pitchFamily="34" charset="-120"/>
              </a:rPr>
              <a:t>Legal lands within 0.023 of the reference and General Knowledge within 0.038 — our answers are about as well grounded as the benchmark's own.</a:t>
            </a:r>
            <a:endParaRPr lang="en-US" sz="1200" dirty="0"/>
          </a:p>
          <a:p>
            <a:pPr marL="342900" indent="-342900">
              <a:spcAft>
                <a:spcPts val="700"/>
              </a:spcAft>
              <a:buSzPct val="100000"/>
              <a:buChar char="•"/>
            </a:pPr>
            <a:r>
              <a:rPr lang="en-US" sz="1200" dirty="0">
                <a:solidFill>
                  <a:srgbClr val="3E3228"/>
                </a:solidFill>
                <a:latin typeface="Calibri" pitchFamily="34" charset="0"/>
                <a:ea typeface="Calibri" pitchFamily="34" charset="-122"/>
                <a:cs typeface="Calibri" pitchFamily="34" charset="-120"/>
              </a:rPr>
              <a:t>Customer Support sits above the reference. Our pipeline produces more supported answers than the benchmark's reference answers did.</a:t>
            </a:r>
            <a:endParaRPr lang="en-US" sz="1200" dirty="0"/>
          </a:p>
          <a:p>
            <a:pPr marL="342900" indent="-342900">
              <a:spcAft>
                <a:spcPts val="700"/>
              </a:spcAft>
              <a:buSzPct val="100000"/>
              <a:buChar char="•"/>
            </a:pPr>
            <a:r>
              <a:rPr lang="en-US" sz="1200" dirty="0">
                <a:solidFill>
                  <a:srgbClr val="3E3228"/>
                </a:solidFill>
                <a:latin typeface="Calibri" pitchFamily="34" charset="0"/>
                <a:ea typeface="Calibri" pitchFamily="34" charset="-122"/>
                <a:cs typeface="Calibri" pitchFamily="34" charset="-120"/>
              </a:rPr>
              <a:t>Finance has the widest gap at 0.095, and is also the domain where the numbers-plus-context problem is hardest.</a:t>
            </a:r>
            <a:endParaRPr lang="en-US" sz="1200" dirty="0"/>
          </a:p>
          <a:p>
            <a:pPr marL="342900" indent="-342900">
              <a:spcAft>
                <a:spcPts val="700"/>
              </a:spcAft>
              <a:buSzPct val="100000"/>
              <a:buChar char="•"/>
            </a:pPr>
            <a:r>
              <a:rPr lang="en-US" sz="1200" dirty="0">
                <a:solidFill>
                  <a:srgbClr val="3E3228"/>
                </a:solidFill>
                <a:latin typeface="Calibri" pitchFamily="34" charset="0"/>
                <a:ea typeface="Calibri" pitchFamily="34" charset="-122"/>
                <a:cs typeface="Calibri" pitchFamily="34" charset="-120"/>
              </a:rPr>
              <a:t>Biomedical — 0.801 vs a reference of 0.84 (borrowed from the greedy </a:t>
            </a:r>
            <a:r>
              <a:rPr lang="en-US" sz="1200" dirty="0" err="1">
                <a:solidFill>
                  <a:srgbClr val="3E3228"/>
                </a:solidFill>
                <a:latin typeface="Calibri" pitchFamily="34" charset="0"/>
                <a:ea typeface="Calibri" pitchFamily="34" charset="-122"/>
                <a:cs typeface="Calibri" pitchFamily="34" charset="-120"/>
              </a:rPr>
              <a:t>CovidQA</a:t>
            </a:r>
            <a:r>
              <a:rPr lang="en-US" sz="1200" dirty="0">
                <a:solidFill>
                  <a:srgbClr val="3E3228"/>
                </a:solidFill>
                <a:latin typeface="Calibri" pitchFamily="34" charset="0"/>
                <a:ea typeface="Calibri" pitchFamily="34" charset="-122"/>
                <a:cs typeface="Calibri" pitchFamily="34" charset="-120"/>
              </a:rPr>
              <a:t> runs, as the grid file logs none), a gap of 0.039.</a:t>
            </a:r>
            <a:endParaRPr lang="en-US" sz="1200" dirty="0"/>
          </a:p>
        </p:txBody>
      </p:sp>
      <p:sp>
        <p:nvSpPr>
          <p:cNvPr id="11" name="Shape 8"/>
          <p:cNvSpPr/>
          <p:nvPr/>
        </p:nvSpPr>
        <p:spPr>
          <a:xfrm>
            <a:off x="548640" y="5166360"/>
            <a:ext cx="11109960" cy="1280160"/>
          </a:xfrm>
          <a:prstGeom prst="roundRect">
            <a:avLst>
              <a:gd name="adj" fmla="val 5714"/>
            </a:avLst>
          </a:prstGeom>
          <a:solidFill>
            <a:srgbClr val="F0E7DA"/>
          </a:solidFill>
          <a:ln w="15240">
            <a:solidFill>
              <a:srgbClr val="B5714B"/>
            </a:solidFill>
            <a:prstDash val="solid"/>
          </a:ln>
        </p:spPr>
        <p:txBody>
          <a:bodyPr/>
          <a:lstStyle/>
          <a:p>
            <a:endParaRPr lang="en-IN" sz="2400"/>
          </a:p>
        </p:txBody>
      </p:sp>
      <p:sp>
        <p:nvSpPr>
          <p:cNvPr id="12" name="Text 9"/>
          <p:cNvSpPr/>
          <p:nvPr/>
        </p:nvSpPr>
        <p:spPr>
          <a:xfrm>
            <a:off x="822960" y="5285232"/>
            <a:ext cx="10607040" cy="274320"/>
          </a:xfrm>
          <a:prstGeom prst="rect">
            <a:avLst/>
          </a:prstGeom>
          <a:noFill/>
          <a:ln/>
        </p:spPr>
        <p:txBody>
          <a:bodyPr wrap="square" lIns="0" tIns="0" rIns="0" bIns="0" rtlCol="0" anchor="ctr"/>
          <a:lstStyle/>
          <a:p>
            <a:pPr marL="0" indent="0">
              <a:buNone/>
            </a:pPr>
            <a:r>
              <a:rPr lang="en-US" sz="1600" b="1" dirty="0">
                <a:solidFill>
                  <a:srgbClr val="B5714B"/>
                </a:solidFill>
                <a:latin typeface="Calibri" pitchFamily="34" charset="0"/>
                <a:ea typeface="Calibri" pitchFamily="34" charset="-122"/>
                <a:cs typeface="Calibri" pitchFamily="34" charset="-120"/>
              </a:rPr>
              <a:t>Why some AUCROC scores sit near chance — and why absolute adherence is the better guide</a:t>
            </a:r>
            <a:endParaRPr lang="en-US" sz="1600" dirty="0"/>
          </a:p>
        </p:txBody>
      </p:sp>
      <p:sp>
        <p:nvSpPr>
          <p:cNvPr id="13" name="Text 10"/>
          <p:cNvSpPr/>
          <p:nvPr/>
        </p:nvSpPr>
        <p:spPr>
          <a:xfrm>
            <a:off x="822960" y="5577840"/>
            <a:ext cx="10607040" cy="777240"/>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The reference labels describe whether the benchmark's own answer was supported by the context its annotators saw. Our pipeline retrieves different context and writes a different answer — so when it does that well, the reference label stops describing the thing being measured, and the correlation weakens even as the answers improve. That is why we report absolute adherence next to AUCROC everywhere rather than choosing one.</a:t>
            </a:r>
            <a:endParaRPr lang="en-US" sz="1200" dirty="0"/>
          </a:p>
        </p:txBody>
      </p:sp>
      <p:graphicFrame>
        <p:nvGraphicFramePr>
          <p:cNvPr id="15" name="Chart 0">
            <a:extLst>
              <a:ext uri="{FF2B5EF4-FFF2-40B4-BE49-F238E27FC236}">
                <a16:creationId xmlns:a16="http://schemas.microsoft.com/office/drawing/2014/main" id="{46DB2DD3-6A9B-E08A-25B8-051EB2E82527}"/>
              </a:ext>
            </a:extLst>
          </p:cNvPr>
          <p:cNvGraphicFramePr/>
          <p:nvPr>
            <p:extLst>
              <p:ext uri="{D42A27DB-BD31-4B8C-83A1-F6EECF244321}">
                <p14:modId xmlns:p14="http://schemas.microsoft.com/office/powerpoint/2010/main" val="1843666304"/>
              </p:ext>
            </p:extLst>
          </p:nvPr>
        </p:nvGraphicFramePr>
        <p:xfrm>
          <a:off x="548640" y="1371600"/>
          <a:ext cx="6858000" cy="3657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r>
              <a:rPr lang="en-US" sz="2400" b="1" dirty="0">
                <a:solidFill>
                  <a:srgbClr val="5C4A38"/>
                </a:solidFill>
                <a:latin typeface="Georgia" pitchFamily="34" charset="0"/>
                <a:ea typeface="Georgia" pitchFamily="34" charset="-122"/>
                <a:cs typeface="Georgia" pitchFamily="34" charset="-120"/>
              </a:rPr>
              <a:t>Scoring Error by Domain</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r>
              <a:rPr lang="en-US" sz="1250" i="1" dirty="0">
                <a:solidFill>
                  <a:srgbClr val="7A6A5A"/>
                </a:solidFill>
                <a:latin typeface="Calibri" pitchFamily="34" charset="0"/>
                <a:ea typeface="Calibri" pitchFamily="34" charset="-122"/>
                <a:cs typeface="Calibri" pitchFamily="34" charset="-120"/>
              </a:rPr>
              <a:t>RMSE against reference values, all five domains. Lower is better — our scores track the benchmark's closely</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7</a:t>
            </a:r>
            <a:endParaRPr lang="en-US" sz="1000" dirty="0"/>
          </a:p>
        </p:txBody>
      </p:sp>
      <p:graphicFrame>
        <p:nvGraphicFramePr>
          <p:cNvPr id="25" name="Chart 0">
            <a:extLst>
              <a:ext uri="{FF2B5EF4-FFF2-40B4-BE49-F238E27FC236}">
                <a16:creationId xmlns:a16="http://schemas.microsoft.com/office/drawing/2014/main" id="{32F913B0-B926-2DBF-0122-E6D687E40564}"/>
              </a:ext>
            </a:extLst>
          </p:cNvPr>
          <p:cNvGraphicFramePr/>
          <p:nvPr>
            <p:extLst>
              <p:ext uri="{D42A27DB-BD31-4B8C-83A1-F6EECF244321}">
                <p14:modId xmlns:p14="http://schemas.microsoft.com/office/powerpoint/2010/main" val="3313585722"/>
              </p:ext>
            </p:extLst>
          </p:nvPr>
        </p:nvGraphicFramePr>
        <p:xfrm>
          <a:off x="548640" y="1371600"/>
          <a:ext cx="731520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27" name="Shape 5">
            <a:extLst>
              <a:ext uri="{FF2B5EF4-FFF2-40B4-BE49-F238E27FC236}">
                <a16:creationId xmlns:a16="http://schemas.microsoft.com/office/drawing/2014/main" id="{EDE46FD5-EB53-F468-E910-57341DB9E3E5}"/>
              </a:ext>
            </a:extLst>
          </p:cNvPr>
          <p:cNvSpPr/>
          <p:nvPr/>
        </p:nvSpPr>
        <p:spPr>
          <a:xfrm>
            <a:off x="8092440" y="1371600"/>
            <a:ext cx="3566160" cy="4160520"/>
          </a:xfrm>
          <a:prstGeom prst="roundRect">
            <a:avLst>
              <a:gd name="adj" fmla="val 2051"/>
            </a:avLst>
          </a:prstGeom>
          <a:solidFill>
            <a:srgbClr val="FFFFFF"/>
          </a:solidFill>
          <a:ln w="9525">
            <a:solidFill>
              <a:srgbClr val="C9B195"/>
            </a:solidFill>
            <a:prstDash val="solid"/>
          </a:ln>
        </p:spPr>
        <p:txBody>
          <a:bodyPr/>
          <a:lstStyle/>
          <a:p>
            <a:endParaRPr lang="en-IN" sz="2800"/>
          </a:p>
        </p:txBody>
      </p:sp>
      <p:sp>
        <p:nvSpPr>
          <p:cNvPr id="29" name="Text 6">
            <a:extLst>
              <a:ext uri="{FF2B5EF4-FFF2-40B4-BE49-F238E27FC236}">
                <a16:creationId xmlns:a16="http://schemas.microsoft.com/office/drawing/2014/main" id="{8A3077EC-7F56-8E82-A137-9435E486D393}"/>
              </a:ext>
            </a:extLst>
          </p:cNvPr>
          <p:cNvSpPr/>
          <p:nvPr/>
        </p:nvSpPr>
        <p:spPr>
          <a:xfrm>
            <a:off x="8321040" y="1508760"/>
            <a:ext cx="3108960" cy="274320"/>
          </a:xfrm>
          <a:prstGeom prst="rect">
            <a:avLst/>
          </a:prstGeom>
          <a:noFill/>
          <a:ln/>
        </p:spPr>
        <p:txBody>
          <a:bodyPr wrap="square" lIns="0" tIns="0" rIns="0" bIns="0" rtlCol="0" anchor="ctr"/>
          <a:lstStyle/>
          <a:p>
            <a:pPr marL="0" indent="0">
              <a:buNone/>
            </a:pPr>
            <a:r>
              <a:rPr lang="en-US" b="1" dirty="0">
                <a:solidFill>
                  <a:srgbClr val="5C4A38"/>
                </a:solidFill>
                <a:latin typeface="Calibri" pitchFamily="34" charset="0"/>
                <a:ea typeface="Calibri" pitchFamily="34" charset="-122"/>
                <a:cs typeface="Calibri" pitchFamily="34" charset="-120"/>
              </a:rPr>
              <a:t>Observations</a:t>
            </a:r>
            <a:endParaRPr lang="en-US" dirty="0"/>
          </a:p>
        </p:txBody>
      </p:sp>
      <p:sp>
        <p:nvSpPr>
          <p:cNvPr id="31" name="Text 7">
            <a:extLst>
              <a:ext uri="{FF2B5EF4-FFF2-40B4-BE49-F238E27FC236}">
                <a16:creationId xmlns:a16="http://schemas.microsoft.com/office/drawing/2014/main" id="{1B98C648-40D6-6745-FE65-1C3B0CA0CC02}"/>
              </a:ext>
            </a:extLst>
          </p:cNvPr>
          <p:cNvSpPr/>
          <p:nvPr/>
        </p:nvSpPr>
        <p:spPr>
          <a:xfrm>
            <a:off x="8321040" y="1828800"/>
            <a:ext cx="3108960" cy="3520440"/>
          </a:xfrm>
          <a:prstGeom prst="rect">
            <a:avLst/>
          </a:prstGeom>
          <a:noFill/>
          <a:ln/>
        </p:spPr>
        <p:txBody>
          <a:bodyPr wrap="square" lIns="0" tIns="0" rIns="0" bIns="0" rtlCol="0" anchor="ctr"/>
          <a:lstStyle/>
          <a:p>
            <a:pPr marL="342900" indent="-342900">
              <a:spcAft>
                <a:spcPts val="800"/>
              </a:spcAft>
              <a:buSzPct val="100000"/>
              <a:buChar char="•"/>
            </a:pPr>
            <a:r>
              <a:rPr lang="en-US" sz="1400" dirty="0">
                <a:solidFill>
                  <a:srgbClr val="3E3228"/>
                </a:solidFill>
                <a:latin typeface="Calibri" pitchFamily="34" charset="0"/>
                <a:ea typeface="Calibri" pitchFamily="34" charset="-122"/>
                <a:cs typeface="Calibri" pitchFamily="34" charset="-120"/>
              </a:rPr>
              <a:t>General Knowledge is our best result anywhere — relevance error of 0.109 and utilization of 0.083 mean our scores track the reference very closely. Biomedical has the best completeness error at 0.461.</a:t>
            </a:r>
            <a:endParaRPr lang="en-US" sz="1400" dirty="0"/>
          </a:p>
          <a:p>
            <a:pPr marL="342900" indent="-342900">
              <a:spcAft>
                <a:spcPts val="800"/>
              </a:spcAft>
              <a:buSzPct val="100000"/>
              <a:buChar char="•"/>
            </a:pPr>
            <a:r>
              <a:rPr lang="en-US" sz="1400" dirty="0">
                <a:solidFill>
                  <a:srgbClr val="3E3228"/>
                </a:solidFill>
                <a:latin typeface="Calibri" pitchFamily="34" charset="0"/>
                <a:ea typeface="Calibri" pitchFamily="34" charset="-122"/>
                <a:cs typeface="Calibri" pitchFamily="34" charset="-120"/>
              </a:rPr>
              <a:t>Completeness is the weakest metric in every domain. It is also the hardest to get right, since it asks whether ALL relevant evidence was used.</a:t>
            </a:r>
            <a:endParaRPr lang="en-US" sz="1400" dirty="0"/>
          </a:p>
          <a:p>
            <a:pPr marL="342900" indent="-342900">
              <a:spcAft>
                <a:spcPts val="800"/>
              </a:spcAft>
              <a:buSzPct val="100000"/>
              <a:buChar char="•"/>
            </a:pPr>
            <a:r>
              <a:rPr lang="en-US" sz="1400" dirty="0">
                <a:solidFill>
                  <a:srgbClr val="3E3228"/>
                </a:solidFill>
                <a:latin typeface="Calibri" pitchFamily="34" charset="0"/>
                <a:ea typeface="Calibri" pitchFamily="34" charset="-122"/>
                <a:cs typeface="Calibri" pitchFamily="34" charset="-120"/>
              </a:rPr>
              <a:t>Finance has the highest relevance and utilization error, consistent with tables and figures being genuinely hard to chunk well.</a:t>
            </a:r>
            <a:endParaRPr lang="en-US" sz="1400" dirty="0"/>
          </a:p>
        </p:txBody>
      </p:sp>
      <p:sp>
        <p:nvSpPr>
          <p:cNvPr id="33" name="Text 8">
            <a:extLst>
              <a:ext uri="{FF2B5EF4-FFF2-40B4-BE49-F238E27FC236}">
                <a16:creationId xmlns:a16="http://schemas.microsoft.com/office/drawing/2014/main" id="{22276EC8-E32B-37B4-8C5E-CCF78EC1EF67}"/>
              </a:ext>
            </a:extLst>
          </p:cNvPr>
          <p:cNvSpPr/>
          <p:nvPr/>
        </p:nvSpPr>
        <p:spPr>
          <a:xfrm>
            <a:off x="548640" y="5669280"/>
            <a:ext cx="11109960" cy="274320"/>
          </a:xfrm>
          <a:prstGeom prst="rect">
            <a:avLst/>
          </a:prstGeom>
          <a:noFill/>
          <a:ln/>
        </p:spPr>
        <p:txBody>
          <a:bodyPr wrap="square" lIns="0" tIns="0" rIns="0" bIns="0" rtlCol="0" anchor="ctr"/>
          <a:lstStyle/>
          <a:p>
            <a:pPr marL="0" indent="0">
              <a:buNone/>
            </a:pPr>
            <a:r>
              <a:rPr lang="en-US" sz="1200" i="1" dirty="0">
                <a:solidFill>
                  <a:srgbClr val="7A6A5A"/>
                </a:solidFill>
                <a:latin typeface="Calibri" pitchFamily="34" charset="0"/>
                <a:ea typeface="Calibri" pitchFamily="34" charset="-122"/>
                <a:cs typeface="Calibri" pitchFamily="34" charset="-120"/>
              </a:rPr>
              <a:t>All three charts in this deck are native PowerPoint charts. Right-click → Edit Data to add the closing scores.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F9F123E0-39F3-376B-9936-D905E313F81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A4751F-5C15-A7A5-3F9C-5458ED69CDC9}"/>
              </a:ext>
            </a:extLst>
          </p:cNvPr>
          <p:cNvSpPr/>
          <p:nvPr/>
        </p:nvSpPr>
        <p:spPr>
          <a:xfrm>
            <a:off x="0" y="0"/>
            <a:ext cx="12188952" cy="1078992"/>
          </a:xfrm>
          <a:prstGeom prst="roundRect">
            <a:avLst/>
          </a:prstGeom>
          <a:solidFill>
            <a:srgbClr val="FFFFFF"/>
          </a:solidFill>
          <a:ln/>
        </p:spPr>
        <p:txBody>
          <a:bodyPr/>
          <a:lstStyle/>
          <a:p>
            <a:endParaRPr lang="en-IN"/>
          </a:p>
        </p:txBody>
      </p:sp>
      <p:sp>
        <p:nvSpPr>
          <p:cNvPr id="3" name="Shape 1">
            <a:extLst>
              <a:ext uri="{FF2B5EF4-FFF2-40B4-BE49-F238E27FC236}">
                <a16:creationId xmlns:a16="http://schemas.microsoft.com/office/drawing/2014/main" id="{C8FE66F0-01C2-C65F-65EA-9EAFD1215C28}"/>
              </a:ext>
            </a:extLst>
          </p:cNvPr>
          <p:cNvSpPr/>
          <p:nvPr/>
        </p:nvSpPr>
        <p:spPr>
          <a:xfrm>
            <a:off x="0" y="1060704"/>
            <a:ext cx="12188952" cy="32004"/>
          </a:xfrm>
          <a:prstGeom prst="rect">
            <a:avLst/>
          </a:prstGeom>
          <a:solidFill>
            <a:srgbClr val="7D9B76"/>
          </a:solidFill>
          <a:ln/>
        </p:spPr>
        <p:txBody>
          <a:bodyPr/>
          <a:lstStyle/>
          <a:p>
            <a:endParaRPr lang="en-IN"/>
          </a:p>
        </p:txBody>
      </p:sp>
      <p:sp>
        <p:nvSpPr>
          <p:cNvPr id="4" name="Text 2">
            <a:extLst>
              <a:ext uri="{FF2B5EF4-FFF2-40B4-BE49-F238E27FC236}">
                <a16:creationId xmlns:a16="http://schemas.microsoft.com/office/drawing/2014/main" id="{2947FA78-7E94-7433-A9D0-F94ABB982D7A}"/>
              </a:ext>
            </a:extLst>
          </p:cNvPr>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Results by Domain — What Each Taught Us</a:t>
            </a:r>
            <a:endParaRPr lang="en-US" sz="2400" dirty="0"/>
          </a:p>
        </p:txBody>
      </p:sp>
      <p:sp>
        <p:nvSpPr>
          <p:cNvPr id="5" name="Text 3">
            <a:extLst>
              <a:ext uri="{FF2B5EF4-FFF2-40B4-BE49-F238E27FC236}">
                <a16:creationId xmlns:a16="http://schemas.microsoft.com/office/drawing/2014/main" id="{F754B812-3891-3E95-0E4B-3F6468D83839}"/>
              </a:ext>
            </a:extLst>
          </p:cNvPr>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7.2–7.6</a:t>
            </a:r>
            <a:endParaRPr lang="en-US" sz="1000" dirty="0"/>
          </a:p>
        </p:txBody>
      </p:sp>
      <p:sp>
        <p:nvSpPr>
          <p:cNvPr id="6" name="Shape 4">
            <a:extLst>
              <a:ext uri="{FF2B5EF4-FFF2-40B4-BE49-F238E27FC236}">
                <a16:creationId xmlns:a16="http://schemas.microsoft.com/office/drawing/2014/main" id="{949AB5B5-C304-D67C-5469-C62A197E2850}"/>
              </a:ext>
            </a:extLst>
          </p:cNvPr>
          <p:cNvSpPr/>
          <p:nvPr/>
        </p:nvSpPr>
        <p:spPr>
          <a:xfrm>
            <a:off x="548640" y="1083282"/>
            <a:ext cx="11109960" cy="1005840"/>
          </a:xfrm>
          <a:prstGeom prst="roundRect">
            <a:avLst>
              <a:gd name="adj" fmla="val 5932"/>
            </a:avLst>
          </a:prstGeom>
          <a:solidFill>
            <a:srgbClr val="FFFFFF"/>
          </a:solidFill>
          <a:ln w="9525">
            <a:solidFill>
              <a:srgbClr val="C9B195"/>
            </a:solidFill>
            <a:prstDash val="solid"/>
          </a:ln>
        </p:spPr>
        <p:txBody>
          <a:bodyPr/>
          <a:lstStyle/>
          <a:p>
            <a:endParaRPr lang="en-IN" sz="2400"/>
          </a:p>
        </p:txBody>
      </p:sp>
      <p:sp>
        <p:nvSpPr>
          <p:cNvPr id="7" name="Shape 5">
            <a:extLst>
              <a:ext uri="{FF2B5EF4-FFF2-40B4-BE49-F238E27FC236}">
                <a16:creationId xmlns:a16="http://schemas.microsoft.com/office/drawing/2014/main" id="{ACB6D8C7-CE69-6D95-CBB7-6BB626672D4C}"/>
              </a:ext>
            </a:extLst>
          </p:cNvPr>
          <p:cNvSpPr/>
          <p:nvPr/>
        </p:nvSpPr>
        <p:spPr>
          <a:xfrm>
            <a:off x="548640" y="1083282"/>
            <a:ext cx="109728" cy="1005840"/>
          </a:xfrm>
          <a:prstGeom prst="roundRect">
            <a:avLst>
              <a:gd name="adj" fmla="val 33333"/>
            </a:avLst>
          </a:prstGeom>
          <a:solidFill>
            <a:srgbClr val="4A6B4F"/>
          </a:solidFill>
          <a:ln/>
        </p:spPr>
        <p:txBody>
          <a:bodyPr/>
          <a:lstStyle/>
          <a:p>
            <a:endParaRPr lang="en-IN" sz="2400"/>
          </a:p>
        </p:txBody>
      </p:sp>
      <p:sp>
        <p:nvSpPr>
          <p:cNvPr id="8" name="Text 6">
            <a:extLst>
              <a:ext uri="{FF2B5EF4-FFF2-40B4-BE49-F238E27FC236}">
                <a16:creationId xmlns:a16="http://schemas.microsoft.com/office/drawing/2014/main" id="{FF2142E9-45C5-4A16-6F80-3427772023F9}"/>
              </a:ext>
            </a:extLst>
          </p:cNvPr>
          <p:cNvSpPr/>
          <p:nvPr/>
        </p:nvSpPr>
        <p:spPr>
          <a:xfrm>
            <a:off x="822960" y="1193010"/>
            <a:ext cx="2194560" cy="292608"/>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Customer Support</a:t>
            </a:r>
            <a:endParaRPr lang="en-US" sz="1600" dirty="0"/>
          </a:p>
        </p:txBody>
      </p:sp>
      <p:sp>
        <p:nvSpPr>
          <p:cNvPr id="9" name="Text 7">
            <a:extLst>
              <a:ext uri="{FF2B5EF4-FFF2-40B4-BE49-F238E27FC236}">
                <a16:creationId xmlns:a16="http://schemas.microsoft.com/office/drawing/2014/main" id="{E2F98828-49F6-F8D0-2127-718F06E7118F}"/>
              </a:ext>
            </a:extLst>
          </p:cNvPr>
          <p:cNvSpPr/>
          <p:nvPr/>
        </p:nvSpPr>
        <p:spPr>
          <a:xfrm>
            <a:off x="822960" y="1503906"/>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CS-064</a:t>
            </a:r>
            <a:endParaRPr lang="en-US" sz="1100" dirty="0"/>
          </a:p>
        </p:txBody>
      </p:sp>
      <p:sp>
        <p:nvSpPr>
          <p:cNvPr id="10" name="Text 8">
            <a:extLst>
              <a:ext uri="{FF2B5EF4-FFF2-40B4-BE49-F238E27FC236}">
                <a16:creationId xmlns:a16="http://schemas.microsoft.com/office/drawing/2014/main" id="{959521CA-BD08-5304-6E7E-10A0644F1256}"/>
              </a:ext>
            </a:extLst>
          </p:cNvPr>
          <p:cNvSpPr/>
          <p:nvPr/>
        </p:nvSpPr>
        <p:spPr>
          <a:xfrm>
            <a:off x="822960" y="1778226"/>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sliding 5/2 · MiniLM · hybrid · cross-encoder</a:t>
            </a:r>
            <a:endParaRPr lang="en-US" sz="1050" dirty="0"/>
          </a:p>
        </p:txBody>
      </p:sp>
      <p:sp>
        <p:nvSpPr>
          <p:cNvPr id="11" name="Text 9">
            <a:extLst>
              <a:ext uri="{FF2B5EF4-FFF2-40B4-BE49-F238E27FC236}">
                <a16:creationId xmlns:a16="http://schemas.microsoft.com/office/drawing/2014/main" id="{BC8B897A-4483-E3BF-9141-B2541D570B8C}"/>
              </a:ext>
            </a:extLst>
          </p:cNvPr>
          <p:cNvSpPr/>
          <p:nvPr/>
        </p:nvSpPr>
        <p:spPr>
          <a:xfrm>
            <a:off x="4297680" y="1266162"/>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Hybrid retrieval plus reranking won here — a combination we had tested and REJECTED earlier under the old judge. Fixing the judge reversed the decision.</a:t>
            </a:r>
            <a:endParaRPr lang="en-US" sz="1400" dirty="0"/>
          </a:p>
        </p:txBody>
      </p:sp>
      <p:sp>
        <p:nvSpPr>
          <p:cNvPr id="12" name="Shape 10">
            <a:extLst>
              <a:ext uri="{FF2B5EF4-FFF2-40B4-BE49-F238E27FC236}">
                <a16:creationId xmlns:a16="http://schemas.microsoft.com/office/drawing/2014/main" id="{008629C9-B9B4-0AA9-CA20-C6CC9F07BEC3}"/>
              </a:ext>
            </a:extLst>
          </p:cNvPr>
          <p:cNvSpPr/>
          <p:nvPr/>
        </p:nvSpPr>
        <p:spPr>
          <a:xfrm>
            <a:off x="548640" y="2196983"/>
            <a:ext cx="11109960" cy="1005840"/>
          </a:xfrm>
          <a:prstGeom prst="roundRect">
            <a:avLst>
              <a:gd name="adj" fmla="val 5932"/>
            </a:avLst>
          </a:prstGeom>
          <a:solidFill>
            <a:srgbClr val="F0E7DA"/>
          </a:solidFill>
          <a:ln w="9525">
            <a:solidFill>
              <a:srgbClr val="C9B195"/>
            </a:solidFill>
            <a:prstDash val="solid"/>
          </a:ln>
        </p:spPr>
        <p:txBody>
          <a:bodyPr/>
          <a:lstStyle/>
          <a:p>
            <a:endParaRPr lang="en-IN" sz="2400"/>
          </a:p>
        </p:txBody>
      </p:sp>
      <p:sp>
        <p:nvSpPr>
          <p:cNvPr id="13" name="Shape 11">
            <a:extLst>
              <a:ext uri="{FF2B5EF4-FFF2-40B4-BE49-F238E27FC236}">
                <a16:creationId xmlns:a16="http://schemas.microsoft.com/office/drawing/2014/main" id="{E2FEC25D-D97C-FC6A-3AC4-358D333FA3E2}"/>
              </a:ext>
            </a:extLst>
          </p:cNvPr>
          <p:cNvSpPr/>
          <p:nvPr/>
        </p:nvSpPr>
        <p:spPr>
          <a:xfrm>
            <a:off x="548640" y="2196983"/>
            <a:ext cx="109728" cy="1005840"/>
          </a:xfrm>
          <a:prstGeom prst="roundRect">
            <a:avLst>
              <a:gd name="adj" fmla="val 33333"/>
            </a:avLst>
          </a:prstGeom>
          <a:solidFill>
            <a:srgbClr val="8C6E52"/>
          </a:solidFill>
          <a:ln/>
        </p:spPr>
        <p:txBody>
          <a:bodyPr/>
          <a:lstStyle/>
          <a:p>
            <a:endParaRPr lang="en-IN" sz="2400"/>
          </a:p>
        </p:txBody>
      </p:sp>
      <p:sp>
        <p:nvSpPr>
          <p:cNvPr id="14" name="Text 12">
            <a:extLst>
              <a:ext uri="{FF2B5EF4-FFF2-40B4-BE49-F238E27FC236}">
                <a16:creationId xmlns:a16="http://schemas.microsoft.com/office/drawing/2014/main" id="{E3C787F2-0BC9-7C2B-E62C-91BF9A3CD430}"/>
              </a:ext>
            </a:extLst>
          </p:cNvPr>
          <p:cNvSpPr/>
          <p:nvPr/>
        </p:nvSpPr>
        <p:spPr>
          <a:xfrm>
            <a:off x="822960" y="2306711"/>
            <a:ext cx="2194560" cy="292608"/>
          </a:xfrm>
          <a:prstGeom prst="rect">
            <a:avLst/>
          </a:prstGeom>
          <a:noFill/>
          <a:ln/>
        </p:spPr>
        <p:txBody>
          <a:bodyPr wrap="square" lIns="0" tIns="0" rIns="0" bIns="0" rtlCol="0" anchor="ctr"/>
          <a:lstStyle/>
          <a:p>
            <a:pPr marL="0" indent="0">
              <a:buNone/>
            </a:pPr>
            <a:r>
              <a:rPr lang="en-US" sz="1600" b="1" dirty="0">
                <a:solidFill>
                  <a:srgbClr val="8C6E52"/>
                </a:solidFill>
                <a:latin typeface="Calibri" pitchFamily="34" charset="0"/>
                <a:ea typeface="Calibri" pitchFamily="34" charset="-122"/>
                <a:cs typeface="Calibri" pitchFamily="34" charset="-120"/>
              </a:rPr>
              <a:t>Finance</a:t>
            </a:r>
            <a:endParaRPr lang="en-US" sz="1600" dirty="0"/>
          </a:p>
        </p:txBody>
      </p:sp>
      <p:sp>
        <p:nvSpPr>
          <p:cNvPr id="15" name="Text 13">
            <a:extLst>
              <a:ext uri="{FF2B5EF4-FFF2-40B4-BE49-F238E27FC236}">
                <a16:creationId xmlns:a16="http://schemas.microsoft.com/office/drawing/2014/main" id="{7AFB09FE-06A0-30D7-59CC-363E55AD78BA}"/>
              </a:ext>
            </a:extLst>
          </p:cNvPr>
          <p:cNvSpPr/>
          <p:nvPr/>
        </p:nvSpPr>
        <p:spPr>
          <a:xfrm>
            <a:off x="822960" y="2617607"/>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FIN-031</a:t>
            </a:r>
            <a:endParaRPr lang="en-US" sz="1100" dirty="0"/>
          </a:p>
        </p:txBody>
      </p:sp>
      <p:sp>
        <p:nvSpPr>
          <p:cNvPr id="16" name="Text 14">
            <a:extLst>
              <a:ext uri="{FF2B5EF4-FFF2-40B4-BE49-F238E27FC236}">
                <a16:creationId xmlns:a16="http://schemas.microsoft.com/office/drawing/2014/main" id="{F2530CD7-BCF9-3843-37B5-BACDB6F6635B}"/>
              </a:ext>
            </a:extLst>
          </p:cNvPr>
          <p:cNvSpPr/>
          <p:nvPr/>
        </p:nvSpPr>
        <p:spPr>
          <a:xfrm>
            <a:off x="822960" y="2891927"/>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fixed 150w · FinBERT · hybrid · forward</a:t>
            </a:r>
            <a:endParaRPr lang="en-US" sz="1050" dirty="0"/>
          </a:p>
        </p:txBody>
      </p:sp>
      <p:sp>
        <p:nvSpPr>
          <p:cNvPr id="17" name="Text 15">
            <a:extLst>
              <a:ext uri="{FF2B5EF4-FFF2-40B4-BE49-F238E27FC236}">
                <a16:creationId xmlns:a16="http://schemas.microsoft.com/office/drawing/2014/main" id="{81FCBF6B-0F5A-BA76-7993-BF3F94BA272A}"/>
              </a:ext>
            </a:extLst>
          </p:cNvPr>
          <p:cNvSpPr/>
          <p:nvPr/>
        </p:nvSpPr>
        <p:spPr>
          <a:xfrm>
            <a:off x="4297680" y="2379863"/>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The only domain where a specialist embedding model earned its place. Context ordering was the biggest lever, not chunking. FIN-031 locked over FIN-075 — see Sec. 7.9 for the rule.</a:t>
            </a:r>
            <a:endParaRPr lang="en-US" sz="1400" dirty="0"/>
          </a:p>
        </p:txBody>
      </p:sp>
      <p:sp>
        <p:nvSpPr>
          <p:cNvPr id="18" name="Shape 16">
            <a:extLst>
              <a:ext uri="{FF2B5EF4-FFF2-40B4-BE49-F238E27FC236}">
                <a16:creationId xmlns:a16="http://schemas.microsoft.com/office/drawing/2014/main" id="{565F2773-02F1-9D3D-FFA7-18C291272BEF}"/>
              </a:ext>
            </a:extLst>
          </p:cNvPr>
          <p:cNvSpPr/>
          <p:nvPr/>
        </p:nvSpPr>
        <p:spPr>
          <a:xfrm>
            <a:off x="548640" y="3366670"/>
            <a:ext cx="11109960" cy="1005840"/>
          </a:xfrm>
          <a:prstGeom prst="roundRect">
            <a:avLst>
              <a:gd name="adj" fmla="val 5932"/>
            </a:avLst>
          </a:prstGeom>
          <a:solidFill>
            <a:srgbClr val="FFFFFF"/>
          </a:solidFill>
          <a:ln w="9525">
            <a:solidFill>
              <a:srgbClr val="C9B195"/>
            </a:solidFill>
            <a:prstDash val="solid"/>
          </a:ln>
        </p:spPr>
        <p:txBody>
          <a:bodyPr/>
          <a:lstStyle/>
          <a:p>
            <a:endParaRPr lang="en-IN" sz="2400"/>
          </a:p>
        </p:txBody>
      </p:sp>
      <p:sp>
        <p:nvSpPr>
          <p:cNvPr id="19" name="Shape 17">
            <a:extLst>
              <a:ext uri="{FF2B5EF4-FFF2-40B4-BE49-F238E27FC236}">
                <a16:creationId xmlns:a16="http://schemas.microsoft.com/office/drawing/2014/main" id="{241F98FE-BC17-6A05-6EA4-012A40FDD8E9}"/>
              </a:ext>
            </a:extLst>
          </p:cNvPr>
          <p:cNvSpPr/>
          <p:nvPr/>
        </p:nvSpPr>
        <p:spPr>
          <a:xfrm>
            <a:off x="548640" y="3366670"/>
            <a:ext cx="109728" cy="1005840"/>
          </a:xfrm>
          <a:prstGeom prst="roundRect">
            <a:avLst>
              <a:gd name="adj" fmla="val 33333"/>
            </a:avLst>
          </a:prstGeom>
          <a:solidFill>
            <a:srgbClr val="7D9B76"/>
          </a:solidFill>
          <a:ln/>
        </p:spPr>
        <p:txBody>
          <a:bodyPr/>
          <a:lstStyle/>
          <a:p>
            <a:endParaRPr lang="en-IN" sz="2400"/>
          </a:p>
        </p:txBody>
      </p:sp>
      <p:sp>
        <p:nvSpPr>
          <p:cNvPr id="20" name="Text 18">
            <a:extLst>
              <a:ext uri="{FF2B5EF4-FFF2-40B4-BE49-F238E27FC236}">
                <a16:creationId xmlns:a16="http://schemas.microsoft.com/office/drawing/2014/main" id="{9770FFDE-1733-31BE-E363-0009CFF04DB0}"/>
              </a:ext>
            </a:extLst>
          </p:cNvPr>
          <p:cNvSpPr/>
          <p:nvPr/>
        </p:nvSpPr>
        <p:spPr>
          <a:xfrm>
            <a:off x="822960" y="3476398"/>
            <a:ext cx="2194560" cy="292608"/>
          </a:xfrm>
          <a:prstGeom prst="rect">
            <a:avLst/>
          </a:prstGeom>
          <a:noFill/>
          <a:ln/>
        </p:spPr>
        <p:txBody>
          <a:bodyPr wrap="square" lIns="0" tIns="0" rIns="0" bIns="0" rtlCol="0" anchor="ctr"/>
          <a:lstStyle/>
          <a:p>
            <a:pPr marL="0" indent="0">
              <a:buNone/>
            </a:pPr>
            <a:r>
              <a:rPr lang="en-US" sz="1600" b="1" dirty="0">
                <a:solidFill>
                  <a:srgbClr val="7D9B76"/>
                </a:solidFill>
                <a:latin typeface="Calibri" pitchFamily="34" charset="0"/>
                <a:ea typeface="Calibri" pitchFamily="34" charset="-122"/>
                <a:cs typeface="Calibri" pitchFamily="34" charset="-120"/>
              </a:rPr>
              <a:t>General Knowledge</a:t>
            </a:r>
            <a:endParaRPr lang="en-US" sz="1600" dirty="0"/>
          </a:p>
        </p:txBody>
      </p:sp>
      <p:sp>
        <p:nvSpPr>
          <p:cNvPr id="21" name="Text 19">
            <a:extLst>
              <a:ext uri="{FF2B5EF4-FFF2-40B4-BE49-F238E27FC236}">
                <a16:creationId xmlns:a16="http://schemas.microsoft.com/office/drawing/2014/main" id="{CD6B22E9-33CD-A44B-BC3E-AE6C1DFD907F}"/>
              </a:ext>
            </a:extLst>
          </p:cNvPr>
          <p:cNvSpPr/>
          <p:nvPr/>
        </p:nvSpPr>
        <p:spPr>
          <a:xfrm>
            <a:off x="822960" y="3787294"/>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GK-031</a:t>
            </a:r>
            <a:endParaRPr lang="en-US" sz="1100" dirty="0"/>
          </a:p>
        </p:txBody>
      </p:sp>
      <p:sp>
        <p:nvSpPr>
          <p:cNvPr id="22" name="Text 20">
            <a:extLst>
              <a:ext uri="{FF2B5EF4-FFF2-40B4-BE49-F238E27FC236}">
                <a16:creationId xmlns:a16="http://schemas.microsoft.com/office/drawing/2014/main" id="{09A8DF6F-BA38-EF11-91E3-340EE93B785E}"/>
              </a:ext>
            </a:extLst>
          </p:cNvPr>
          <p:cNvSpPr/>
          <p:nvPr/>
        </p:nvSpPr>
        <p:spPr>
          <a:xfrm>
            <a:off x="822960" y="4061614"/>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sliding 5/2 · e5-large · hybrid · forward</a:t>
            </a:r>
            <a:endParaRPr lang="en-US" sz="1050" dirty="0"/>
          </a:p>
        </p:txBody>
      </p:sp>
      <p:sp>
        <p:nvSpPr>
          <p:cNvPr id="23" name="Text 21">
            <a:extLst>
              <a:ext uri="{FF2B5EF4-FFF2-40B4-BE49-F238E27FC236}">
                <a16:creationId xmlns:a16="http://schemas.microsoft.com/office/drawing/2014/main" id="{04A3A3CF-B988-8014-E987-F87BC6BF1752}"/>
              </a:ext>
            </a:extLst>
          </p:cNvPr>
          <p:cNvSpPr/>
          <p:nvPr/>
        </p:nvSpPr>
        <p:spPr>
          <a:xfrm>
            <a:off x="4297680" y="3549550"/>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Our strongest continuous scores anywhere — relevance error 0.109. Hybrid search fits a dataset whose questions need evidence from more than one document. GK-031 locked over GK-040 despite lower AUCROC — see Sec. 7.9.</a:t>
            </a:r>
            <a:endParaRPr lang="en-US" sz="1400" dirty="0"/>
          </a:p>
        </p:txBody>
      </p:sp>
      <p:sp>
        <p:nvSpPr>
          <p:cNvPr id="24" name="Shape 22">
            <a:extLst>
              <a:ext uri="{FF2B5EF4-FFF2-40B4-BE49-F238E27FC236}">
                <a16:creationId xmlns:a16="http://schemas.microsoft.com/office/drawing/2014/main" id="{3C7B8421-210D-0798-9A5C-F06DF2E28B09}"/>
              </a:ext>
            </a:extLst>
          </p:cNvPr>
          <p:cNvSpPr/>
          <p:nvPr/>
        </p:nvSpPr>
        <p:spPr>
          <a:xfrm>
            <a:off x="548640" y="4499032"/>
            <a:ext cx="11109960" cy="1005840"/>
          </a:xfrm>
          <a:prstGeom prst="roundRect">
            <a:avLst>
              <a:gd name="adj" fmla="val 5932"/>
            </a:avLst>
          </a:prstGeom>
          <a:solidFill>
            <a:srgbClr val="F0E7DA"/>
          </a:solidFill>
          <a:ln w="9525">
            <a:solidFill>
              <a:srgbClr val="C9B195"/>
            </a:solidFill>
            <a:prstDash val="solid"/>
          </a:ln>
        </p:spPr>
        <p:txBody>
          <a:bodyPr/>
          <a:lstStyle/>
          <a:p>
            <a:endParaRPr lang="en-IN" sz="2400"/>
          </a:p>
        </p:txBody>
      </p:sp>
      <p:sp>
        <p:nvSpPr>
          <p:cNvPr id="25" name="Shape 23">
            <a:extLst>
              <a:ext uri="{FF2B5EF4-FFF2-40B4-BE49-F238E27FC236}">
                <a16:creationId xmlns:a16="http://schemas.microsoft.com/office/drawing/2014/main" id="{E483A1E5-8D11-C85C-5ABC-558B1F8D2B48}"/>
              </a:ext>
            </a:extLst>
          </p:cNvPr>
          <p:cNvSpPr/>
          <p:nvPr/>
        </p:nvSpPr>
        <p:spPr>
          <a:xfrm>
            <a:off x="548640" y="4499032"/>
            <a:ext cx="109728" cy="1005840"/>
          </a:xfrm>
          <a:prstGeom prst="roundRect">
            <a:avLst>
              <a:gd name="adj" fmla="val 33333"/>
            </a:avLst>
          </a:prstGeom>
          <a:solidFill>
            <a:srgbClr val="5C4A38"/>
          </a:solidFill>
          <a:ln/>
        </p:spPr>
        <p:txBody>
          <a:bodyPr/>
          <a:lstStyle/>
          <a:p>
            <a:endParaRPr lang="en-IN" sz="2400"/>
          </a:p>
        </p:txBody>
      </p:sp>
      <p:sp>
        <p:nvSpPr>
          <p:cNvPr id="26" name="Text 24">
            <a:extLst>
              <a:ext uri="{FF2B5EF4-FFF2-40B4-BE49-F238E27FC236}">
                <a16:creationId xmlns:a16="http://schemas.microsoft.com/office/drawing/2014/main" id="{5156B638-B5C0-418D-5539-699403564728}"/>
              </a:ext>
            </a:extLst>
          </p:cNvPr>
          <p:cNvSpPr/>
          <p:nvPr/>
        </p:nvSpPr>
        <p:spPr>
          <a:xfrm>
            <a:off x="822960" y="4608760"/>
            <a:ext cx="2194560" cy="29260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Legal</a:t>
            </a:r>
            <a:endParaRPr lang="en-US" sz="1600" dirty="0"/>
          </a:p>
        </p:txBody>
      </p:sp>
      <p:sp>
        <p:nvSpPr>
          <p:cNvPr id="27" name="Text 25">
            <a:extLst>
              <a:ext uri="{FF2B5EF4-FFF2-40B4-BE49-F238E27FC236}">
                <a16:creationId xmlns:a16="http://schemas.microsoft.com/office/drawing/2014/main" id="{9C976F17-E3D7-AC9B-7BDC-E2D37FEA81BA}"/>
              </a:ext>
            </a:extLst>
          </p:cNvPr>
          <p:cNvSpPr/>
          <p:nvPr/>
        </p:nvSpPr>
        <p:spPr>
          <a:xfrm>
            <a:off x="822960" y="4919656"/>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LEG-025</a:t>
            </a:r>
            <a:endParaRPr lang="en-US" sz="1100" dirty="0"/>
          </a:p>
        </p:txBody>
      </p:sp>
      <p:sp>
        <p:nvSpPr>
          <p:cNvPr id="28" name="Text 26">
            <a:extLst>
              <a:ext uri="{FF2B5EF4-FFF2-40B4-BE49-F238E27FC236}">
                <a16:creationId xmlns:a16="http://schemas.microsoft.com/office/drawing/2014/main" id="{6FE7E4AA-50F2-5F96-AB2B-24FE1D1C75CD}"/>
              </a:ext>
            </a:extLst>
          </p:cNvPr>
          <p:cNvSpPr/>
          <p:nvPr/>
        </p:nvSpPr>
        <p:spPr>
          <a:xfrm>
            <a:off x="822960" y="5193976"/>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sliding 5/2 · legal-BERT · dense · forward</a:t>
            </a:r>
            <a:endParaRPr lang="en-US" sz="1050" dirty="0"/>
          </a:p>
        </p:txBody>
      </p:sp>
      <p:sp>
        <p:nvSpPr>
          <p:cNvPr id="29" name="Text 27">
            <a:extLst>
              <a:ext uri="{FF2B5EF4-FFF2-40B4-BE49-F238E27FC236}">
                <a16:creationId xmlns:a16="http://schemas.microsoft.com/office/drawing/2014/main" id="{776AC4F6-E72A-5A93-24EA-74EDA5CF59F8}"/>
              </a:ext>
            </a:extLst>
          </p:cNvPr>
          <p:cNvSpPr/>
          <p:nvPr/>
        </p:nvSpPr>
        <p:spPr>
          <a:xfrm>
            <a:off x="4297680" y="4681912"/>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Our strongest result: adherence 0.8825 against a reference of 0.905, and the best AUCROC of any domain at 0.6524. Chunking dominated everything (spread 0.269) — yet the clause-aware chunker we built for contracts did NOT win. A sliding sentence window did.</a:t>
            </a:r>
            <a:endParaRPr lang="en-US" sz="1400" dirty="0"/>
          </a:p>
        </p:txBody>
      </p:sp>
      <p:sp>
        <p:nvSpPr>
          <p:cNvPr id="33" name="Shape 16">
            <a:extLst>
              <a:ext uri="{FF2B5EF4-FFF2-40B4-BE49-F238E27FC236}">
                <a16:creationId xmlns:a16="http://schemas.microsoft.com/office/drawing/2014/main" id="{DB8BDEF4-232F-0055-4D86-16E0000C235B}"/>
              </a:ext>
            </a:extLst>
          </p:cNvPr>
          <p:cNvSpPr/>
          <p:nvPr/>
        </p:nvSpPr>
        <p:spPr>
          <a:xfrm>
            <a:off x="561079" y="5693104"/>
            <a:ext cx="11109960" cy="1005840"/>
          </a:xfrm>
          <a:prstGeom prst="roundRect">
            <a:avLst>
              <a:gd name="adj" fmla="val 5932"/>
            </a:avLst>
          </a:prstGeom>
          <a:solidFill>
            <a:srgbClr val="FFFFFF"/>
          </a:solidFill>
          <a:ln w="9525">
            <a:solidFill>
              <a:srgbClr val="C9B195"/>
            </a:solidFill>
            <a:prstDash val="solid"/>
          </a:ln>
        </p:spPr>
        <p:txBody>
          <a:bodyPr/>
          <a:lstStyle/>
          <a:p>
            <a:endParaRPr lang="en-IN" sz="2400"/>
          </a:p>
        </p:txBody>
      </p:sp>
      <p:sp>
        <p:nvSpPr>
          <p:cNvPr id="35" name="Shape 17">
            <a:extLst>
              <a:ext uri="{FF2B5EF4-FFF2-40B4-BE49-F238E27FC236}">
                <a16:creationId xmlns:a16="http://schemas.microsoft.com/office/drawing/2014/main" id="{5E154193-A285-FB2F-E814-F6BBFC916C19}"/>
              </a:ext>
            </a:extLst>
          </p:cNvPr>
          <p:cNvSpPr/>
          <p:nvPr/>
        </p:nvSpPr>
        <p:spPr>
          <a:xfrm>
            <a:off x="561079" y="5693104"/>
            <a:ext cx="109728" cy="1005840"/>
          </a:xfrm>
          <a:prstGeom prst="roundRect">
            <a:avLst>
              <a:gd name="adj" fmla="val 33333"/>
            </a:avLst>
          </a:prstGeom>
          <a:solidFill>
            <a:srgbClr val="7D9B76"/>
          </a:solidFill>
          <a:ln/>
        </p:spPr>
        <p:txBody>
          <a:bodyPr/>
          <a:lstStyle/>
          <a:p>
            <a:endParaRPr lang="en-IN" sz="2400"/>
          </a:p>
        </p:txBody>
      </p:sp>
      <p:sp>
        <p:nvSpPr>
          <p:cNvPr id="37" name="Text 18">
            <a:extLst>
              <a:ext uri="{FF2B5EF4-FFF2-40B4-BE49-F238E27FC236}">
                <a16:creationId xmlns:a16="http://schemas.microsoft.com/office/drawing/2014/main" id="{0DBC7E61-7599-A3B2-DF08-FD4BEAB43BFC}"/>
              </a:ext>
            </a:extLst>
          </p:cNvPr>
          <p:cNvSpPr/>
          <p:nvPr/>
        </p:nvSpPr>
        <p:spPr>
          <a:xfrm>
            <a:off x="835399" y="5802832"/>
            <a:ext cx="2194560" cy="292608"/>
          </a:xfrm>
          <a:prstGeom prst="rect">
            <a:avLst/>
          </a:prstGeom>
          <a:noFill/>
          <a:ln/>
        </p:spPr>
        <p:txBody>
          <a:bodyPr wrap="square" lIns="0" tIns="0" rIns="0" bIns="0" rtlCol="0" anchor="ctr"/>
          <a:lstStyle/>
          <a:p>
            <a:pPr marL="0" indent="0">
              <a:buNone/>
            </a:pPr>
            <a:r>
              <a:rPr lang="en-US" sz="1600" b="1" dirty="0">
                <a:solidFill>
                  <a:srgbClr val="7D9B76"/>
                </a:solidFill>
                <a:latin typeface="Calibri" pitchFamily="34" charset="0"/>
                <a:ea typeface="Calibri" pitchFamily="34" charset="-122"/>
                <a:cs typeface="Calibri" pitchFamily="34" charset="-120"/>
              </a:rPr>
              <a:t>Biomedical</a:t>
            </a:r>
            <a:endParaRPr lang="en-US" sz="1600" dirty="0"/>
          </a:p>
        </p:txBody>
      </p:sp>
      <p:sp>
        <p:nvSpPr>
          <p:cNvPr id="39" name="Text 19">
            <a:extLst>
              <a:ext uri="{FF2B5EF4-FFF2-40B4-BE49-F238E27FC236}">
                <a16:creationId xmlns:a16="http://schemas.microsoft.com/office/drawing/2014/main" id="{679574BC-3AA5-7231-BA90-17D32D607F94}"/>
              </a:ext>
            </a:extLst>
          </p:cNvPr>
          <p:cNvSpPr/>
          <p:nvPr/>
        </p:nvSpPr>
        <p:spPr>
          <a:xfrm>
            <a:off x="835399" y="6113728"/>
            <a:ext cx="2194560" cy="256032"/>
          </a:xfrm>
          <a:prstGeom prst="rect">
            <a:avLst/>
          </a:prstGeom>
          <a:noFill/>
          <a:ln/>
        </p:spPr>
        <p:txBody>
          <a:bodyPr wrap="square" lIns="0" tIns="0" rIns="0" bIns="0" rtlCol="0" anchor="ctr"/>
          <a:lstStyle/>
          <a:p>
            <a:pPr marL="0" indent="0">
              <a:buNone/>
            </a:pPr>
            <a:r>
              <a:rPr lang="en-US" sz="1100" i="1" dirty="0">
                <a:solidFill>
                  <a:srgbClr val="7A6A5A"/>
                </a:solidFill>
                <a:latin typeface="Calibri" pitchFamily="34" charset="0"/>
                <a:ea typeface="Calibri" pitchFamily="34" charset="-122"/>
                <a:cs typeface="Calibri" pitchFamily="34" charset="-120"/>
              </a:rPr>
              <a:t>BIO-004</a:t>
            </a:r>
            <a:endParaRPr lang="en-US" sz="1100" dirty="0"/>
          </a:p>
        </p:txBody>
      </p:sp>
      <p:sp>
        <p:nvSpPr>
          <p:cNvPr id="41" name="Text 20">
            <a:extLst>
              <a:ext uri="{FF2B5EF4-FFF2-40B4-BE49-F238E27FC236}">
                <a16:creationId xmlns:a16="http://schemas.microsoft.com/office/drawing/2014/main" id="{5DDAE76C-26BE-F878-F868-BE8673CE85E2}"/>
              </a:ext>
            </a:extLst>
          </p:cNvPr>
          <p:cNvSpPr/>
          <p:nvPr/>
        </p:nvSpPr>
        <p:spPr>
          <a:xfrm>
            <a:off x="835399" y="6388048"/>
            <a:ext cx="3291840" cy="292608"/>
          </a:xfrm>
          <a:prstGeom prst="rect">
            <a:avLst/>
          </a:prstGeom>
          <a:noFill/>
          <a:ln/>
        </p:spPr>
        <p:txBody>
          <a:bodyPr wrap="square" lIns="0" tIns="0" rIns="0" bIns="0" rtlCol="0" anchor="ctr"/>
          <a:lstStyle/>
          <a:p>
            <a:pPr marL="0" indent="0">
              <a:buNone/>
            </a:pPr>
            <a:r>
              <a:rPr lang="en-US" sz="1050" dirty="0">
                <a:solidFill>
                  <a:srgbClr val="3E3228"/>
                </a:solidFill>
                <a:latin typeface="Calibri" pitchFamily="34" charset="0"/>
                <a:ea typeface="Calibri" pitchFamily="34" charset="-122"/>
                <a:cs typeface="Calibri" pitchFamily="34" charset="-120"/>
              </a:rPr>
              <a:t>whole_doc · S-PubMedBert · dense · cross-encoder · forward</a:t>
            </a:r>
            <a:endParaRPr lang="en-US" sz="1050" dirty="0"/>
          </a:p>
        </p:txBody>
      </p:sp>
      <p:sp>
        <p:nvSpPr>
          <p:cNvPr id="43" name="Text 21">
            <a:extLst>
              <a:ext uri="{FF2B5EF4-FFF2-40B4-BE49-F238E27FC236}">
                <a16:creationId xmlns:a16="http://schemas.microsoft.com/office/drawing/2014/main" id="{7778DCED-21B3-F4B2-0145-70F410773E4C}"/>
              </a:ext>
            </a:extLst>
          </p:cNvPr>
          <p:cNvSpPr/>
          <p:nvPr/>
        </p:nvSpPr>
        <p:spPr>
          <a:xfrm>
            <a:off x="4310119" y="5875984"/>
            <a:ext cx="7178040" cy="77724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Judge coverage was 1.00 on every one of the 96 configurations — the cleanest measurement conditions of any domain. BIO-004 screened BELOW chance at 25 examples and won at 200, while the screening leader fell from 0.773 to 0.590.</a:t>
            </a:r>
            <a:endParaRPr lang="en-US" sz="1400" dirty="0"/>
          </a:p>
        </p:txBody>
      </p:sp>
    </p:spTree>
    <p:extLst>
      <p:ext uri="{BB962C8B-B14F-4D97-AF65-F5344CB8AC3E}">
        <p14:creationId xmlns:p14="http://schemas.microsoft.com/office/powerpoint/2010/main" val="406402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4">
    <p:bg>
      <p:bgPr>
        <a:solidFill>
          <a:srgbClr val="FAF6F0"/>
        </a:solidFill>
        <a:effectLst/>
      </p:bgPr>
    </p:bg>
    <p:spTree>
      <p:nvGrpSpPr>
        <p:cNvPr id="1" name=""/>
        <p:cNvGrpSpPr/>
        <p:nvPr/>
      </p:nvGrpSpPr>
      <p:grpSpPr>
        <a:xfrm>
          <a:off x="0" y="0"/>
          <a:ext cx="0" cy="0"/>
          <a:chOff x="0" y="0"/>
          <a:chExt cx="0" cy="0"/>
        </a:xfrm>
      </p:grpSpPr>
      <p:sp>
        <p:nvSpPr>
          <p:cNvPr id="12" name="Shape 10"/>
          <p:cNvSpPr/>
          <p:nvPr/>
        </p:nvSpPr>
        <p:spPr>
          <a:xfrm>
            <a:off x="548640" y="2532887"/>
            <a:ext cx="11109960" cy="1787185"/>
          </a:xfrm>
          <a:prstGeom prst="roundRect">
            <a:avLst>
              <a:gd name="adj" fmla="val 5932"/>
            </a:avLst>
          </a:prstGeom>
          <a:solidFill>
            <a:srgbClr val="F0E7DA"/>
          </a:solidFill>
          <a:ln w="9525">
            <a:solidFill>
              <a:srgbClr val="C9B195"/>
            </a:solidFill>
            <a:prstDash val="solid"/>
          </a:ln>
        </p:spPr>
        <p:txBody>
          <a:bodyPr/>
          <a:lstStyle/>
          <a:p>
            <a:endParaRPr lang="en-US" sz="2800" b="1" dirty="0">
              <a:solidFill>
                <a:srgbClr val="5C4A38"/>
              </a:solidFill>
              <a:latin typeface="Georgia" pitchFamily="34" charset="0"/>
              <a:ea typeface="Georgia" pitchFamily="34" charset="-122"/>
              <a:cs typeface="Georgia" pitchFamily="34" charset="-120"/>
            </a:endParaRPr>
          </a:p>
          <a:p>
            <a:r>
              <a:rPr lang="en-US" sz="2800" b="1" dirty="0">
                <a:solidFill>
                  <a:srgbClr val="5C4A38"/>
                </a:solidFill>
                <a:latin typeface="Georgia" pitchFamily="34" charset="0"/>
                <a:ea typeface="Georgia" pitchFamily="34" charset="-122"/>
                <a:cs typeface="Georgia" pitchFamily="34" charset="-120"/>
              </a:rPr>
              <a:t>RGB</a:t>
            </a:r>
            <a:endParaRPr lang="en-IN" dirty="0"/>
          </a:p>
        </p:txBody>
      </p:sp>
      <p:sp>
        <p:nvSpPr>
          <p:cNvPr id="13" name="Shape 11"/>
          <p:cNvSpPr/>
          <p:nvPr/>
        </p:nvSpPr>
        <p:spPr>
          <a:xfrm>
            <a:off x="548640" y="2532888"/>
            <a:ext cx="109728" cy="1787184"/>
          </a:xfrm>
          <a:prstGeom prst="roundRect">
            <a:avLst>
              <a:gd name="adj" fmla="val 33333"/>
            </a:avLst>
          </a:prstGeom>
          <a:solidFill>
            <a:srgbClr val="8C6E52"/>
          </a:solidFill>
          <a:ln/>
        </p:spPr>
        <p:txBody>
          <a:bodyPr/>
          <a:lstStyle/>
          <a:p>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RGB — When Retrieval Fails</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TRACe measures a good answer. RGB measures behaviour when the evidence is wrong, missing or scattered</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9</a:t>
            </a:r>
            <a:endParaRPr lang="en-US" sz="1000" dirty="0"/>
          </a:p>
        </p:txBody>
      </p:sp>
      <p:sp>
        <p:nvSpPr>
          <p:cNvPr id="7" name="Shape 5"/>
          <p:cNvSpPr/>
          <p:nvPr/>
        </p:nvSpPr>
        <p:spPr>
          <a:xfrm>
            <a:off x="548640" y="1325880"/>
            <a:ext cx="10927080" cy="384048"/>
          </a:xfrm>
          <a:prstGeom prst="roundRect">
            <a:avLst>
              <a:gd name="adj" fmla="val 11905"/>
            </a:avLst>
          </a:prstGeom>
          <a:solidFill>
            <a:srgbClr val="5C4A38"/>
          </a:solidFill>
          <a:ln/>
        </p:spPr>
        <p:txBody>
          <a:bodyPr/>
          <a:lstStyle/>
          <a:p>
            <a:endParaRPr lang="en-IN" sz="2400"/>
          </a:p>
        </p:txBody>
      </p:sp>
      <p:sp>
        <p:nvSpPr>
          <p:cNvPr id="8" name="Text 6"/>
          <p:cNvSpPr/>
          <p:nvPr/>
        </p:nvSpPr>
        <p:spPr>
          <a:xfrm>
            <a:off x="685800" y="1325880"/>
            <a:ext cx="16916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Ability</a:t>
            </a:r>
            <a:endParaRPr lang="en-US" sz="1050" dirty="0"/>
          </a:p>
        </p:txBody>
      </p:sp>
      <p:sp>
        <p:nvSpPr>
          <p:cNvPr id="9" name="Text 7"/>
          <p:cNvSpPr/>
          <p:nvPr/>
        </p:nvSpPr>
        <p:spPr>
          <a:xfrm>
            <a:off x="2468880" y="1325880"/>
            <a:ext cx="292608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What it tests</a:t>
            </a:r>
            <a:endParaRPr lang="en-US" sz="1050" dirty="0"/>
          </a:p>
        </p:txBody>
      </p:sp>
      <p:sp>
        <p:nvSpPr>
          <p:cNvPr id="10" name="Text 8"/>
          <p:cNvSpPr/>
          <p:nvPr/>
        </p:nvSpPr>
        <p:spPr>
          <a:xfrm>
            <a:off x="5486400" y="1325880"/>
            <a:ext cx="274320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How it is measured</a:t>
            </a:r>
            <a:endParaRPr lang="en-US" sz="1050" dirty="0"/>
          </a:p>
        </p:txBody>
      </p:sp>
      <p:sp>
        <p:nvSpPr>
          <p:cNvPr id="11" name="Text 9"/>
          <p:cNvSpPr/>
          <p:nvPr/>
        </p:nvSpPr>
        <p:spPr>
          <a:xfrm>
            <a:off x="8321040" y="1325880"/>
            <a:ext cx="3291840" cy="384048"/>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Formula</a:t>
            </a:r>
            <a:endParaRPr lang="en-US" sz="1050" dirty="0"/>
          </a:p>
        </p:txBody>
      </p:sp>
      <p:sp>
        <p:nvSpPr>
          <p:cNvPr id="12" name="Shape 10"/>
          <p:cNvSpPr/>
          <p:nvPr/>
        </p:nvSpPr>
        <p:spPr>
          <a:xfrm>
            <a:off x="548640" y="1746504"/>
            <a:ext cx="10927080" cy="475488"/>
          </a:xfrm>
          <a:prstGeom prst="roundRect">
            <a:avLst>
              <a:gd name="adj" fmla="val 7692"/>
            </a:avLst>
          </a:prstGeom>
          <a:solidFill>
            <a:srgbClr val="FFFFFF"/>
          </a:solidFill>
          <a:ln w="7620">
            <a:solidFill>
              <a:srgbClr val="C9B195"/>
            </a:solidFill>
            <a:prstDash val="solid"/>
          </a:ln>
        </p:spPr>
        <p:txBody>
          <a:bodyPr/>
          <a:lstStyle/>
          <a:p>
            <a:endParaRPr lang="en-IN" sz="2400"/>
          </a:p>
        </p:txBody>
      </p:sp>
      <p:sp>
        <p:nvSpPr>
          <p:cNvPr id="13" name="Text 11"/>
          <p:cNvSpPr/>
          <p:nvPr/>
        </p:nvSpPr>
        <p:spPr>
          <a:xfrm>
            <a:off x="685800" y="1746504"/>
            <a:ext cx="1691640" cy="47548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Noise robustness</a:t>
            </a:r>
            <a:endParaRPr lang="en-US" sz="1100" dirty="0"/>
          </a:p>
        </p:txBody>
      </p:sp>
      <p:sp>
        <p:nvSpPr>
          <p:cNvPr id="14" name="Text 12"/>
          <p:cNvSpPr/>
          <p:nvPr/>
        </p:nvSpPr>
        <p:spPr>
          <a:xfrm>
            <a:off x="2468880" y="1746504"/>
            <a:ext cx="292608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Finding the answer with irrelevant documents mixed in</a:t>
            </a:r>
            <a:endParaRPr lang="en-US" sz="1100" dirty="0"/>
          </a:p>
        </p:txBody>
      </p:sp>
      <p:sp>
        <p:nvSpPr>
          <p:cNvPr id="15" name="Text 13"/>
          <p:cNvSpPr/>
          <p:nvPr/>
        </p:nvSpPr>
        <p:spPr>
          <a:xfrm>
            <a:off x="5486400" y="1746504"/>
            <a:ext cx="274320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Accuracy at noise ratios 0 → 0.8</a:t>
            </a:r>
            <a:endParaRPr lang="en-US" sz="1100" dirty="0"/>
          </a:p>
        </p:txBody>
      </p:sp>
      <p:sp>
        <p:nvSpPr>
          <p:cNvPr id="16" name="Text 14"/>
          <p:cNvSpPr/>
          <p:nvPr/>
        </p:nvSpPr>
        <p:spPr>
          <a:xfrm>
            <a:off x="8321040" y="1746504"/>
            <a:ext cx="329184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Acc = correct ÷ total, at each noise level</a:t>
            </a:r>
            <a:endParaRPr lang="en-US" sz="1100" dirty="0"/>
          </a:p>
        </p:txBody>
      </p:sp>
      <p:sp>
        <p:nvSpPr>
          <p:cNvPr id="17" name="Shape 15"/>
          <p:cNvSpPr/>
          <p:nvPr/>
        </p:nvSpPr>
        <p:spPr>
          <a:xfrm>
            <a:off x="548640" y="2258568"/>
            <a:ext cx="10927080" cy="475488"/>
          </a:xfrm>
          <a:prstGeom prst="roundRect">
            <a:avLst>
              <a:gd name="adj" fmla="val 7692"/>
            </a:avLst>
          </a:prstGeom>
          <a:solidFill>
            <a:srgbClr val="F0E7DA"/>
          </a:solidFill>
          <a:ln w="7620">
            <a:solidFill>
              <a:srgbClr val="C9B195"/>
            </a:solidFill>
            <a:prstDash val="solid"/>
          </a:ln>
        </p:spPr>
        <p:txBody>
          <a:bodyPr/>
          <a:lstStyle/>
          <a:p>
            <a:endParaRPr lang="en-IN" sz="2400"/>
          </a:p>
        </p:txBody>
      </p:sp>
      <p:sp>
        <p:nvSpPr>
          <p:cNvPr id="18" name="Text 16"/>
          <p:cNvSpPr/>
          <p:nvPr/>
        </p:nvSpPr>
        <p:spPr>
          <a:xfrm>
            <a:off x="685800" y="2258568"/>
            <a:ext cx="1691640" cy="47548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Negative rejection</a:t>
            </a:r>
            <a:endParaRPr lang="en-US" sz="1100" dirty="0"/>
          </a:p>
        </p:txBody>
      </p:sp>
      <p:sp>
        <p:nvSpPr>
          <p:cNvPr id="19" name="Text 17"/>
          <p:cNvSpPr/>
          <p:nvPr/>
        </p:nvSpPr>
        <p:spPr>
          <a:xfrm>
            <a:off x="2468880" y="2258568"/>
            <a:ext cx="292608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Refusing when the evidence genuinely is not there</a:t>
            </a:r>
            <a:endParaRPr lang="en-US" sz="1100" dirty="0"/>
          </a:p>
        </p:txBody>
      </p:sp>
      <p:sp>
        <p:nvSpPr>
          <p:cNvPr id="20" name="Text 18"/>
          <p:cNvSpPr/>
          <p:nvPr/>
        </p:nvSpPr>
        <p:spPr>
          <a:xfrm>
            <a:off x="5486400" y="2258568"/>
            <a:ext cx="274320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Rejection rate on unanswerable questions</a:t>
            </a:r>
            <a:endParaRPr lang="en-US" sz="1100" dirty="0"/>
          </a:p>
        </p:txBody>
      </p:sp>
      <p:sp>
        <p:nvSpPr>
          <p:cNvPr id="21" name="Text 19"/>
          <p:cNvSpPr/>
          <p:nvPr/>
        </p:nvSpPr>
        <p:spPr>
          <a:xfrm>
            <a:off x="8321040" y="2258568"/>
            <a:ext cx="329184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Rej = refusals ÷ unanswerable questions</a:t>
            </a:r>
            <a:endParaRPr lang="en-US" sz="1100" dirty="0"/>
          </a:p>
        </p:txBody>
      </p:sp>
      <p:sp>
        <p:nvSpPr>
          <p:cNvPr id="22" name="Shape 20"/>
          <p:cNvSpPr/>
          <p:nvPr/>
        </p:nvSpPr>
        <p:spPr>
          <a:xfrm>
            <a:off x="548640" y="2770632"/>
            <a:ext cx="10927080" cy="475488"/>
          </a:xfrm>
          <a:prstGeom prst="roundRect">
            <a:avLst>
              <a:gd name="adj" fmla="val 7692"/>
            </a:avLst>
          </a:prstGeom>
          <a:solidFill>
            <a:srgbClr val="FFFFFF"/>
          </a:solidFill>
          <a:ln w="7620">
            <a:solidFill>
              <a:srgbClr val="C9B195"/>
            </a:solidFill>
            <a:prstDash val="solid"/>
          </a:ln>
        </p:spPr>
        <p:txBody>
          <a:bodyPr/>
          <a:lstStyle/>
          <a:p>
            <a:endParaRPr lang="en-IN" sz="2400"/>
          </a:p>
        </p:txBody>
      </p:sp>
      <p:sp>
        <p:nvSpPr>
          <p:cNvPr id="23" name="Text 21"/>
          <p:cNvSpPr/>
          <p:nvPr/>
        </p:nvSpPr>
        <p:spPr>
          <a:xfrm>
            <a:off x="685800" y="2770632"/>
            <a:ext cx="1691640" cy="47548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Information integration</a:t>
            </a:r>
            <a:endParaRPr lang="en-US" sz="1100" dirty="0"/>
          </a:p>
        </p:txBody>
      </p:sp>
      <p:sp>
        <p:nvSpPr>
          <p:cNvPr id="24" name="Text 22"/>
          <p:cNvSpPr/>
          <p:nvPr/>
        </p:nvSpPr>
        <p:spPr>
          <a:xfrm>
            <a:off x="2468880" y="2770632"/>
            <a:ext cx="292608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Combining evidence from several documents</a:t>
            </a:r>
            <a:endParaRPr lang="en-US" sz="1100" dirty="0"/>
          </a:p>
        </p:txBody>
      </p:sp>
      <p:sp>
        <p:nvSpPr>
          <p:cNvPr id="25" name="Text 23"/>
          <p:cNvSpPr/>
          <p:nvPr/>
        </p:nvSpPr>
        <p:spPr>
          <a:xfrm>
            <a:off x="5486400" y="2770632"/>
            <a:ext cx="274320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Accuracy on multi-source questions</a:t>
            </a:r>
            <a:endParaRPr lang="en-US" sz="1100" dirty="0"/>
          </a:p>
        </p:txBody>
      </p:sp>
      <p:sp>
        <p:nvSpPr>
          <p:cNvPr id="26" name="Text 24"/>
          <p:cNvSpPr/>
          <p:nvPr/>
        </p:nvSpPr>
        <p:spPr>
          <a:xfrm>
            <a:off x="8321040" y="2770632"/>
            <a:ext cx="329184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Acc = correct ÷ multi-source questions</a:t>
            </a:r>
            <a:endParaRPr lang="en-US" sz="1100" dirty="0"/>
          </a:p>
        </p:txBody>
      </p:sp>
      <p:sp>
        <p:nvSpPr>
          <p:cNvPr id="27" name="Shape 25"/>
          <p:cNvSpPr/>
          <p:nvPr/>
        </p:nvSpPr>
        <p:spPr>
          <a:xfrm>
            <a:off x="548640" y="3282696"/>
            <a:ext cx="10927080" cy="475488"/>
          </a:xfrm>
          <a:prstGeom prst="roundRect">
            <a:avLst>
              <a:gd name="adj" fmla="val 7692"/>
            </a:avLst>
          </a:prstGeom>
          <a:solidFill>
            <a:srgbClr val="F0E7DA"/>
          </a:solidFill>
          <a:ln w="7620">
            <a:solidFill>
              <a:srgbClr val="C9B195"/>
            </a:solidFill>
            <a:prstDash val="solid"/>
          </a:ln>
        </p:spPr>
        <p:txBody>
          <a:bodyPr/>
          <a:lstStyle/>
          <a:p>
            <a:endParaRPr lang="en-IN" sz="2400"/>
          </a:p>
        </p:txBody>
      </p:sp>
      <p:sp>
        <p:nvSpPr>
          <p:cNvPr id="28" name="Text 26"/>
          <p:cNvSpPr/>
          <p:nvPr/>
        </p:nvSpPr>
        <p:spPr>
          <a:xfrm>
            <a:off x="685800" y="3282696"/>
            <a:ext cx="1691640" cy="475488"/>
          </a:xfrm>
          <a:prstGeom prst="rect">
            <a:avLst/>
          </a:prstGeom>
          <a:noFill/>
          <a:ln/>
        </p:spPr>
        <p:txBody>
          <a:bodyPr wrap="square" lIns="0" tIns="0" rIns="0" bIns="0" rtlCol="0" anchor="ctr"/>
          <a:lstStyle/>
          <a:p>
            <a:pPr marL="0" indent="0">
              <a:buNone/>
            </a:pPr>
            <a:r>
              <a:rPr lang="en-US" sz="1100" b="1" dirty="0">
                <a:solidFill>
                  <a:srgbClr val="3E3228"/>
                </a:solidFill>
                <a:latin typeface="Calibri" pitchFamily="34" charset="0"/>
                <a:ea typeface="Calibri" pitchFamily="34" charset="-122"/>
                <a:cs typeface="Calibri" pitchFamily="34" charset="-120"/>
              </a:rPr>
              <a:t>Counterfactual robustness</a:t>
            </a:r>
            <a:endParaRPr lang="en-US" sz="1100" dirty="0"/>
          </a:p>
        </p:txBody>
      </p:sp>
      <p:sp>
        <p:nvSpPr>
          <p:cNvPr id="29" name="Text 27"/>
          <p:cNvSpPr/>
          <p:nvPr/>
        </p:nvSpPr>
        <p:spPr>
          <a:xfrm>
            <a:off x="2468880" y="3282696"/>
            <a:ext cx="292608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Noticing that a retrieved document is factually wrong</a:t>
            </a:r>
            <a:endParaRPr lang="en-US" sz="1100" dirty="0"/>
          </a:p>
        </p:txBody>
      </p:sp>
      <p:sp>
        <p:nvSpPr>
          <p:cNvPr id="30" name="Text 28"/>
          <p:cNvSpPr/>
          <p:nvPr/>
        </p:nvSpPr>
        <p:spPr>
          <a:xfrm>
            <a:off x="5486400" y="3282696"/>
            <a:ext cx="274320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Answer accuracy, error detection, correction</a:t>
            </a:r>
            <a:endParaRPr lang="en-US" sz="1100" dirty="0"/>
          </a:p>
        </p:txBody>
      </p:sp>
      <p:sp>
        <p:nvSpPr>
          <p:cNvPr id="31" name="Text 29"/>
          <p:cNvSpPr/>
          <p:nvPr/>
        </p:nvSpPr>
        <p:spPr>
          <a:xfrm>
            <a:off x="8321040" y="3282696"/>
            <a:ext cx="3291840" cy="475488"/>
          </a:xfrm>
          <a:prstGeom prst="rect">
            <a:avLst/>
          </a:prstGeom>
          <a:noFill/>
          <a:ln/>
        </p:spPr>
        <p:txBody>
          <a:bodyPr wrap="square" lIns="0" tIns="0" rIns="0" bIns="0" rtlCol="0" anchor="ctr"/>
          <a:lstStyle/>
          <a:p>
            <a:pPr marL="0" indent="0">
              <a:buNone/>
            </a:pPr>
            <a:r>
              <a:rPr lang="en-US" sz="1100" dirty="0">
                <a:solidFill>
                  <a:srgbClr val="3E3228"/>
                </a:solidFill>
                <a:latin typeface="Calibri" pitchFamily="34" charset="0"/>
                <a:ea typeface="Calibri" pitchFamily="34" charset="-122"/>
                <a:cs typeface="Calibri" pitchFamily="34" charset="-120"/>
              </a:rPr>
              <a:t>Acc_doc = errors identified ÷ corrupted docs</a:t>
            </a:r>
            <a:endParaRPr lang="en-US" sz="1100" dirty="0"/>
          </a:p>
        </p:txBody>
      </p:sp>
      <p:sp>
        <p:nvSpPr>
          <p:cNvPr id="32" name="Shape 30"/>
          <p:cNvSpPr/>
          <p:nvPr/>
        </p:nvSpPr>
        <p:spPr>
          <a:xfrm>
            <a:off x="548640" y="3749040"/>
            <a:ext cx="5486400" cy="2651760"/>
          </a:xfrm>
          <a:prstGeom prst="roundRect">
            <a:avLst>
              <a:gd name="adj" fmla="val 2759"/>
            </a:avLst>
          </a:prstGeom>
          <a:solidFill>
            <a:srgbClr val="FFFFFF"/>
          </a:solidFill>
          <a:ln w="9525">
            <a:solidFill>
              <a:srgbClr val="C9B195"/>
            </a:solidFill>
            <a:prstDash val="solid"/>
          </a:ln>
        </p:spPr>
        <p:txBody>
          <a:bodyPr/>
          <a:lstStyle/>
          <a:p>
            <a:endParaRPr lang="en-IN" sz="2400"/>
          </a:p>
        </p:txBody>
      </p:sp>
      <p:sp>
        <p:nvSpPr>
          <p:cNvPr id="33" name="Text 31"/>
          <p:cNvSpPr/>
          <p:nvPr/>
        </p:nvSpPr>
        <p:spPr>
          <a:xfrm>
            <a:off x="777240" y="3886200"/>
            <a:ext cx="5029200" cy="274320"/>
          </a:xfrm>
          <a:prstGeom prst="rect">
            <a:avLst/>
          </a:prstGeom>
          <a:noFill/>
          <a:ln/>
        </p:spPr>
        <p:txBody>
          <a:bodyPr wrap="square" lIns="0" tIns="0" rIns="0" bIns="0" rtlCol="0" anchor="ctr"/>
          <a:lstStyle/>
          <a:p>
            <a:pPr marL="0" indent="0">
              <a:buNone/>
            </a:pPr>
            <a:r>
              <a:rPr lang="en-US" sz="1600" b="1" dirty="0">
                <a:solidFill>
                  <a:srgbClr val="B5714B"/>
                </a:solidFill>
                <a:latin typeface="Calibri" pitchFamily="34" charset="0"/>
                <a:ea typeface="Calibri" pitchFamily="34" charset="-122"/>
                <a:cs typeface="Calibri" pitchFamily="34" charset="-120"/>
              </a:rPr>
              <a:t>Why we had to rebuild the harness</a:t>
            </a:r>
            <a:endParaRPr lang="en-US" sz="1600" dirty="0"/>
          </a:p>
        </p:txBody>
      </p:sp>
      <p:sp>
        <p:nvSpPr>
          <p:cNvPr id="34" name="Text 32"/>
          <p:cNvSpPr/>
          <p:nvPr/>
        </p:nvSpPr>
        <p:spPr>
          <a:xfrm>
            <a:off x="777240" y="4206240"/>
            <a:ext cx="5029200" cy="2057400"/>
          </a:xfrm>
          <a:prstGeom prst="rect">
            <a:avLst/>
          </a:prstGeom>
          <a:noFill/>
          <a:ln/>
        </p:spPr>
        <p:txBody>
          <a:bodyPr wrap="square" lIns="0" tIns="0" rIns="0" bIns="0" rtlCol="0" anchor="ctr"/>
          <a:lstStyle/>
          <a:p>
            <a:pPr marL="0" indent="0">
              <a:buNone/>
            </a:pPr>
            <a:r>
              <a:rPr lang="en-US" sz="1400" dirty="0">
                <a:solidFill>
                  <a:srgbClr val="3E3228"/>
                </a:solidFill>
                <a:latin typeface="Calibri" pitchFamily="34" charset="0"/>
                <a:ea typeface="Calibri" pitchFamily="34" charset="-122"/>
                <a:cs typeface="Calibri" pitchFamily="34" charset="-120"/>
              </a:rPr>
              <a:t>Our first RGB campaign had to be discarded. The counterfactual test was reading the dataset's clean-document field instead of the corrupted one — so the test designed to plant factual errors contained no errors at all. Every model passed it, which we had briefly taken as a good sign.</a:t>
            </a:r>
            <a:endParaRPr lang="en-US" sz="1400" dirty="0"/>
          </a:p>
          <a:p>
            <a:pPr marL="0" indent="0">
              <a:buNone/>
            </a:pPr>
            <a:endParaRPr lang="en-US" sz="1400" dirty="0"/>
          </a:p>
          <a:p>
            <a:pPr marL="0" indent="0">
              <a:buNone/>
            </a:pPr>
            <a:r>
              <a:rPr lang="en-US" sz="1400" dirty="0">
                <a:solidFill>
                  <a:srgbClr val="3E3228"/>
                </a:solidFill>
                <a:latin typeface="Calibri" pitchFamily="34" charset="0"/>
                <a:ea typeface="Calibri" pitchFamily="34" charset="-122"/>
                <a:cs typeface="Calibri" pitchFamily="34" charset="-120"/>
              </a:rPr>
              <a:t>We rebuilt from scratch as v2, fixing three defects, and re-ran everything. The lesson we took: inspect a handful of real examples from a new test set BEFORE running the batch, not after.</a:t>
            </a:r>
            <a:endParaRPr lang="en-US" sz="1400" dirty="0"/>
          </a:p>
        </p:txBody>
      </p:sp>
      <p:sp>
        <p:nvSpPr>
          <p:cNvPr id="35" name="Shape 33"/>
          <p:cNvSpPr/>
          <p:nvPr/>
        </p:nvSpPr>
        <p:spPr>
          <a:xfrm>
            <a:off x="6172200" y="3749040"/>
            <a:ext cx="5486400" cy="2651760"/>
          </a:xfrm>
          <a:prstGeom prst="roundRect">
            <a:avLst>
              <a:gd name="adj" fmla="val 2759"/>
            </a:avLst>
          </a:prstGeom>
          <a:solidFill>
            <a:srgbClr val="E3EDE0"/>
          </a:solidFill>
          <a:ln w="15240">
            <a:solidFill>
              <a:srgbClr val="A8C0A0"/>
            </a:solidFill>
            <a:prstDash val="solid"/>
          </a:ln>
        </p:spPr>
        <p:txBody>
          <a:bodyPr/>
          <a:lstStyle/>
          <a:p>
            <a:endParaRPr lang="en-IN" sz="2400"/>
          </a:p>
        </p:txBody>
      </p:sp>
      <p:sp>
        <p:nvSpPr>
          <p:cNvPr id="36" name="Text 34"/>
          <p:cNvSpPr/>
          <p:nvPr/>
        </p:nvSpPr>
        <p:spPr>
          <a:xfrm>
            <a:off x="6400800" y="3886200"/>
            <a:ext cx="5029200" cy="274320"/>
          </a:xfrm>
          <a:prstGeom prst="rect">
            <a:avLst/>
          </a:prstGeom>
          <a:noFill/>
          <a:ln/>
        </p:spPr>
        <p:txBody>
          <a:bodyPr wrap="square" lIns="0" tIns="0" rIns="0" bIns="0" rtlCol="0" anchor="ctr"/>
          <a:lstStyle/>
          <a:p>
            <a:pPr marL="0" indent="0">
              <a:buNone/>
            </a:pPr>
            <a:r>
              <a:rPr lang="en-US" sz="1600" b="1" dirty="0">
                <a:solidFill>
                  <a:srgbClr val="4A6B4F"/>
                </a:solidFill>
                <a:latin typeface="Calibri" pitchFamily="34" charset="0"/>
                <a:ea typeface="Calibri" pitchFamily="34" charset="-122"/>
                <a:cs typeface="Calibri" pitchFamily="34" charset="-120"/>
              </a:rPr>
              <a:t>The Second Attempt</a:t>
            </a:r>
            <a:endParaRPr lang="en-US" sz="1600" dirty="0"/>
          </a:p>
        </p:txBody>
      </p:sp>
      <p:sp>
        <p:nvSpPr>
          <p:cNvPr id="37" name="Text 35"/>
          <p:cNvSpPr/>
          <p:nvPr/>
        </p:nvSpPr>
        <p:spPr>
          <a:xfrm>
            <a:off x="6400800" y="4206240"/>
            <a:ext cx="5029200" cy="20574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Correct dataset field per condition, verified by inspection first</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300 examples for noise and rejection, 100 for integration and counterfactual</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Nine rotating API keys with a halt-guard, so a provider failure cannot silently fill results with blanks</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A single rescoring pass with text normalisation at the end</a:t>
            </a:r>
            <a:endParaRPr lang="en-US" sz="1200" dirty="0"/>
          </a:p>
          <a:p>
            <a:pPr marL="342900" indent="-342900">
              <a:spcAft>
                <a:spcPts val="600"/>
              </a:spcAft>
              <a:buSzPct val="100000"/>
              <a:buChar char="•"/>
            </a:pPr>
            <a:r>
              <a:rPr lang="en-US" sz="1200" dirty="0">
                <a:solidFill>
                  <a:srgbClr val="3E3228"/>
                </a:solidFill>
                <a:latin typeface="Calibri" pitchFamily="34" charset="0"/>
                <a:ea typeface="Calibri" pitchFamily="34" charset="-122"/>
                <a:cs typeface="Calibri" pitchFamily="34" charset="-120"/>
              </a:rPr>
              <a:t>Triple-location checkpointing, as in the RAGBench work</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55BB4C08-3C4D-DB43-8D5A-254085658C24}"/>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D52AB8A-B27E-8297-8FA4-D79FFFBE6874}"/>
              </a:ext>
            </a:extLst>
          </p:cNvPr>
          <p:cNvSpPr/>
          <p:nvPr/>
        </p:nvSpPr>
        <p:spPr>
          <a:xfrm>
            <a:off x="0" y="0"/>
            <a:ext cx="12188952" cy="1078992"/>
          </a:xfrm>
          <a:prstGeom prst="roundRect">
            <a:avLst/>
          </a:prstGeom>
          <a:solidFill>
            <a:srgbClr val="FFFFFF"/>
          </a:solidFill>
          <a:ln/>
        </p:spPr>
        <p:txBody>
          <a:bodyPr/>
          <a:lstStyle/>
          <a:p>
            <a:endParaRPr lang="en-IN"/>
          </a:p>
        </p:txBody>
      </p:sp>
      <p:sp>
        <p:nvSpPr>
          <p:cNvPr id="3" name="Shape 1">
            <a:extLst>
              <a:ext uri="{FF2B5EF4-FFF2-40B4-BE49-F238E27FC236}">
                <a16:creationId xmlns:a16="http://schemas.microsoft.com/office/drawing/2014/main" id="{1D5122CA-F962-6914-51AB-9386EC61221E}"/>
              </a:ext>
            </a:extLst>
          </p:cNvPr>
          <p:cNvSpPr/>
          <p:nvPr/>
        </p:nvSpPr>
        <p:spPr>
          <a:xfrm>
            <a:off x="0" y="1060704"/>
            <a:ext cx="12188952" cy="32004"/>
          </a:xfrm>
          <a:prstGeom prst="rect">
            <a:avLst/>
          </a:prstGeom>
          <a:solidFill>
            <a:srgbClr val="7D9B76"/>
          </a:solidFill>
          <a:ln/>
        </p:spPr>
        <p:txBody>
          <a:bodyPr/>
          <a:lstStyle/>
          <a:p>
            <a:endParaRPr lang="en-IN"/>
          </a:p>
        </p:txBody>
      </p:sp>
      <p:sp>
        <p:nvSpPr>
          <p:cNvPr id="4" name="Text 2">
            <a:extLst>
              <a:ext uri="{FF2B5EF4-FFF2-40B4-BE49-F238E27FC236}">
                <a16:creationId xmlns:a16="http://schemas.microsoft.com/office/drawing/2014/main" id="{ECF526E3-CC15-0B76-6BCB-B89AEB3A8235}"/>
              </a:ext>
            </a:extLst>
          </p:cNvPr>
          <p:cNvSpPr/>
          <p:nvPr/>
        </p:nvSpPr>
        <p:spPr>
          <a:xfrm>
            <a:off x="502920" y="118872"/>
            <a:ext cx="9464040" cy="457200"/>
          </a:xfrm>
          <a:prstGeom prst="rect">
            <a:avLst/>
          </a:prstGeom>
          <a:noFill/>
          <a:ln/>
        </p:spPr>
        <p:txBody>
          <a:bodyPr wrap="square" lIns="0" tIns="0" rIns="0" bIns="0" rtlCol="0" anchor="ctr"/>
          <a:lstStyle/>
          <a:p>
            <a:r>
              <a:rPr lang="en-US" sz="2400" b="1" dirty="0">
                <a:solidFill>
                  <a:srgbClr val="5C4A38"/>
                </a:solidFill>
                <a:latin typeface="Georgia" pitchFamily="34" charset="0"/>
                <a:ea typeface="Georgia" pitchFamily="34" charset="-122"/>
                <a:cs typeface="Georgia" pitchFamily="34" charset="-120"/>
              </a:rPr>
              <a:t>RGB Robustness Evaluation Pipeline</a:t>
            </a:r>
            <a:endParaRPr lang="en-US" sz="2400" dirty="0"/>
          </a:p>
        </p:txBody>
      </p:sp>
      <p:sp>
        <p:nvSpPr>
          <p:cNvPr id="5" name="Text 3">
            <a:extLst>
              <a:ext uri="{FF2B5EF4-FFF2-40B4-BE49-F238E27FC236}">
                <a16:creationId xmlns:a16="http://schemas.microsoft.com/office/drawing/2014/main" id="{C67D3941-1BE0-2187-08BD-57AB2F5F8784}"/>
              </a:ext>
            </a:extLst>
          </p:cNvPr>
          <p:cNvSpPr/>
          <p:nvPr/>
        </p:nvSpPr>
        <p:spPr>
          <a:xfrm>
            <a:off x="502920" y="603504"/>
            <a:ext cx="9464040" cy="310896"/>
          </a:xfrm>
          <a:prstGeom prst="rect">
            <a:avLst/>
          </a:prstGeom>
          <a:noFill/>
          <a:ln/>
        </p:spPr>
        <p:txBody>
          <a:bodyPr wrap="square" lIns="0" tIns="0" rIns="0" bIns="0" rtlCol="0" anchor="ctr"/>
          <a:lstStyle/>
          <a:p>
            <a:r>
              <a:rPr lang="en-US" sz="1250" i="1" dirty="0" err="1">
                <a:solidFill>
                  <a:srgbClr val="7A6A5A"/>
                </a:solidFill>
                <a:latin typeface="Calibri" pitchFamily="34" charset="0"/>
                <a:ea typeface="Calibri" pitchFamily="34" charset="-122"/>
                <a:cs typeface="Calibri" pitchFamily="34" charset="-120"/>
              </a:rPr>
              <a:t>TRACe</a:t>
            </a:r>
            <a:r>
              <a:rPr lang="en-US" sz="1250" i="1" dirty="0">
                <a:solidFill>
                  <a:srgbClr val="7A6A5A"/>
                </a:solidFill>
                <a:latin typeface="Calibri" pitchFamily="34" charset="0"/>
                <a:ea typeface="Calibri" pitchFamily="34" charset="-122"/>
                <a:cs typeface="Calibri" pitchFamily="34" charset="-120"/>
              </a:rPr>
              <a:t> measures a good answer. RGB measures what the model does when retrieval fails — one failure mode at a time.</a:t>
            </a:r>
            <a:endParaRPr lang="en-US" sz="1250" dirty="0"/>
          </a:p>
        </p:txBody>
      </p:sp>
      <p:sp>
        <p:nvSpPr>
          <p:cNvPr id="6" name="Text 4">
            <a:extLst>
              <a:ext uri="{FF2B5EF4-FFF2-40B4-BE49-F238E27FC236}">
                <a16:creationId xmlns:a16="http://schemas.microsoft.com/office/drawing/2014/main" id="{9542D084-FB05-FC43-5C4B-0B36127327BC}"/>
              </a:ext>
            </a:extLst>
          </p:cNvPr>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9</a:t>
            </a:r>
            <a:endParaRPr lang="en-US" sz="1000" dirty="0"/>
          </a:p>
        </p:txBody>
      </p:sp>
      <p:sp>
        <p:nvSpPr>
          <p:cNvPr id="39" name="Shape 5">
            <a:extLst>
              <a:ext uri="{FF2B5EF4-FFF2-40B4-BE49-F238E27FC236}">
                <a16:creationId xmlns:a16="http://schemas.microsoft.com/office/drawing/2014/main" id="{F71E0824-D7DA-9443-4289-F1B45EC4602F}"/>
              </a:ext>
            </a:extLst>
          </p:cNvPr>
          <p:cNvSpPr/>
          <p:nvPr/>
        </p:nvSpPr>
        <p:spPr>
          <a:xfrm>
            <a:off x="457200" y="1298448"/>
            <a:ext cx="11338560" cy="1188720"/>
          </a:xfrm>
          <a:prstGeom prst="roundRect">
            <a:avLst>
              <a:gd name="adj" fmla="val 4615"/>
            </a:avLst>
          </a:prstGeom>
          <a:ln w="12700">
            <a:solidFill>
              <a:srgbClr val="8C6E52"/>
            </a:solidFill>
            <a:prstDash val="dash"/>
          </a:ln>
        </p:spPr>
        <p:txBody>
          <a:bodyPr/>
          <a:lstStyle/>
          <a:p>
            <a:endParaRPr lang="en-IN"/>
          </a:p>
        </p:txBody>
      </p:sp>
      <p:sp>
        <p:nvSpPr>
          <p:cNvPr id="41" name="Text 6">
            <a:extLst>
              <a:ext uri="{FF2B5EF4-FFF2-40B4-BE49-F238E27FC236}">
                <a16:creationId xmlns:a16="http://schemas.microsoft.com/office/drawing/2014/main" id="{DE09180D-ED47-99A5-BEE9-B4B513D8A2D2}"/>
              </a:ext>
            </a:extLst>
          </p:cNvPr>
          <p:cNvSpPr/>
          <p:nvPr/>
        </p:nvSpPr>
        <p:spPr>
          <a:xfrm>
            <a:off x="566928" y="1271016"/>
            <a:ext cx="5669280" cy="219456"/>
          </a:xfrm>
          <a:prstGeom prst="rect">
            <a:avLst/>
          </a:prstGeom>
          <a:noFill/>
          <a:ln/>
        </p:spPr>
        <p:txBody>
          <a:bodyPr wrap="square" lIns="0" tIns="0" rIns="0" bIns="0" rtlCol="0" anchor="ctr"/>
          <a:lstStyle/>
          <a:p>
            <a:pPr marL="0" indent="0">
              <a:buNone/>
            </a:pPr>
            <a:r>
              <a:rPr lang="en-US" sz="850" b="1" dirty="0">
                <a:solidFill>
                  <a:srgbClr val="8C6E52"/>
                </a:solidFill>
                <a:latin typeface="Calibri" pitchFamily="34" charset="0"/>
                <a:ea typeface="Calibri" pitchFamily="34" charset="-122"/>
                <a:cs typeface="Calibri" pitchFamily="34" charset="-120"/>
              </a:rPr>
              <a:t>A · TEST CONSTRUCTION — three parallel conditions, 300 English questions each</a:t>
            </a:r>
            <a:endParaRPr lang="en-US" sz="850" dirty="0"/>
          </a:p>
        </p:txBody>
      </p:sp>
      <p:sp>
        <p:nvSpPr>
          <p:cNvPr id="43" name="Text 7">
            <a:extLst>
              <a:ext uri="{FF2B5EF4-FFF2-40B4-BE49-F238E27FC236}">
                <a16:creationId xmlns:a16="http://schemas.microsoft.com/office/drawing/2014/main" id="{61F0EACB-10B3-D8B8-1668-9B4B7888941C}"/>
              </a:ext>
            </a:extLst>
          </p:cNvPr>
          <p:cNvSpPr/>
          <p:nvPr/>
        </p:nvSpPr>
        <p:spPr>
          <a:xfrm>
            <a:off x="621792" y="1536192"/>
            <a:ext cx="1737360" cy="822960"/>
          </a:xfrm>
          <a:prstGeom prst="roundRect">
            <a:avLst>
              <a:gd name="adj" fmla="val 7778"/>
            </a:avLst>
          </a:prstGeom>
          <a:solidFill>
            <a:srgbClr val="FFFFFF"/>
          </a:solidFill>
          <a:ln w="12700">
            <a:solidFill>
              <a:srgbClr val="C9B195"/>
            </a:solidFill>
          </a:ln>
        </p:spPr>
        <p:txBody>
          <a:bodyPr wrap="square" lIns="25400" tIns="25400" rIns="25400" bIns="254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RGB dataset</a:t>
            </a:r>
            <a:endParaRPr lang="en-US" sz="1000" dirty="0"/>
          </a:p>
          <a:p>
            <a:pPr marL="0" indent="0" algn="ctr">
              <a:buNone/>
            </a:pPr>
            <a:r>
              <a:rPr lang="en-US" sz="800" dirty="0">
                <a:solidFill>
                  <a:srgbClr val="7A6A5A"/>
                </a:solidFill>
                <a:latin typeface="Calibri" pitchFamily="34" charset="0"/>
                <a:ea typeface="Calibri" pitchFamily="34" charset="-122"/>
                <a:cs typeface="Calibri" pitchFamily="34" charset="-120"/>
              </a:rPr>
              <a:t>English set;</a:t>
            </a:r>
            <a:endParaRPr lang="en-US" sz="1000" dirty="0"/>
          </a:p>
          <a:p>
            <a:pPr marL="0" indent="0" algn="ctr">
              <a:buNone/>
            </a:pPr>
            <a:r>
              <a:rPr lang="en-US" sz="800" dirty="0">
                <a:solidFill>
                  <a:srgbClr val="7A6A5A"/>
                </a:solidFill>
                <a:latin typeface="Calibri" pitchFamily="34" charset="0"/>
                <a:ea typeface="Calibri" pitchFamily="34" charset="-122"/>
                <a:cs typeface="Calibri" pitchFamily="34" charset="-120"/>
              </a:rPr>
              <a:t>Chinese not used</a:t>
            </a:r>
            <a:endParaRPr lang="en-US" sz="1000" dirty="0"/>
          </a:p>
        </p:txBody>
      </p:sp>
      <p:sp>
        <p:nvSpPr>
          <p:cNvPr id="45" name="Shape 8">
            <a:extLst>
              <a:ext uri="{FF2B5EF4-FFF2-40B4-BE49-F238E27FC236}">
                <a16:creationId xmlns:a16="http://schemas.microsoft.com/office/drawing/2014/main" id="{34484AE0-7A66-69A1-C2DD-B95F8F9FB284}"/>
              </a:ext>
            </a:extLst>
          </p:cNvPr>
          <p:cNvSpPr/>
          <p:nvPr/>
        </p:nvSpPr>
        <p:spPr>
          <a:xfrm>
            <a:off x="2377440" y="1947672"/>
            <a:ext cx="146304" cy="0"/>
          </a:xfrm>
          <a:prstGeom prst="line">
            <a:avLst/>
          </a:prstGeom>
          <a:noFill/>
          <a:ln w="19050">
            <a:solidFill>
              <a:srgbClr val="8C6E52"/>
            </a:solidFill>
            <a:prstDash val="solid"/>
            <a:tailEnd type="triangle"/>
          </a:ln>
        </p:spPr>
        <p:txBody>
          <a:bodyPr/>
          <a:lstStyle/>
          <a:p>
            <a:endParaRPr lang="en-IN"/>
          </a:p>
        </p:txBody>
      </p:sp>
      <p:sp>
        <p:nvSpPr>
          <p:cNvPr id="47" name="Text 9">
            <a:extLst>
              <a:ext uri="{FF2B5EF4-FFF2-40B4-BE49-F238E27FC236}">
                <a16:creationId xmlns:a16="http://schemas.microsoft.com/office/drawing/2014/main" id="{DE791EE2-3DBF-67B1-53E2-3A303F8DA153}"/>
              </a:ext>
            </a:extLst>
          </p:cNvPr>
          <p:cNvSpPr/>
          <p:nvPr/>
        </p:nvSpPr>
        <p:spPr>
          <a:xfrm>
            <a:off x="2560320" y="1536192"/>
            <a:ext cx="1828800" cy="822960"/>
          </a:xfrm>
          <a:prstGeom prst="roundRect">
            <a:avLst>
              <a:gd name="adj" fmla="val 7778"/>
            </a:avLst>
          </a:prstGeom>
          <a:solidFill>
            <a:srgbClr val="8C6E52"/>
          </a:solidFill>
          <a:ln w="12700">
            <a:solidFill>
              <a:srgbClr val="8C6E52"/>
            </a:solid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  ·  base</a:t>
            </a:r>
            <a:endParaRPr lang="en-US" sz="1000" dirty="0"/>
          </a:p>
          <a:p>
            <a:pPr marL="0" indent="0" algn="ctr">
              <a:buNone/>
            </a:pPr>
            <a:r>
              <a:rPr lang="en-US" sz="800" dirty="0">
                <a:solidFill>
                  <a:srgbClr val="F0E7DA"/>
                </a:solidFill>
                <a:latin typeface="Calibri" pitchFamily="34" charset="0"/>
                <a:ea typeface="Calibri" pitchFamily="34" charset="-122"/>
                <a:cs typeface="Calibri" pitchFamily="34" charset="-120"/>
              </a:rPr>
              <a:t>supporting document</a:t>
            </a:r>
            <a:endParaRPr lang="en-US" sz="1000" dirty="0"/>
          </a:p>
          <a:p>
            <a:pPr marL="0" indent="0" algn="ctr">
              <a:buNone/>
            </a:pPr>
            <a:r>
              <a:rPr lang="en-US" sz="800" dirty="0">
                <a:solidFill>
                  <a:srgbClr val="F0E7DA"/>
                </a:solidFill>
                <a:latin typeface="Calibri" pitchFamily="34" charset="0"/>
                <a:ea typeface="Calibri" pitchFamily="34" charset="-122"/>
                <a:cs typeface="Calibri" pitchFamily="34" charset="-120"/>
              </a:rPr>
              <a:t>present</a:t>
            </a:r>
            <a:endParaRPr lang="en-US" sz="1000" dirty="0"/>
          </a:p>
        </p:txBody>
      </p:sp>
      <p:sp>
        <p:nvSpPr>
          <p:cNvPr id="49" name="Text 10">
            <a:extLst>
              <a:ext uri="{FF2B5EF4-FFF2-40B4-BE49-F238E27FC236}">
                <a16:creationId xmlns:a16="http://schemas.microsoft.com/office/drawing/2014/main" id="{3E44B40D-F067-B138-95EA-A577ED2D8997}"/>
              </a:ext>
            </a:extLst>
          </p:cNvPr>
          <p:cNvSpPr/>
          <p:nvPr/>
        </p:nvSpPr>
        <p:spPr>
          <a:xfrm>
            <a:off x="4498848" y="1536192"/>
            <a:ext cx="1828800" cy="822960"/>
          </a:xfrm>
          <a:prstGeom prst="roundRect">
            <a:avLst>
              <a:gd name="adj" fmla="val 7778"/>
            </a:avLst>
          </a:prstGeom>
          <a:solidFill>
            <a:srgbClr val="8C6E52"/>
          </a:solidFill>
          <a:ln w="12700">
            <a:solidFill>
              <a:srgbClr val="8C6E52"/>
            </a:solid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en-int  ·  integration</a:t>
            </a:r>
            <a:endParaRPr lang="en-US" sz="1000" dirty="0"/>
          </a:p>
          <a:p>
            <a:pPr marL="0" indent="0" algn="ctr">
              <a:buNone/>
            </a:pPr>
            <a:r>
              <a:rPr lang="en-US" sz="800" dirty="0">
                <a:solidFill>
                  <a:srgbClr val="F0E7DA"/>
                </a:solidFill>
                <a:latin typeface="Calibri" pitchFamily="34" charset="0"/>
                <a:ea typeface="Calibri" pitchFamily="34" charset="-122"/>
                <a:cs typeface="Calibri" pitchFamily="34" charset="-120"/>
              </a:rPr>
              <a:t>answer needs two or</a:t>
            </a:r>
            <a:endParaRPr lang="en-US" sz="1000" dirty="0"/>
          </a:p>
          <a:p>
            <a:pPr marL="0" indent="0" algn="ctr">
              <a:buNone/>
            </a:pPr>
            <a:r>
              <a:rPr lang="en-US" sz="800" dirty="0">
                <a:solidFill>
                  <a:srgbClr val="F0E7DA"/>
                </a:solidFill>
                <a:latin typeface="Calibri" pitchFamily="34" charset="0"/>
                <a:ea typeface="Calibri" pitchFamily="34" charset="-122"/>
                <a:cs typeface="Calibri" pitchFamily="34" charset="-120"/>
              </a:rPr>
              <a:t>more documents</a:t>
            </a:r>
            <a:endParaRPr lang="en-US" sz="1000" dirty="0"/>
          </a:p>
        </p:txBody>
      </p:sp>
      <p:sp>
        <p:nvSpPr>
          <p:cNvPr id="51" name="Text 11">
            <a:extLst>
              <a:ext uri="{FF2B5EF4-FFF2-40B4-BE49-F238E27FC236}">
                <a16:creationId xmlns:a16="http://schemas.microsoft.com/office/drawing/2014/main" id="{1770C412-EE7C-6787-67C6-8E00EDAD55FE}"/>
              </a:ext>
            </a:extLst>
          </p:cNvPr>
          <p:cNvSpPr/>
          <p:nvPr/>
        </p:nvSpPr>
        <p:spPr>
          <a:xfrm>
            <a:off x="6437376" y="1536192"/>
            <a:ext cx="1965960" cy="822960"/>
          </a:xfrm>
          <a:prstGeom prst="roundRect">
            <a:avLst>
              <a:gd name="adj" fmla="val 7778"/>
            </a:avLst>
          </a:prstGeom>
          <a:solidFill>
            <a:srgbClr val="B5714B"/>
          </a:solidFill>
          <a:ln w="12700">
            <a:solidFill>
              <a:srgbClr val="B5714B"/>
            </a:solid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en-fact  ·  counterfactual</a:t>
            </a:r>
            <a:endParaRPr lang="en-US" sz="1000" dirty="0"/>
          </a:p>
          <a:p>
            <a:pPr marL="0" indent="0" algn="ctr">
              <a:buNone/>
            </a:pPr>
            <a:r>
              <a:rPr lang="en-US" sz="800" dirty="0">
                <a:solidFill>
                  <a:srgbClr val="F5DCCB"/>
                </a:solidFill>
                <a:latin typeface="Calibri" pitchFamily="34" charset="0"/>
                <a:ea typeface="Calibri" pitchFamily="34" charset="-122"/>
                <a:cs typeface="Calibri" pitchFamily="34" charset="-120"/>
              </a:rPr>
              <a:t>a fact inside a retrieved</a:t>
            </a:r>
            <a:endParaRPr lang="en-US" sz="1000" dirty="0"/>
          </a:p>
          <a:p>
            <a:pPr marL="0" indent="0" algn="ctr">
              <a:buNone/>
            </a:pPr>
            <a:r>
              <a:rPr lang="en-US" sz="800" dirty="0">
                <a:solidFill>
                  <a:srgbClr val="F5DCCB"/>
                </a:solidFill>
                <a:latin typeface="Calibri" pitchFamily="34" charset="0"/>
                <a:ea typeface="Calibri" pitchFamily="34" charset="-122"/>
                <a:cs typeface="Calibri" pitchFamily="34" charset="-120"/>
              </a:rPr>
              <a:t>document is corrupted</a:t>
            </a:r>
            <a:endParaRPr lang="en-US" sz="1000" dirty="0"/>
          </a:p>
        </p:txBody>
      </p:sp>
      <p:sp>
        <p:nvSpPr>
          <p:cNvPr id="53" name="Shape 12">
            <a:extLst>
              <a:ext uri="{FF2B5EF4-FFF2-40B4-BE49-F238E27FC236}">
                <a16:creationId xmlns:a16="http://schemas.microsoft.com/office/drawing/2014/main" id="{0CF6780E-C6FC-8EA4-33FE-6008A02DC8FC}"/>
              </a:ext>
            </a:extLst>
          </p:cNvPr>
          <p:cNvSpPr/>
          <p:nvPr/>
        </p:nvSpPr>
        <p:spPr>
          <a:xfrm>
            <a:off x="8439912" y="1947672"/>
            <a:ext cx="146304" cy="0"/>
          </a:xfrm>
          <a:prstGeom prst="line">
            <a:avLst/>
          </a:prstGeom>
          <a:noFill/>
          <a:ln w="19050">
            <a:solidFill>
              <a:srgbClr val="8C6E52"/>
            </a:solidFill>
            <a:prstDash val="solid"/>
            <a:tailEnd type="triangle"/>
          </a:ln>
        </p:spPr>
        <p:txBody>
          <a:bodyPr/>
          <a:lstStyle/>
          <a:p>
            <a:endParaRPr lang="en-IN"/>
          </a:p>
        </p:txBody>
      </p:sp>
      <p:sp>
        <p:nvSpPr>
          <p:cNvPr id="55" name="Text 13">
            <a:extLst>
              <a:ext uri="{FF2B5EF4-FFF2-40B4-BE49-F238E27FC236}">
                <a16:creationId xmlns:a16="http://schemas.microsoft.com/office/drawing/2014/main" id="{D399B139-C265-EB76-B69E-6CF608C0C8E6}"/>
              </a:ext>
            </a:extLst>
          </p:cNvPr>
          <p:cNvSpPr/>
          <p:nvPr/>
        </p:nvSpPr>
        <p:spPr>
          <a:xfrm>
            <a:off x="8641080" y="1536192"/>
            <a:ext cx="1463040" cy="822960"/>
          </a:xfrm>
          <a:prstGeom prst="roundRect">
            <a:avLst>
              <a:gd name="adj" fmla="val 7778"/>
            </a:avLst>
          </a:prstGeom>
          <a:solidFill>
            <a:srgbClr val="4A6B4F"/>
          </a:solidFill>
          <a:ln w="12700">
            <a:solidFill>
              <a:srgbClr val="4A6B4F"/>
            </a:solid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Noise injection</a:t>
            </a:r>
            <a:endParaRPr lang="en-US" sz="1000" dirty="0"/>
          </a:p>
          <a:p>
            <a:pPr marL="0" indent="0" algn="ctr">
              <a:buNone/>
            </a:pPr>
            <a:r>
              <a:rPr lang="en-US" sz="800" dirty="0">
                <a:solidFill>
                  <a:srgbClr val="E3EDE0"/>
                </a:solidFill>
                <a:latin typeface="Calibri" pitchFamily="34" charset="0"/>
                <a:ea typeface="Calibri" pitchFamily="34" charset="-122"/>
                <a:cs typeface="Calibri" pitchFamily="34" charset="-120"/>
              </a:rPr>
              <a:t>mix in distractors</a:t>
            </a:r>
            <a:endParaRPr lang="en-US" sz="1000" dirty="0"/>
          </a:p>
          <a:p>
            <a:pPr marL="0" indent="0" algn="ctr">
              <a:buNone/>
            </a:pPr>
            <a:r>
              <a:rPr lang="en-US" sz="800" dirty="0">
                <a:solidFill>
                  <a:srgbClr val="E3EDE0"/>
                </a:solidFill>
                <a:latin typeface="Calibri" pitchFamily="34" charset="0"/>
                <a:ea typeface="Calibri" pitchFamily="34" charset="-122"/>
                <a:cs typeface="Calibri" pitchFamily="34" charset="-120"/>
              </a:rPr>
              <a:t>at 0 → 0.8</a:t>
            </a:r>
            <a:endParaRPr lang="en-US" sz="1000" dirty="0"/>
          </a:p>
        </p:txBody>
      </p:sp>
      <p:sp>
        <p:nvSpPr>
          <p:cNvPr id="57" name="Shape 14">
            <a:extLst>
              <a:ext uri="{FF2B5EF4-FFF2-40B4-BE49-F238E27FC236}">
                <a16:creationId xmlns:a16="http://schemas.microsoft.com/office/drawing/2014/main" id="{AE23C288-7E95-31C6-E34F-C3525C8DAEBE}"/>
              </a:ext>
            </a:extLst>
          </p:cNvPr>
          <p:cNvSpPr/>
          <p:nvPr/>
        </p:nvSpPr>
        <p:spPr>
          <a:xfrm>
            <a:off x="10122408" y="1947672"/>
            <a:ext cx="146304" cy="0"/>
          </a:xfrm>
          <a:prstGeom prst="line">
            <a:avLst/>
          </a:prstGeom>
          <a:noFill/>
          <a:ln w="19050">
            <a:solidFill>
              <a:srgbClr val="8C6E52"/>
            </a:solidFill>
            <a:prstDash val="solid"/>
            <a:tailEnd type="triangle"/>
          </a:ln>
        </p:spPr>
        <p:txBody>
          <a:bodyPr/>
          <a:lstStyle/>
          <a:p>
            <a:endParaRPr lang="en-IN"/>
          </a:p>
        </p:txBody>
      </p:sp>
      <p:sp>
        <p:nvSpPr>
          <p:cNvPr id="59" name="Text 15">
            <a:extLst>
              <a:ext uri="{FF2B5EF4-FFF2-40B4-BE49-F238E27FC236}">
                <a16:creationId xmlns:a16="http://schemas.microsoft.com/office/drawing/2014/main" id="{71049703-81A2-1514-6A7D-BC9078716F87}"/>
              </a:ext>
            </a:extLst>
          </p:cNvPr>
          <p:cNvSpPr/>
          <p:nvPr/>
        </p:nvSpPr>
        <p:spPr>
          <a:xfrm>
            <a:off x="10314432" y="1536192"/>
            <a:ext cx="1316736" cy="822960"/>
          </a:xfrm>
          <a:prstGeom prst="roundRect">
            <a:avLst>
              <a:gd name="adj" fmla="val 7778"/>
            </a:avLst>
          </a:prstGeom>
          <a:solidFill>
            <a:srgbClr val="FFFFFF"/>
          </a:solidFill>
          <a:ln w="12700">
            <a:solidFill>
              <a:srgbClr val="C9B195"/>
            </a:solidFill>
          </a:ln>
        </p:spPr>
        <p:txBody>
          <a:bodyPr wrap="square" lIns="25400" tIns="25400" rIns="25400" bIns="254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Document set</a:t>
            </a:r>
            <a:endParaRPr lang="en-US" sz="1000" dirty="0"/>
          </a:p>
          <a:p>
            <a:pPr marL="0" indent="0" algn="ctr">
              <a:buNone/>
            </a:pPr>
            <a:r>
              <a:rPr lang="en-US" sz="800" dirty="0">
                <a:solidFill>
                  <a:srgbClr val="7A6A5A"/>
                </a:solidFill>
                <a:latin typeface="Calibri" pitchFamily="34" charset="0"/>
                <a:ea typeface="Calibri" pitchFamily="34" charset="-122"/>
                <a:cs typeface="Calibri" pitchFamily="34" charset="-120"/>
              </a:rPr>
              <a:t>per question,</a:t>
            </a:r>
            <a:endParaRPr lang="en-US" sz="1000" dirty="0"/>
          </a:p>
          <a:p>
            <a:pPr marL="0" indent="0" algn="ctr">
              <a:buNone/>
            </a:pPr>
            <a:r>
              <a:rPr lang="en-US" sz="800" dirty="0">
                <a:solidFill>
                  <a:srgbClr val="7A6A5A"/>
                </a:solidFill>
                <a:latin typeface="Calibri" pitchFamily="34" charset="0"/>
                <a:ea typeface="Calibri" pitchFamily="34" charset="-122"/>
                <a:cs typeface="Calibri" pitchFamily="34" charset="-120"/>
              </a:rPr>
              <a:t>per condition</a:t>
            </a:r>
            <a:endParaRPr lang="en-US" sz="1000" dirty="0"/>
          </a:p>
        </p:txBody>
      </p:sp>
      <p:sp>
        <p:nvSpPr>
          <p:cNvPr id="61" name="Shape 16">
            <a:extLst>
              <a:ext uri="{FF2B5EF4-FFF2-40B4-BE49-F238E27FC236}">
                <a16:creationId xmlns:a16="http://schemas.microsoft.com/office/drawing/2014/main" id="{D398700D-6A7F-6C7D-86AE-86F613B345BC}"/>
              </a:ext>
            </a:extLst>
          </p:cNvPr>
          <p:cNvSpPr/>
          <p:nvPr/>
        </p:nvSpPr>
        <p:spPr>
          <a:xfrm>
            <a:off x="457200" y="2670048"/>
            <a:ext cx="11338560" cy="1078992"/>
          </a:xfrm>
          <a:prstGeom prst="roundRect">
            <a:avLst>
              <a:gd name="adj" fmla="val 5085"/>
            </a:avLst>
          </a:prstGeom>
          <a:ln w="12700">
            <a:solidFill>
              <a:srgbClr val="4A6B4F"/>
            </a:solidFill>
            <a:prstDash val="dash"/>
          </a:ln>
        </p:spPr>
        <p:txBody>
          <a:bodyPr/>
          <a:lstStyle/>
          <a:p>
            <a:endParaRPr lang="en-IN"/>
          </a:p>
        </p:txBody>
      </p:sp>
      <p:sp>
        <p:nvSpPr>
          <p:cNvPr id="63" name="Text 17">
            <a:extLst>
              <a:ext uri="{FF2B5EF4-FFF2-40B4-BE49-F238E27FC236}">
                <a16:creationId xmlns:a16="http://schemas.microsoft.com/office/drawing/2014/main" id="{716C48AA-B60C-8A6D-264D-2ED3D8FBD0B9}"/>
              </a:ext>
            </a:extLst>
          </p:cNvPr>
          <p:cNvSpPr/>
          <p:nvPr/>
        </p:nvSpPr>
        <p:spPr>
          <a:xfrm>
            <a:off x="566928" y="2642616"/>
            <a:ext cx="5669280" cy="219456"/>
          </a:xfrm>
          <a:prstGeom prst="rect">
            <a:avLst/>
          </a:prstGeom>
          <a:noFill/>
          <a:ln/>
        </p:spPr>
        <p:txBody>
          <a:bodyPr wrap="square" lIns="0" tIns="0" rIns="0" bIns="0" rtlCol="0" anchor="ctr"/>
          <a:lstStyle/>
          <a:p>
            <a:pPr marL="0" indent="0">
              <a:buNone/>
            </a:pPr>
            <a:r>
              <a:rPr lang="en-US" sz="850" b="1" dirty="0">
                <a:solidFill>
                  <a:srgbClr val="4A6B4F"/>
                </a:solidFill>
                <a:latin typeface="Calibri" pitchFamily="34" charset="0"/>
                <a:ea typeface="Calibri" pitchFamily="34" charset="-122"/>
                <a:cs typeface="Calibri" pitchFamily="34" charset="-120"/>
              </a:rPr>
              <a:t>B · GENERATION  (five models, identical prompt)</a:t>
            </a:r>
            <a:endParaRPr lang="en-US" sz="850" dirty="0"/>
          </a:p>
        </p:txBody>
      </p:sp>
      <p:sp>
        <p:nvSpPr>
          <p:cNvPr id="65" name="Text 18">
            <a:extLst>
              <a:ext uri="{FF2B5EF4-FFF2-40B4-BE49-F238E27FC236}">
                <a16:creationId xmlns:a16="http://schemas.microsoft.com/office/drawing/2014/main" id="{90AFC019-AD43-DCFE-EF5E-74B98C8EDCF6}"/>
              </a:ext>
            </a:extLst>
          </p:cNvPr>
          <p:cNvSpPr/>
          <p:nvPr/>
        </p:nvSpPr>
        <p:spPr>
          <a:xfrm>
            <a:off x="621792" y="2871216"/>
            <a:ext cx="2651760" cy="749808"/>
          </a:xfrm>
          <a:prstGeom prst="roundRect">
            <a:avLst>
              <a:gd name="adj" fmla="val 8537"/>
            </a:avLst>
          </a:prstGeom>
          <a:solidFill>
            <a:srgbClr val="FFFFFF"/>
          </a:solidFill>
          <a:ln w="12700">
            <a:solidFill>
              <a:srgbClr val="C9B195"/>
            </a:solidFill>
          </a:ln>
        </p:spPr>
        <p:txBody>
          <a:bodyPr wrap="square" lIns="25400" tIns="25400" rIns="25400" bIns="254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Question + documents</a:t>
            </a:r>
            <a:endParaRPr lang="en-US" sz="1000" dirty="0"/>
          </a:p>
          <a:p>
            <a:pPr marL="0" indent="0" algn="ctr">
              <a:buNone/>
            </a:pPr>
            <a:r>
              <a:rPr lang="en-US" sz="800" dirty="0">
                <a:solidFill>
                  <a:srgbClr val="7A6A5A"/>
                </a:solidFill>
                <a:latin typeface="Calibri" pitchFamily="34" charset="0"/>
                <a:ea typeface="Calibri" pitchFamily="34" charset="-122"/>
                <a:cs typeface="Calibri" pitchFamily="34" charset="-120"/>
              </a:rPr>
              <a:t>assembled per condition</a:t>
            </a:r>
            <a:endParaRPr lang="en-US" sz="1000" dirty="0"/>
          </a:p>
        </p:txBody>
      </p:sp>
      <p:sp>
        <p:nvSpPr>
          <p:cNvPr id="67" name="Shape 19">
            <a:extLst>
              <a:ext uri="{FF2B5EF4-FFF2-40B4-BE49-F238E27FC236}">
                <a16:creationId xmlns:a16="http://schemas.microsoft.com/office/drawing/2014/main" id="{F25C58FB-9AC7-C006-9A5F-B529FB4B9DD4}"/>
              </a:ext>
            </a:extLst>
          </p:cNvPr>
          <p:cNvSpPr/>
          <p:nvPr/>
        </p:nvSpPr>
        <p:spPr>
          <a:xfrm>
            <a:off x="3291840" y="3246120"/>
            <a:ext cx="146304" cy="0"/>
          </a:xfrm>
          <a:prstGeom prst="line">
            <a:avLst/>
          </a:prstGeom>
          <a:noFill/>
          <a:ln w="19050">
            <a:solidFill>
              <a:srgbClr val="8C6E52"/>
            </a:solidFill>
            <a:prstDash val="solid"/>
            <a:tailEnd type="triangle"/>
          </a:ln>
        </p:spPr>
        <p:txBody>
          <a:bodyPr/>
          <a:lstStyle/>
          <a:p>
            <a:endParaRPr lang="en-IN"/>
          </a:p>
        </p:txBody>
      </p:sp>
      <p:sp>
        <p:nvSpPr>
          <p:cNvPr id="69" name="Text 20">
            <a:extLst>
              <a:ext uri="{FF2B5EF4-FFF2-40B4-BE49-F238E27FC236}">
                <a16:creationId xmlns:a16="http://schemas.microsoft.com/office/drawing/2014/main" id="{C62D9E57-017F-9355-6A66-4B0615C8E991}"/>
              </a:ext>
            </a:extLst>
          </p:cNvPr>
          <p:cNvSpPr/>
          <p:nvPr/>
        </p:nvSpPr>
        <p:spPr>
          <a:xfrm>
            <a:off x="3474720" y="2871216"/>
            <a:ext cx="3840480" cy="749808"/>
          </a:xfrm>
          <a:prstGeom prst="roundRect">
            <a:avLst>
              <a:gd name="adj" fmla="val 8537"/>
            </a:avLst>
          </a:prstGeom>
          <a:solidFill>
            <a:srgbClr val="8C6E52"/>
          </a:solidFill>
          <a:ln w="12700">
            <a:solidFill>
              <a:srgbClr val="8C6E52"/>
            </a:solid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Generator under test</a:t>
            </a:r>
            <a:endParaRPr lang="en-US" sz="1000" dirty="0"/>
          </a:p>
          <a:p>
            <a:pPr marL="0" indent="0" algn="ctr">
              <a:buNone/>
            </a:pPr>
            <a:r>
              <a:rPr lang="en-US" sz="800" dirty="0">
                <a:solidFill>
                  <a:srgbClr val="F0E7DA"/>
                </a:solidFill>
                <a:latin typeface="Calibri" pitchFamily="34" charset="0"/>
                <a:ea typeface="Calibri" pitchFamily="34" charset="-122"/>
                <a:cs typeface="Calibri" pitchFamily="34" charset="-120"/>
              </a:rPr>
              <a:t>llama-3.3-70b · qwen2.5-72b · gpt-oss-120b · gpt-oss-20b · llama-3.1-8b</a:t>
            </a:r>
            <a:endParaRPr lang="en-US" sz="1000" dirty="0"/>
          </a:p>
        </p:txBody>
      </p:sp>
      <p:sp>
        <p:nvSpPr>
          <p:cNvPr id="71" name="Shape 21">
            <a:extLst>
              <a:ext uri="{FF2B5EF4-FFF2-40B4-BE49-F238E27FC236}">
                <a16:creationId xmlns:a16="http://schemas.microsoft.com/office/drawing/2014/main" id="{8C70A8AF-3A19-39ED-D851-CFAE58075AD1}"/>
              </a:ext>
            </a:extLst>
          </p:cNvPr>
          <p:cNvSpPr/>
          <p:nvPr/>
        </p:nvSpPr>
        <p:spPr>
          <a:xfrm>
            <a:off x="7333488" y="3246120"/>
            <a:ext cx="146304" cy="0"/>
          </a:xfrm>
          <a:prstGeom prst="line">
            <a:avLst/>
          </a:prstGeom>
          <a:noFill/>
          <a:ln w="19050">
            <a:solidFill>
              <a:srgbClr val="8C6E52"/>
            </a:solidFill>
            <a:prstDash val="solid"/>
            <a:tailEnd type="triangle"/>
          </a:ln>
        </p:spPr>
        <p:txBody>
          <a:bodyPr/>
          <a:lstStyle/>
          <a:p>
            <a:endParaRPr lang="en-IN"/>
          </a:p>
        </p:txBody>
      </p:sp>
      <p:sp>
        <p:nvSpPr>
          <p:cNvPr id="73" name="Text 22">
            <a:extLst>
              <a:ext uri="{FF2B5EF4-FFF2-40B4-BE49-F238E27FC236}">
                <a16:creationId xmlns:a16="http://schemas.microsoft.com/office/drawing/2014/main" id="{A9EAF33F-D4E4-CB5F-E0F4-121BAF3416BE}"/>
              </a:ext>
            </a:extLst>
          </p:cNvPr>
          <p:cNvSpPr/>
          <p:nvPr/>
        </p:nvSpPr>
        <p:spPr>
          <a:xfrm>
            <a:off x="7516368" y="2871216"/>
            <a:ext cx="2103120" cy="749808"/>
          </a:xfrm>
          <a:prstGeom prst="roundRect">
            <a:avLst>
              <a:gd name="adj" fmla="val 8537"/>
            </a:avLst>
          </a:prstGeom>
          <a:solidFill>
            <a:srgbClr val="5C4A38"/>
          </a:solidFill>
          <a:ln w="12700">
            <a:solidFill>
              <a:srgbClr val="5C4A38"/>
            </a:solidFill>
          </a:ln>
        </p:spPr>
        <p:txBody>
          <a:bodyPr wrap="square" lIns="25400" tIns="25400" rIns="25400" bIns="2540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Verbatim RGB prompt</a:t>
            </a:r>
            <a:endParaRPr lang="en-US" sz="1000" dirty="0"/>
          </a:p>
          <a:p>
            <a:pPr marL="0" indent="0" algn="ctr">
              <a:buNone/>
            </a:pPr>
            <a:r>
              <a:rPr lang="en-US" sz="800" dirty="0">
                <a:solidFill>
                  <a:srgbClr val="C9B195"/>
                </a:solidFill>
                <a:latin typeface="Calibri" pitchFamily="34" charset="0"/>
                <a:ea typeface="Calibri" pitchFamily="34" charset="-122"/>
                <a:cs typeface="Calibri" pitchFamily="34" charset="-120"/>
              </a:rPr>
              <a:t>never reworded — worth</a:t>
            </a:r>
            <a:endParaRPr lang="en-US" sz="1000" dirty="0"/>
          </a:p>
          <a:p>
            <a:pPr marL="0" indent="0" algn="ctr">
              <a:buNone/>
            </a:pPr>
            <a:r>
              <a:rPr lang="en-US" sz="800" dirty="0">
                <a:solidFill>
                  <a:srgbClr val="C9B195"/>
                </a:solidFill>
                <a:latin typeface="Calibri" pitchFamily="34" charset="0"/>
                <a:ea typeface="Calibri" pitchFamily="34" charset="-122"/>
                <a:cs typeface="Calibri" pitchFamily="34" charset="-120"/>
              </a:rPr>
              <a:t>up to 44.7 points</a:t>
            </a:r>
            <a:endParaRPr lang="en-US" sz="1000" dirty="0"/>
          </a:p>
        </p:txBody>
      </p:sp>
      <p:sp>
        <p:nvSpPr>
          <p:cNvPr id="75" name="Shape 23">
            <a:extLst>
              <a:ext uri="{FF2B5EF4-FFF2-40B4-BE49-F238E27FC236}">
                <a16:creationId xmlns:a16="http://schemas.microsoft.com/office/drawing/2014/main" id="{388A9E35-2FD0-C180-EA8A-9164FCE0B66C}"/>
              </a:ext>
            </a:extLst>
          </p:cNvPr>
          <p:cNvSpPr/>
          <p:nvPr/>
        </p:nvSpPr>
        <p:spPr>
          <a:xfrm>
            <a:off x="9619488" y="3246120"/>
            <a:ext cx="146304" cy="0"/>
          </a:xfrm>
          <a:prstGeom prst="line">
            <a:avLst/>
          </a:prstGeom>
          <a:noFill/>
          <a:ln w="19050">
            <a:solidFill>
              <a:srgbClr val="8C6E52"/>
            </a:solidFill>
            <a:prstDash val="solid"/>
            <a:tailEnd type="triangle"/>
          </a:ln>
        </p:spPr>
        <p:txBody>
          <a:bodyPr/>
          <a:lstStyle/>
          <a:p>
            <a:endParaRPr lang="en-IN"/>
          </a:p>
        </p:txBody>
      </p:sp>
      <p:sp>
        <p:nvSpPr>
          <p:cNvPr id="77" name="Text 24">
            <a:extLst>
              <a:ext uri="{FF2B5EF4-FFF2-40B4-BE49-F238E27FC236}">
                <a16:creationId xmlns:a16="http://schemas.microsoft.com/office/drawing/2014/main" id="{2BC3D595-1B3F-90F6-47CD-1D9DDC835DAA}"/>
              </a:ext>
            </a:extLst>
          </p:cNvPr>
          <p:cNvSpPr/>
          <p:nvPr/>
        </p:nvSpPr>
        <p:spPr>
          <a:xfrm>
            <a:off x="9802368" y="2871216"/>
            <a:ext cx="1828800" cy="749808"/>
          </a:xfrm>
          <a:prstGeom prst="roundRect">
            <a:avLst>
              <a:gd name="adj" fmla="val 8537"/>
            </a:avLst>
          </a:prstGeom>
          <a:solidFill>
            <a:srgbClr val="FFFFFF"/>
          </a:solidFill>
          <a:ln w="12700">
            <a:solidFill>
              <a:srgbClr val="C9B195"/>
            </a:solidFill>
          </a:ln>
        </p:spPr>
        <p:txBody>
          <a:bodyPr wrap="square" lIns="25400" tIns="25400" rIns="25400" bIns="25400" rtlCol="0" anchor="ctr"/>
          <a:lstStyle/>
          <a:p>
            <a:pPr marL="0" indent="0" algn="ctr">
              <a:buNone/>
            </a:pPr>
            <a:r>
              <a:rPr lang="en-US" sz="1000" b="1" dirty="0">
                <a:solidFill>
                  <a:srgbClr val="5C4A38"/>
                </a:solidFill>
                <a:latin typeface="Calibri" pitchFamily="34" charset="0"/>
                <a:ea typeface="Calibri" pitchFamily="34" charset="-122"/>
                <a:cs typeface="Calibri" pitchFamily="34" charset="-120"/>
              </a:rPr>
              <a:t>Model answer</a:t>
            </a:r>
            <a:endParaRPr lang="en-US" sz="1000" dirty="0"/>
          </a:p>
          <a:p>
            <a:pPr marL="0" indent="0" algn="ctr">
              <a:buNone/>
            </a:pPr>
            <a:r>
              <a:rPr lang="en-US" sz="800" dirty="0">
                <a:solidFill>
                  <a:srgbClr val="7A6A5A"/>
                </a:solidFill>
                <a:latin typeface="Calibri" pitchFamily="34" charset="0"/>
                <a:ea typeface="Calibri" pitchFamily="34" charset="-122"/>
                <a:cs typeface="Calibri" pitchFamily="34" charset="-120"/>
              </a:rPr>
              <a:t>or a refusal</a:t>
            </a:r>
            <a:endParaRPr lang="en-US" sz="1000" dirty="0"/>
          </a:p>
        </p:txBody>
      </p:sp>
      <p:sp>
        <p:nvSpPr>
          <p:cNvPr id="79" name="Shape 25">
            <a:extLst>
              <a:ext uri="{FF2B5EF4-FFF2-40B4-BE49-F238E27FC236}">
                <a16:creationId xmlns:a16="http://schemas.microsoft.com/office/drawing/2014/main" id="{47634D01-F2E1-0FAA-409A-BA5789874990}"/>
              </a:ext>
            </a:extLst>
          </p:cNvPr>
          <p:cNvSpPr/>
          <p:nvPr/>
        </p:nvSpPr>
        <p:spPr>
          <a:xfrm>
            <a:off x="457200" y="3931920"/>
            <a:ext cx="11338560" cy="1481328"/>
          </a:xfrm>
          <a:prstGeom prst="roundRect">
            <a:avLst>
              <a:gd name="adj" fmla="val 3704"/>
            </a:avLst>
          </a:prstGeom>
          <a:ln w="12700">
            <a:solidFill>
              <a:srgbClr val="B5714B"/>
            </a:solidFill>
            <a:prstDash val="dash"/>
          </a:ln>
        </p:spPr>
        <p:txBody>
          <a:bodyPr/>
          <a:lstStyle/>
          <a:p>
            <a:endParaRPr lang="en-IN"/>
          </a:p>
        </p:txBody>
      </p:sp>
      <p:sp>
        <p:nvSpPr>
          <p:cNvPr id="81" name="Text 26">
            <a:extLst>
              <a:ext uri="{FF2B5EF4-FFF2-40B4-BE49-F238E27FC236}">
                <a16:creationId xmlns:a16="http://schemas.microsoft.com/office/drawing/2014/main" id="{02AA570D-75EE-83AA-8775-DD6149721C78}"/>
              </a:ext>
            </a:extLst>
          </p:cNvPr>
          <p:cNvSpPr/>
          <p:nvPr/>
        </p:nvSpPr>
        <p:spPr>
          <a:xfrm>
            <a:off x="566928" y="3904488"/>
            <a:ext cx="5669280" cy="219456"/>
          </a:xfrm>
          <a:prstGeom prst="rect">
            <a:avLst/>
          </a:prstGeom>
          <a:noFill/>
          <a:ln/>
        </p:spPr>
        <p:txBody>
          <a:bodyPr wrap="square" lIns="0" tIns="0" rIns="0" bIns="0" rtlCol="0" anchor="ctr"/>
          <a:lstStyle/>
          <a:p>
            <a:pPr marL="0" indent="0">
              <a:buNone/>
            </a:pPr>
            <a:r>
              <a:rPr lang="en-US" sz="850" b="1" dirty="0">
                <a:solidFill>
                  <a:srgbClr val="B5714B"/>
                </a:solidFill>
                <a:latin typeface="Calibri" pitchFamily="34" charset="0"/>
                <a:ea typeface="Calibri" pitchFamily="34" charset="-122"/>
                <a:cs typeface="Calibri" pitchFamily="34" charset="-120"/>
              </a:rPr>
              <a:t>C · SCORING  (one metric per ability — a poor score points at a specific weakness)</a:t>
            </a:r>
            <a:endParaRPr lang="en-US" sz="850" dirty="0"/>
          </a:p>
        </p:txBody>
      </p:sp>
      <p:sp>
        <p:nvSpPr>
          <p:cNvPr id="83" name="Text 27">
            <a:extLst>
              <a:ext uri="{FF2B5EF4-FFF2-40B4-BE49-F238E27FC236}">
                <a16:creationId xmlns:a16="http://schemas.microsoft.com/office/drawing/2014/main" id="{8F46EA5E-07EB-5D93-757D-A0317DF85C71}"/>
              </a:ext>
            </a:extLst>
          </p:cNvPr>
          <p:cNvSpPr/>
          <p:nvPr/>
        </p:nvSpPr>
        <p:spPr>
          <a:xfrm>
            <a:off x="621792" y="4169664"/>
            <a:ext cx="2624328" cy="566928"/>
          </a:xfrm>
          <a:prstGeom prst="roundRect">
            <a:avLst>
              <a:gd name="adj" fmla="val 11290"/>
            </a:avLst>
          </a:prstGeom>
          <a:solidFill>
            <a:srgbClr val="4A6B4F"/>
          </a:solidFill>
          <a:ln w="12700">
            <a:solidFill>
              <a:srgbClr val="4A6B4F"/>
            </a:solid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Noise robustness</a:t>
            </a:r>
            <a:endParaRPr lang="en-US" sz="950" dirty="0"/>
          </a:p>
          <a:p>
            <a:pPr marL="0" indent="0" algn="ctr">
              <a:buNone/>
            </a:pPr>
            <a:r>
              <a:rPr lang="en-US" sz="800" dirty="0">
                <a:solidFill>
                  <a:srgbClr val="E3EDE0"/>
                </a:solidFill>
                <a:latin typeface="Calibri" pitchFamily="34" charset="0"/>
                <a:ea typeface="Calibri" pitchFamily="34" charset="-122"/>
                <a:cs typeface="Calibri" pitchFamily="34" charset="-120"/>
              </a:rPr>
              <a:t>Acc = correct ÷ total, at each noise level</a:t>
            </a:r>
            <a:endParaRPr lang="en-US" sz="950" dirty="0"/>
          </a:p>
        </p:txBody>
      </p:sp>
      <p:sp>
        <p:nvSpPr>
          <p:cNvPr id="85" name="Text 28">
            <a:extLst>
              <a:ext uri="{FF2B5EF4-FFF2-40B4-BE49-F238E27FC236}">
                <a16:creationId xmlns:a16="http://schemas.microsoft.com/office/drawing/2014/main" id="{EC2E515F-669C-FF3A-8A3F-B0D6D7332F29}"/>
              </a:ext>
            </a:extLst>
          </p:cNvPr>
          <p:cNvSpPr/>
          <p:nvPr/>
        </p:nvSpPr>
        <p:spPr>
          <a:xfrm>
            <a:off x="3429000" y="4169664"/>
            <a:ext cx="2624328" cy="566928"/>
          </a:xfrm>
          <a:prstGeom prst="roundRect">
            <a:avLst>
              <a:gd name="adj" fmla="val 11290"/>
            </a:avLst>
          </a:prstGeom>
          <a:solidFill>
            <a:srgbClr val="7D9B76"/>
          </a:solidFill>
          <a:ln w="12700">
            <a:solidFill>
              <a:srgbClr val="7D9B76"/>
            </a:solid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Negative rejection</a:t>
            </a:r>
            <a:endParaRPr lang="en-US" sz="950" dirty="0"/>
          </a:p>
          <a:p>
            <a:pPr marL="0" indent="0" algn="ctr">
              <a:buNone/>
            </a:pPr>
            <a:r>
              <a:rPr lang="en-US" sz="800" dirty="0">
                <a:solidFill>
                  <a:srgbClr val="E3EDE0"/>
                </a:solidFill>
                <a:latin typeface="Calibri" pitchFamily="34" charset="0"/>
                <a:ea typeface="Calibri" pitchFamily="34" charset="-122"/>
                <a:cs typeface="Calibri" pitchFamily="34" charset="-120"/>
              </a:rPr>
              <a:t>Rej = refusals ÷ unanswerable questions</a:t>
            </a:r>
            <a:endParaRPr lang="en-US" sz="950" dirty="0"/>
          </a:p>
        </p:txBody>
      </p:sp>
      <p:sp>
        <p:nvSpPr>
          <p:cNvPr id="87" name="Text 29">
            <a:extLst>
              <a:ext uri="{FF2B5EF4-FFF2-40B4-BE49-F238E27FC236}">
                <a16:creationId xmlns:a16="http://schemas.microsoft.com/office/drawing/2014/main" id="{526911C1-2327-7D35-6A28-645C6D6C555B}"/>
              </a:ext>
            </a:extLst>
          </p:cNvPr>
          <p:cNvSpPr/>
          <p:nvPr/>
        </p:nvSpPr>
        <p:spPr>
          <a:xfrm>
            <a:off x="6236208" y="4169664"/>
            <a:ext cx="2624328" cy="566928"/>
          </a:xfrm>
          <a:prstGeom prst="roundRect">
            <a:avLst>
              <a:gd name="adj" fmla="val 11290"/>
            </a:avLst>
          </a:prstGeom>
          <a:solidFill>
            <a:srgbClr val="8C6E52"/>
          </a:solidFill>
          <a:ln w="12700">
            <a:solidFill>
              <a:srgbClr val="8C6E52"/>
            </a:solid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Information integration</a:t>
            </a:r>
            <a:endParaRPr lang="en-US" sz="950" dirty="0"/>
          </a:p>
          <a:p>
            <a:pPr marL="0" indent="0" algn="ctr">
              <a:buNone/>
            </a:pPr>
            <a:r>
              <a:rPr lang="en-US" sz="800" dirty="0">
                <a:solidFill>
                  <a:srgbClr val="F0E7DA"/>
                </a:solidFill>
                <a:latin typeface="Calibri" pitchFamily="34" charset="0"/>
                <a:ea typeface="Calibri" pitchFamily="34" charset="-122"/>
                <a:cs typeface="Calibri" pitchFamily="34" charset="-120"/>
              </a:rPr>
              <a:t>Acc = correct ÷ multi-source questions</a:t>
            </a:r>
            <a:endParaRPr lang="en-US" sz="950" dirty="0"/>
          </a:p>
        </p:txBody>
      </p:sp>
      <p:sp>
        <p:nvSpPr>
          <p:cNvPr id="89" name="Text 30">
            <a:extLst>
              <a:ext uri="{FF2B5EF4-FFF2-40B4-BE49-F238E27FC236}">
                <a16:creationId xmlns:a16="http://schemas.microsoft.com/office/drawing/2014/main" id="{884DA991-C293-6939-A7D8-6189B5E5971C}"/>
              </a:ext>
            </a:extLst>
          </p:cNvPr>
          <p:cNvSpPr/>
          <p:nvPr/>
        </p:nvSpPr>
        <p:spPr>
          <a:xfrm>
            <a:off x="9043416" y="4169664"/>
            <a:ext cx="2624328" cy="566928"/>
          </a:xfrm>
          <a:prstGeom prst="roundRect">
            <a:avLst>
              <a:gd name="adj" fmla="val 11290"/>
            </a:avLst>
          </a:prstGeom>
          <a:solidFill>
            <a:srgbClr val="B5714B"/>
          </a:solidFill>
          <a:ln w="12700">
            <a:solidFill>
              <a:srgbClr val="B5714B"/>
            </a:solid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Counterfactual robustness</a:t>
            </a:r>
            <a:endParaRPr lang="en-US" sz="950" dirty="0"/>
          </a:p>
          <a:p>
            <a:pPr marL="0" indent="0" algn="ctr">
              <a:buNone/>
            </a:pPr>
            <a:r>
              <a:rPr lang="en-US" sz="800" dirty="0">
                <a:solidFill>
                  <a:srgbClr val="F5DCCB"/>
                </a:solidFill>
                <a:latin typeface="Calibri" pitchFamily="34" charset="0"/>
                <a:ea typeface="Calibri" pitchFamily="34" charset="-122"/>
                <a:cs typeface="Calibri" pitchFamily="34" charset="-120"/>
              </a:rPr>
              <a:t>Acc_doc = errors found ÷ corrupted docs</a:t>
            </a:r>
            <a:endParaRPr lang="en-US" sz="950" dirty="0"/>
          </a:p>
        </p:txBody>
      </p:sp>
      <p:sp>
        <p:nvSpPr>
          <p:cNvPr id="91" name="Shape 31">
            <a:extLst>
              <a:ext uri="{FF2B5EF4-FFF2-40B4-BE49-F238E27FC236}">
                <a16:creationId xmlns:a16="http://schemas.microsoft.com/office/drawing/2014/main" id="{4BB9BFDC-3644-C7B8-BEE5-49C24F97BC70}"/>
              </a:ext>
            </a:extLst>
          </p:cNvPr>
          <p:cNvSpPr/>
          <p:nvPr/>
        </p:nvSpPr>
        <p:spPr>
          <a:xfrm>
            <a:off x="1933956" y="4754880"/>
            <a:ext cx="0" cy="256032"/>
          </a:xfrm>
          <a:prstGeom prst="line">
            <a:avLst/>
          </a:prstGeom>
          <a:noFill/>
          <a:ln w="16510">
            <a:solidFill>
              <a:srgbClr val="7A6A5A"/>
            </a:solidFill>
            <a:prstDash val="solid"/>
            <a:tailEnd type="triangle"/>
          </a:ln>
        </p:spPr>
        <p:txBody>
          <a:bodyPr/>
          <a:lstStyle/>
          <a:p>
            <a:endParaRPr lang="en-IN"/>
          </a:p>
        </p:txBody>
      </p:sp>
      <p:sp>
        <p:nvSpPr>
          <p:cNvPr id="93" name="Shape 32">
            <a:extLst>
              <a:ext uri="{FF2B5EF4-FFF2-40B4-BE49-F238E27FC236}">
                <a16:creationId xmlns:a16="http://schemas.microsoft.com/office/drawing/2014/main" id="{60BAFA96-41C7-6064-6CD2-8FF4236297AD}"/>
              </a:ext>
            </a:extLst>
          </p:cNvPr>
          <p:cNvSpPr/>
          <p:nvPr/>
        </p:nvSpPr>
        <p:spPr>
          <a:xfrm>
            <a:off x="4741164" y="4754880"/>
            <a:ext cx="0" cy="256032"/>
          </a:xfrm>
          <a:prstGeom prst="line">
            <a:avLst/>
          </a:prstGeom>
          <a:noFill/>
          <a:ln w="16510">
            <a:solidFill>
              <a:srgbClr val="7A6A5A"/>
            </a:solidFill>
            <a:prstDash val="solid"/>
            <a:tailEnd type="triangle"/>
          </a:ln>
        </p:spPr>
        <p:txBody>
          <a:bodyPr/>
          <a:lstStyle/>
          <a:p>
            <a:endParaRPr lang="en-IN"/>
          </a:p>
        </p:txBody>
      </p:sp>
      <p:sp>
        <p:nvSpPr>
          <p:cNvPr id="95" name="Shape 33">
            <a:extLst>
              <a:ext uri="{FF2B5EF4-FFF2-40B4-BE49-F238E27FC236}">
                <a16:creationId xmlns:a16="http://schemas.microsoft.com/office/drawing/2014/main" id="{C1E8E620-05F3-0724-6ADC-F714C8151D86}"/>
              </a:ext>
            </a:extLst>
          </p:cNvPr>
          <p:cNvSpPr/>
          <p:nvPr/>
        </p:nvSpPr>
        <p:spPr>
          <a:xfrm>
            <a:off x="7548372" y="4754880"/>
            <a:ext cx="0" cy="256032"/>
          </a:xfrm>
          <a:prstGeom prst="line">
            <a:avLst/>
          </a:prstGeom>
          <a:noFill/>
          <a:ln w="16510">
            <a:solidFill>
              <a:srgbClr val="7A6A5A"/>
            </a:solidFill>
            <a:prstDash val="solid"/>
            <a:tailEnd type="triangle"/>
          </a:ln>
        </p:spPr>
        <p:txBody>
          <a:bodyPr/>
          <a:lstStyle/>
          <a:p>
            <a:endParaRPr lang="en-IN"/>
          </a:p>
        </p:txBody>
      </p:sp>
      <p:sp>
        <p:nvSpPr>
          <p:cNvPr id="97" name="Shape 34">
            <a:extLst>
              <a:ext uri="{FF2B5EF4-FFF2-40B4-BE49-F238E27FC236}">
                <a16:creationId xmlns:a16="http://schemas.microsoft.com/office/drawing/2014/main" id="{456252B7-2CDA-FBF5-2639-17F0C9FAE018}"/>
              </a:ext>
            </a:extLst>
          </p:cNvPr>
          <p:cNvSpPr/>
          <p:nvPr/>
        </p:nvSpPr>
        <p:spPr>
          <a:xfrm>
            <a:off x="10355580" y="4754880"/>
            <a:ext cx="0" cy="256032"/>
          </a:xfrm>
          <a:prstGeom prst="line">
            <a:avLst/>
          </a:prstGeom>
          <a:noFill/>
          <a:ln w="16510">
            <a:solidFill>
              <a:srgbClr val="7A6A5A"/>
            </a:solidFill>
            <a:prstDash val="solid"/>
            <a:tailEnd type="triangle"/>
          </a:ln>
        </p:spPr>
        <p:txBody>
          <a:bodyPr/>
          <a:lstStyle/>
          <a:p>
            <a:endParaRPr lang="en-IN"/>
          </a:p>
        </p:txBody>
      </p:sp>
      <p:sp>
        <p:nvSpPr>
          <p:cNvPr id="99" name="Text 35">
            <a:extLst>
              <a:ext uri="{FF2B5EF4-FFF2-40B4-BE49-F238E27FC236}">
                <a16:creationId xmlns:a16="http://schemas.microsoft.com/office/drawing/2014/main" id="{DBBDF867-BD06-0224-EAD6-B67190F7D11E}"/>
              </a:ext>
            </a:extLst>
          </p:cNvPr>
          <p:cNvSpPr/>
          <p:nvPr/>
        </p:nvSpPr>
        <p:spPr>
          <a:xfrm>
            <a:off x="621792" y="5029200"/>
            <a:ext cx="11009376" cy="347472"/>
          </a:xfrm>
          <a:prstGeom prst="roundRect">
            <a:avLst>
              <a:gd name="adj" fmla="val 18421"/>
            </a:avLst>
          </a:prstGeom>
          <a:solidFill>
            <a:srgbClr val="5C4A38"/>
          </a:solidFill>
          <a:ln w="12700">
            <a:solidFill>
              <a:srgbClr val="5C4A38"/>
            </a:solidFill>
          </a:ln>
        </p:spPr>
        <p:txBody>
          <a:bodyPr wrap="square" lIns="25400" tIns="25400" rIns="25400" bIns="2540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Unified rescore pass  —  NFKC normalisation + contraction equivalence  ·  “cannot” vs “can not” was hiding 29.7 points until this was added</a:t>
            </a:r>
            <a:endParaRPr lang="en-US" sz="950" dirty="0"/>
          </a:p>
        </p:txBody>
      </p:sp>
      <p:sp>
        <p:nvSpPr>
          <p:cNvPr id="101" name="Shape 36">
            <a:extLst>
              <a:ext uri="{FF2B5EF4-FFF2-40B4-BE49-F238E27FC236}">
                <a16:creationId xmlns:a16="http://schemas.microsoft.com/office/drawing/2014/main" id="{D4E56F1A-59BD-C1CB-4D50-C1D68BA6D850}"/>
              </a:ext>
            </a:extLst>
          </p:cNvPr>
          <p:cNvSpPr/>
          <p:nvPr/>
        </p:nvSpPr>
        <p:spPr>
          <a:xfrm>
            <a:off x="457200" y="5532120"/>
            <a:ext cx="5486400" cy="960120"/>
          </a:xfrm>
          <a:prstGeom prst="roundRect">
            <a:avLst>
              <a:gd name="adj" fmla="val 6667"/>
            </a:avLst>
          </a:prstGeom>
          <a:solidFill>
            <a:srgbClr val="F0E7DA"/>
          </a:solidFill>
          <a:ln w="9525">
            <a:solidFill>
              <a:srgbClr val="C9B195"/>
            </a:solidFill>
            <a:prstDash val="solid"/>
          </a:ln>
        </p:spPr>
        <p:txBody>
          <a:bodyPr/>
          <a:lstStyle/>
          <a:p>
            <a:endParaRPr lang="en-IN"/>
          </a:p>
        </p:txBody>
      </p:sp>
      <p:sp>
        <p:nvSpPr>
          <p:cNvPr id="103" name="Text 37">
            <a:extLst>
              <a:ext uri="{FF2B5EF4-FFF2-40B4-BE49-F238E27FC236}">
                <a16:creationId xmlns:a16="http://schemas.microsoft.com/office/drawing/2014/main" id="{F2038E37-55E9-B002-7715-2C788A31E91E}"/>
              </a:ext>
            </a:extLst>
          </p:cNvPr>
          <p:cNvSpPr/>
          <p:nvPr/>
        </p:nvSpPr>
        <p:spPr>
          <a:xfrm>
            <a:off x="621792" y="5596128"/>
            <a:ext cx="5120640" cy="201168"/>
          </a:xfrm>
          <a:prstGeom prst="rect">
            <a:avLst/>
          </a:prstGeom>
          <a:noFill/>
          <a:ln/>
        </p:spPr>
        <p:txBody>
          <a:bodyPr wrap="square" lIns="0" tIns="0" rIns="0" bIns="0" rtlCol="0" anchor="ctr"/>
          <a:lstStyle/>
          <a:p>
            <a:pPr marL="0" indent="0">
              <a:buNone/>
            </a:pPr>
            <a:r>
              <a:rPr lang="en-US" sz="850" b="1" dirty="0">
                <a:solidFill>
                  <a:srgbClr val="5C4A38"/>
                </a:solidFill>
                <a:latin typeface="Calibri" pitchFamily="34" charset="0"/>
                <a:ea typeface="Calibri" pitchFamily="34" charset="-122"/>
                <a:cs typeface="Calibri" pitchFamily="34" charset="-120"/>
              </a:rPr>
              <a:t>D · KEEPING A MULTI-THOUSAND-CALL RUN ALIVE</a:t>
            </a:r>
            <a:endParaRPr lang="en-US" sz="850" dirty="0"/>
          </a:p>
        </p:txBody>
      </p:sp>
      <p:sp>
        <p:nvSpPr>
          <p:cNvPr id="105" name="Text 38">
            <a:extLst>
              <a:ext uri="{FF2B5EF4-FFF2-40B4-BE49-F238E27FC236}">
                <a16:creationId xmlns:a16="http://schemas.microsoft.com/office/drawing/2014/main" id="{925956F8-9E9D-6D51-0941-C66888514AF4}"/>
              </a:ext>
            </a:extLst>
          </p:cNvPr>
          <p:cNvSpPr/>
          <p:nvPr/>
        </p:nvSpPr>
        <p:spPr>
          <a:xfrm>
            <a:off x="621792" y="5833872"/>
            <a:ext cx="1691640" cy="566928"/>
          </a:xfrm>
          <a:prstGeom prst="roundRect">
            <a:avLst>
              <a:gd name="adj" fmla="val 11290"/>
            </a:avLst>
          </a:prstGeom>
          <a:solidFill>
            <a:srgbClr val="FFFFFF"/>
          </a:solidFill>
          <a:ln w="12700">
            <a:solidFill>
              <a:srgbClr val="C9B195"/>
            </a:solidFill>
          </a:ln>
        </p:spPr>
        <p:txBody>
          <a:bodyPr wrap="square" lIns="25400" tIns="25400" rIns="25400" bIns="25400" rtlCol="0" anchor="ctr"/>
          <a:lstStyle/>
          <a:p>
            <a:pPr marL="0" indent="0" algn="ctr">
              <a:buNone/>
            </a:pPr>
            <a:r>
              <a:rPr lang="en-US" sz="900" b="1" dirty="0">
                <a:solidFill>
                  <a:srgbClr val="5C4A38"/>
                </a:solidFill>
                <a:latin typeface="Calibri" pitchFamily="34" charset="0"/>
                <a:ea typeface="Calibri" pitchFamily="34" charset="-122"/>
                <a:cs typeface="Calibri" pitchFamily="34" charset="-120"/>
              </a:rPr>
              <a:t>9-key rotation</a:t>
            </a:r>
            <a:endParaRPr lang="en-US" sz="900" dirty="0"/>
          </a:p>
          <a:p>
            <a:pPr marL="0" indent="0" algn="ctr">
              <a:buNone/>
            </a:pPr>
            <a:r>
              <a:rPr lang="en-US" sz="750" dirty="0">
                <a:solidFill>
                  <a:srgbClr val="7A6A5A"/>
                </a:solidFill>
                <a:latin typeface="Calibri" pitchFamily="34" charset="0"/>
                <a:ea typeface="Calibri" pitchFamily="34" charset="-122"/>
                <a:cs typeface="Calibri" pitchFamily="34" charset="-120"/>
              </a:rPr>
              <a:t>+ paid OpenRouter</a:t>
            </a:r>
            <a:endParaRPr lang="en-US" sz="900" dirty="0"/>
          </a:p>
          <a:p>
            <a:pPr marL="0" indent="0" algn="ctr">
              <a:buNone/>
            </a:pPr>
            <a:r>
              <a:rPr lang="en-US" sz="750" dirty="0">
                <a:solidFill>
                  <a:srgbClr val="7A6A5A"/>
                </a:solidFill>
                <a:latin typeface="Calibri" pitchFamily="34" charset="0"/>
                <a:ea typeface="Calibri" pitchFamily="34" charset="-122"/>
                <a:cs typeface="Calibri" pitchFamily="34" charset="-120"/>
              </a:rPr>
              <a:t>credits as overflow</a:t>
            </a:r>
            <a:endParaRPr lang="en-US" sz="900" dirty="0"/>
          </a:p>
        </p:txBody>
      </p:sp>
      <p:sp>
        <p:nvSpPr>
          <p:cNvPr id="107" name="Text 39">
            <a:extLst>
              <a:ext uri="{FF2B5EF4-FFF2-40B4-BE49-F238E27FC236}">
                <a16:creationId xmlns:a16="http://schemas.microsoft.com/office/drawing/2014/main" id="{D57B67A8-7198-CAB5-19DA-60D59BE9FB95}"/>
              </a:ext>
            </a:extLst>
          </p:cNvPr>
          <p:cNvSpPr/>
          <p:nvPr/>
        </p:nvSpPr>
        <p:spPr>
          <a:xfrm>
            <a:off x="2404872" y="5833872"/>
            <a:ext cx="1691640" cy="566928"/>
          </a:xfrm>
          <a:prstGeom prst="roundRect">
            <a:avLst>
              <a:gd name="adj" fmla="val 11290"/>
            </a:avLst>
          </a:prstGeom>
          <a:solidFill>
            <a:srgbClr val="FFFFFF"/>
          </a:solidFill>
          <a:ln w="12700">
            <a:solidFill>
              <a:srgbClr val="C9B195"/>
            </a:solidFill>
          </a:ln>
        </p:spPr>
        <p:txBody>
          <a:bodyPr wrap="square" lIns="25400" tIns="25400" rIns="25400" bIns="25400" rtlCol="0" anchor="ctr"/>
          <a:lstStyle/>
          <a:p>
            <a:pPr marL="0" indent="0" algn="ctr">
              <a:buNone/>
            </a:pPr>
            <a:r>
              <a:rPr lang="en-US" sz="900" b="1" dirty="0">
                <a:solidFill>
                  <a:srgbClr val="5C4A38"/>
                </a:solidFill>
                <a:latin typeface="Calibri" pitchFamily="34" charset="0"/>
                <a:ea typeface="Calibri" pitchFamily="34" charset="-122"/>
                <a:cs typeface="Calibri" pitchFamily="34" charset="-120"/>
              </a:rPr>
              <a:t>Halt-guard</a:t>
            </a:r>
            <a:endParaRPr lang="en-US" sz="900" dirty="0"/>
          </a:p>
          <a:p>
            <a:pPr marL="0" indent="0" algn="ctr">
              <a:buNone/>
            </a:pPr>
            <a:r>
              <a:rPr lang="en-US" sz="750" dirty="0">
                <a:solidFill>
                  <a:srgbClr val="7A6A5A"/>
                </a:solidFill>
                <a:latin typeface="Calibri" pitchFamily="34" charset="0"/>
                <a:ea typeface="Calibri" pitchFamily="34" charset="-122"/>
                <a:cs typeface="Calibri" pitchFamily="34" charset="-120"/>
              </a:rPr>
              <a:t>stops the run if</a:t>
            </a:r>
            <a:endParaRPr lang="en-US" sz="900" dirty="0"/>
          </a:p>
          <a:p>
            <a:pPr marL="0" indent="0" algn="ctr">
              <a:buNone/>
            </a:pPr>
            <a:r>
              <a:rPr lang="en-US" sz="750" dirty="0">
                <a:solidFill>
                  <a:srgbClr val="7A6A5A"/>
                </a:solidFill>
                <a:latin typeface="Calibri" pitchFamily="34" charset="0"/>
                <a:ea typeface="Calibri" pitchFamily="34" charset="-122"/>
                <a:cs typeface="Calibri" pitchFamily="34" charset="-120"/>
              </a:rPr>
              <a:t>[ERROR replies begin</a:t>
            </a:r>
            <a:endParaRPr lang="en-US" sz="900" dirty="0"/>
          </a:p>
        </p:txBody>
      </p:sp>
      <p:sp>
        <p:nvSpPr>
          <p:cNvPr id="109" name="Text 40">
            <a:extLst>
              <a:ext uri="{FF2B5EF4-FFF2-40B4-BE49-F238E27FC236}">
                <a16:creationId xmlns:a16="http://schemas.microsoft.com/office/drawing/2014/main" id="{8A09E960-FE6F-AE7B-044F-40E348CA27C1}"/>
              </a:ext>
            </a:extLst>
          </p:cNvPr>
          <p:cNvSpPr/>
          <p:nvPr/>
        </p:nvSpPr>
        <p:spPr>
          <a:xfrm>
            <a:off x="4187952" y="5833872"/>
            <a:ext cx="1691640" cy="566928"/>
          </a:xfrm>
          <a:prstGeom prst="roundRect">
            <a:avLst>
              <a:gd name="adj" fmla="val 11290"/>
            </a:avLst>
          </a:prstGeom>
          <a:solidFill>
            <a:srgbClr val="FFFFFF"/>
          </a:solidFill>
          <a:ln w="12700">
            <a:solidFill>
              <a:srgbClr val="C9B195"/>
            </a:solidFill>
          </a:ln>
        </p:spPr>
        <p:txBody>
          <a:bodyPr wrap="square" lIns="25400" tIns="25400" rIns="25400" bIns="25400" rtlCol="0" anchor="ctr"/>
          <a:lstStyle/>
          <a:p>
            <a:pPr marL="0" indent="0" algn="ctr">
              <a:buNone/>
            </a:pPr>
            <a:r>
              <a:rPr lang="en-US" sz="900" b="1" dirty="0">
                <a:solidFill>
                  <a:srgbClr val="5C4A38"/>
                </a:solidFill>
                <a:latin typeface="Calibri" pitchFamily="34" charset="0"/>
                <a:ea typeface="Calibri" pitchFamily="34" charset="-122"/>
                <a:cs typeface="Calibri" pitchFamily="34" charset="-120"/>
              </a:rPr>
              <a:t>Triple checkpoint</a:t>
            </a:r>
            <a:endParaRPr lang="en-US" sz="900" dirty="0"/>
          </a:p>
          <a:p>
            <a:pPr marL="0" indent="0" algn="ctr">
              <a:buNone/>
            </a:pPr>
            <a:r>
              <a:rPr lang="en-US" sz="750" dirty="0">
                <a:solidFill>
                  <a:srgbClr val="7A6A5A"/>
                </a:solidFill>
                <a:latin typeface="Calibri" pitchFamily="34" charset="0"/>
                <a:ea typeface="Calibri" pitchFamily="34" charset="-122"/>
                <a:cs typeface="Calibri" pitchFamily="34" charset="-120"/>
              </a:rPr>
              <a:t>Colab · Drive ·</a:t>
            </a:r>
            <a:endParaRPr lang="en-US" sz="900" dirty="0"/>
          </a:p>
          <a:p>
            <a:pPr marL="0" indent="0" algn="ctr">
              <a:buNone/>
            </a:pPr>
            <a:r>
              <a:rPr lang="en-US" sz="750" dirty="0">
                <a:solidFill>
                  <a:srgbClr val="7A6A5A"/>
                </a:solidFill>
                <a:latin typeface="Calibri" pitchFamily="34" charset="0"/>
                <a:ea typeface="Calibri" pitchFamily="34" charset="-122"/>
                <a:cs typeface="Calibri" pitchFamily="34" charset="-120"/>
              </a:rPr>
              <a:t>GitHub</a:t>
            </a:r>
            <a:endParaRPr lang="en-US" sz="900" dirty="0"/>
          </a:p>
        </p:txBody>
      </p:sp>
      <p:sp>
        <p:nvSpPr>
          <p:cNvPr id="111" name="Shape 41">
            <a:extLst>
              <a:ext uri="{FF2B5EF4-FFF2-40B4-BE49-F238E27FC236}">
                <a16:creationId xmlns:a16="http://schemas.microsoft.com/office/drawing/2014/main" id="{4A6D9A62-36B5-05CE-683A-85445C7890E1}"/>
              </a:ext>
            </a:extLst>
          </p:cNvPr>
          <p:cNvSpPr/>
          <p:nvPr/>
        </p:nvSpPr>
        <p:spPr>
          <a:xfrm>
            <a:off x="6144768" y="5532120"/>
            <a:ext cx="5486400" cy="960120"/>
          </a:xfrm>
          <a:prstGeom prst="roundRect">
            <a:avLst>
              <a:gd name="adj" fmla="val 6667"/>
            </a:avLst>
          </a:prstGeom>
          <a:solidFill>
            <a:srgbClr val="E3EDE0"/>
          </a:solidFill>
          <a:ln w="15240">
            <a:solidFill>
              <a:srgbClr val="B5714B"/>
            </a:solidFill>
            <a:prstDash val="solid"/>
          </a:ln>
        </p:spPr>
        <p:txBody>
          <a:bodyPr/>
          <a:lstStyle/>
          <a:p>
            <a:endParaRPr lang="en-IN"/>
          </a:p>
        </p:txBody>
      </p:sp>
      <p:sp>
        <p:nvSpPr>
          <p:cNvPr id="113" name="Text 42">
            <a:extLst>
              <a:ext uri="{FF2B5EF4-FFF2-40B4-BE49-F238E27FC236}">
                <a16:creationId xmlns:a16="http://schemas.microsoft.com/office/drawing/2014/main" id="{AB68C424-B2C0-3F7A-3FC9-E1C9F8AD427A}"/>
              </a:ext>
            </a:extLst>
          </p:cNvPr>
          <p:cNvSpPr/>
          <p:nvPr/>
        </p:nvSpPr>
        <p:spPr>
          <a:xfrm>
            <a:off x="6355080" y="5596128"/>
            <a:ext cx="5029200" cy="219456"/>
          </a:xfrm>
          <a:prstGeom prst="rect">
            <a:avLst/>
          </a:prstGeom>
          <a:noFill/>
          <a:ln/>
        </p:spPr>
        <p:txBody>
          <a:bodyPr wrap="square" lIns="0" tIns="0" rIns="0" bIns="0" rtlCol="0" anchor="ctr"/>
          <a:lstStyle/>
          <a:p>
            <a:pPr marL="0" indent="0">
              <a:buNone/>
            </a:pPr>
            <a:r>
              <a:rPr lang="en-US" sz="1050" b="1" dirty="0">
                <a:solidFill>
                  <a:srgbClr val="B5714B"/>
                </a:solidFill>
                <a:latin typeface="Calibri" pitchFamily="34" charset="0"/>
                <a:ea typeface="Calibri" pitchFamily="34" charset="-122"/>
                <a:cs typeface="Calibri" pitchFamily="34" charset="-120"/>
              </a:rPr>
              <a:t>Why this is version 2</a:t>
            </a:r>
            <a:endParaRPr lang="en-US" sz="1050" dirty="0"/>
          </a:p>
        </p:txBody>
      </p:sp>
      <p:sp>
        <p:nvSpPr>
          <p:cNvPr id="115" name="Text 43">
            <a:extLst>
              <a:ext uri="{FF2B5EF4-FFF2-40B4-BE49-F238E27FC236}">
                <a16:creationId xmlns:a16="http://schemas.microsoft.com/office/drawing/2014/main" id="{34926CB9-AA61-E1A4-3C65-C87CB30E91D2}"/>
              </a:ext>
            </a:extLst>
          </p:cNvPr>
          <p:cNvSpPr/>
          <p:nvPr/>
        </p:nvSpPr>
        <p:spPr>
          <a:xfrm>
            <a:off x="6355080" y="5815584"/>
            <a:ext cx="5120640" cy="621792"/>
          </a:xfrm>
          <a:prstGeom prst="rect">
            <a:avLst/>
          </a:prstGeom>
          <a:noFill/>
          <a:ln/>
        </p:spPr>
        <p:txBody>
          <a:bodyPr wrap="square" lIns="0" tIns="0" rIns="0" bIns="0" rtlCol="0" anchor="ctr"/>
          <a:lstStyle/>
          <a:p>
            <a:pPr marL="0" indent="0">
              <a:buNone/>
            </a:pPr>
            <a:r>
              <a:rPr lang="en-US" sz="850" dirty="0">
                <a:solidFill>
                  <a:srgbClr val="3E3228"/>
                </a:solidFill>
                <a:latin typeface="Calibri" pitchFamily="34" charset="0"/>
                <a:ea typeface="Calibri" pitchFamily="34" charset="-122"/>
                <a:cs typeface="Calibri" pitchFamily="34" charset="-120"/>
              </a:rPr>
              <a:t>Our first campaign read the dataset's clean-document field instead of the corrupted one, so the counterfactual test contained no counterfactuals. Every model passed it, which we briefly took as a good sign. We rebuilt from scratch and now inspect real examples from a new test set before running the batch, not after.</a:t>
            </a:r>
            <a:endParaRPr lang="en-US" sz="850" dirty="0"/>
          </a:p>
        </p:txBody>
      </p:sp>
    </p:spTree>
    <p:extLst>
      <p:ext uri="{BB962C8B-B14F-4D97-AF65-F5344CB8AC3E}">
        <p14:creationId xmlns:p14="http://schemas.microsoft.com/office/powerpoint/2010/main" val="324550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6F0"/>
        </a:solidFill>
        <a:effectLst/>
      </p:bgPr>
    </p:bg>
    <p:spTree>
      <p:nvGrpSpPr>
        <p:cNvPr id="1" name="">
          <a:extLst>
            <a:ext uri="{FF2B5EF4-FFF2-40B4-BE49-F238E27FC236}">
              <a16:creationId xmlns:a16="http://schemas.microsoft.com/office/drawing/2014/main" id="{F3FB3F25-AE71-ABCF-57FA-92FA4D8736C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77DBFD8-B11A-63BB-5EA6-6A6372CC852C}"/>
              </a:ext>
            </a:extLst>
          </p:cNvPr>
          <p:cNvSpPr/>
          <p:nvPr/>
        </p:nvSpPr>
        <p:spPr>
          <a:xfrm>
            <a:off x="0" y="0"/>
            <a:ext cx="12188952" cy="1078992"/>
          </a:xfrm>
          <a:prstGeom prst="roundRect">
            <a:avLst/>
          </a:prstGeom>
          <a:solidFill>
            <a:srgbClr val="FFFFFF"/>
          </a:solidFill>
          <a:ln/>
        </p:spPr>
        <p:txBody>
          <a:bodyPr/>
          <a:lstStyle/>
          <a:p>
            <a:endParaRPr lang="en-IN"/>
          </a:p>
        </p:txBody>
      </p:sp>
      <p:sp>
        <p:nvSpPr>
          <p:cNvPr id="3" name="Shape 1">
            <a:extLst>
              <a:ext uri="{FF2B5EF4-FFF2-40B4-BE49-F238E27FC236}">
                <a16:creationId xmlns:a16="http://schemas.microsoft.com/office/drawing/2014/main" id="{E81A2CF4-9EA7-00C5-F1E9-FAA60E759762}"/>
              </a:ext>
            </a:extLst>
          </p:cNvPr>
          <p:cNvSpPr/>
          <p:nvPr/>
        </p:nvSpPr>
        <p:spPr>
          <a:xfrm>
            <a:off x="0" y="1060704"/>
            <a:ext cx="12188952" cy="32004"/>
          </a:xfrm>
          <a:prstGeom prst="rect">
            <a:avLst/>
          </a:prstGeom>
          <a:solidFill>
            <a:srgbClr val="7D9B76"/>
          </a:solidFill>
          <a:ln/>
        </p:spPr>
        <p:txBody>
          <a:bodyPr/>
          <a:lstStyle/>
          <a:p>
            <a:endParaRPr lang="en-IN"/>
          </a:p>
        </p:txBody>
      </p:sp>
      <p:sp>
        <p:nvSpPr>
          <p:cNvPr id="4" name="Text 2">
            <a:extLst>
              <a:ext uri="{FF2B5EF4-FFF2-40B4-BE49-F238E27FC236}">
                <a16:creationId xmlns:a16="http://schemas.microsoft.com/office/drawing/2014/main" id="{74A6DF8F-2947-686E-68D3-AC879357E679}"/>
              </a:ext>
            </a:extLst>
          </p:cNvPr>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RGB Results</a:t>
            </a:r>
            <a:endParaRPr lang="en-US" sz="2400" dirty="0"/>
          </a:p>
        </p:txBody>
      </p:sp>
      <p:sp>
        <p:nvSpPr>
          <p:cNvPr id="5" name="Text 3">
            <a:extLst>
              <a:ext uri="{FF2B5EF4-FFF2-40B4-BE49-F238E27FC236}">
                <a16:creationId xmlns:a16="http://schemas.microsoft.com/office/drawing/2014/main" id="{413379A7-6B70-6779-96A7-290485F2BE11}"/>
              </a:ext>
            </a:extLst>
          </p:cNvPr>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Five models, four abilities. 300 examples for noise and rejection, 100 for the rest</a:t>
            </a:r>
            <a:endParaRPr lang="en-US" sz="1250" dirty="0"/>
          </a:p>
        </p:txBody>
      </p:sp>
      <p:sp>
        <p:nvSpPr>
          <p:cNvPr id="6" name="Text 4">
            <a:extLst>
              <a:ext uri="{FF2B5EF4-FFF2-40B4-BE49-F238E27FC236}">
                <a16:creationId xmlns:a16="http://schemas.microsoft.com/office/drawing/2014/main" id="{F5306010-58F1-9061-C759-78BE98344E78}"/>
              </a:ext>
            </a:extLst>
          </p:cNvPr>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9.4</a:t>
            </a:r>
            <a:endParaRPr lang="en-US" sz="1000" dirty="0"/>
          </a:p>
        </p:txBody>
      </p:sp>
      <p:graphicFrame>
        <p:nvGraphicFramePr>
          <p:cNvPr id="111" name="Table 110">
            <a:extLst>
              <a:ext uri="{FF2B5EF4-FFF2-40B4-BE49-F238E27FC236}">
                <a16:creationId xmlns:a16="http://schemas.microsoft.com/office/drawing/2014/main" id="{DCADA1F2-87D4-9F18-5D96-CE378946DB81}"/>
              </a:ext>
            </a:extLst>
          </p:cNvPr>
          <p:cNvGraphicFramePr>
            <a:graphicFrameLocks noGrp="1"/>
          </p:cNvGraphicFramePr>
          <p:nvPr>
            <p:extLst>
              <p:ext uri="{D42A27DB-BD31-4B8C-83A1-F6EECF244321}">
                <p14:modId xmlns:p14="http://schemas.microsoft.com/office/powerpoint/2010/main" val="237391588"/>
              </p:ext>
            </p:extLst>
          </p:nvPr>
        </p:nvGraphicFramePr>
        <p:xfrm>
          <a:off x="384067" y="1513482"/>
          <a:ext cx="6489006" cy="2495807"/>
        </p:xfrm>
        <a:graphic>
          <a:graphicData uri="http://schemas.openxmlformats.org/drawingml/2006/table">
            <a:tbl>
              <a:tblPr firstRow="1" bandRow="1">
                <a:tableStyleId>{5940675A-B579-460E-94D1-54222C63F5DA}</a:tableStyleId>
              </a:tblPr>
              <a:tblGrid>
                <a:gridCol w="1163379">
                  <a:extLst>
                    <a:ext uri="{9D8B030D-6E8A-4147-A177-3AD203B41FA5}">
                      <a16:colId xmlns:a16="http://schemas.microsoft.com/office/drawing/2014/main" val="2632216945"/>
                    </a:ext>
                  </a:extLst>
                </a:gridCol>
                <a:gridCol w="690623">
                  <a:extLst>
                    <a:ext uri="{9D8B030D-6E8A-4147-A177-3AD203B41FA5}">
                      <a16:colId xmlns:a16="http://schemas.microsoft.com/office/drawing/2014/main" val="215923058"/>
                    </a:ext>
                  </a:extLst>
                </a:gridCol>
                <a:gridCol w="927001">
                  <a:extLst>
                    <a:ext uri="{9D8B030D-6E8A-4147-A177-3AD203B41FA5}">
                      <a16:colId xmlns:a16="http://schemas.microsoft.com/office/drawing/2014/main" val="1022225646"/>
                    </a:ext>
                  </a:extLst>
                </a:gridCol>
                <a:gridCol w="927001">
                  <a:extLst>
                    <a:ext uri="{9D8B030D-6E8A-4147-A177-3AD203B41FA5}">
                      <a16:colId xmlns:a16="http://schemas.microsoft.com/office/drawing/2014/main" val="3085940262"/>
                    </a:ext>
                  </a:extLst>
                </a:gridCol>
                <a:gridCol w="927001">
                  <a:extLst>
                    <a:ext uri="{9D8B030D-6E8A-4147-A177-3AD203B41FA5}">
                      <a16:colId xmlns:a16="http://schemas.microsoft.com/office/drawing/2014/main" val="2621691365"/>
                    </a:ext>
                  </a:extLst>
                </a:gridCol>
                <a:gridCol w="716319">
                  <a:extLst>
                    <a:ext uri="{9D8B030D-6E8A-4147-A177-3AD203B41FA5}">
                      <a16:colId xmlns:a16="http://schemas.microsoft.com/office/drawing/2014/main" val="4280115080"/>
                    </a:ext>
                  </a:extLst>
                </a:gridCol>
                <a:gridCol w="1137682">
                  <a:extLst>
                    <a:ext uri="{9D8B030D-6E8A-4147-A177-3AD203B41FA5}">
                      <a16:colId xmlns:a16="http://schemas.microsoft.com/office/drawing/2014/main" val="298703558"/>
                    </a:ext>
                  </a:extLst>
                </a:gridCol>
              </a:tblGrid>
              <a:tr h="449982">
                <a:tc>
                  <a:txBody>
                    <a:bodyPr/>
                    <a:lstStyle/>
                    <a:p>
                      <a:r>
                        <a:rPr lang="en-US" sz="1400" dirty="0">
                          <a:latin typeface="Aptos" panose="020B0004020202020204" pitchFamily="34" charset="0"/>
                        </a:rPr>
                        <a:t>Models</a:t>
                      </a:r>
                      <a:endParaRPr lang="en-IN" sz="1400" dirty="0">
                        <a:latin typeface="Aptos" panose="020B0004020202020204" pitchFamily="34" charset="0"/>
                      </a:endParaRPr>
                    </a:p>
                  </a:txBody>
                  <a:tcPr/>
                </a:tc>
                <a:tc gridSpan="5">
                  <a:txBody>
                    <a:bodyPr/>
                    <a:lstStyle/>
                    <a:p>
                      <a:r>
                        <a:rPr lang="en-IN" sz="1400" dirty="0">
                          <a:latin typeface="Aptos" panose="020B0004020202020204" pitchFamily="34" charset="0"/>
                        </a:rPr>
                        <a:t>Noise Robustness</a:t>
                      </a:r>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tc>
                  <a:txBody>
                    <a:bodyPr/>
                    <a:lstStyle/>
                    <a:p>
                      <a:r>
                        <a:rPr lang="en-US" sz="1400" dirty="0">
                          <a:latin typeface="Aptos" panose="020B0004020202020204" pitchFamily="34" charset="0"/>
                        </a:rPr>
                        <a:t>Noise Rej</a:t>
                      </a:r>
                      <a:endParaRPr lang="en-IN" sz="1400" dirty="0">
                        <a:latin typeface="Aptos" panose="020B0004020202020204" pitchFamily="34" charset="0"/>
                      </a:endParaRPr>
                    </a:p>
                  </a:txBody>
                  <a:tcPr/>
                </a:tc>
                <a:extLst>
                  <a:ext uri="{0D108BD9-81ED-4DB2-BD59-A6C34878D82A}">
                    <a16:rowId xmlns:a16="http://schemas.microsoft.com/office/drawing/2014/main" val="3479777209"/>
                  </a:ext>
                </a:extLst>
              </a:tr>
              <a:tr h="342200">
                <a:tc>
                  <a:txBody>
                    <a:bodyPr/>
                    <a:lstStyle/>
                    <a:p>
                      <a:endParaRPr lang="en-IN" sz="1400" dirty="0">
                        <a:latin typeface="Aptos" panose="020B0004020202020204" pitchFamily="34" charset="0"/>
                      </a:endParaRPr>
                    </a:p>
                  </a:txBody>
                  <a:tcPr/>
                </a:tc>
                <a:tc>
                  <a:txBody>
                    <a:bodyPr/>
                    <a:lstStyle/>
                    <a:p>
                      <a:pPr algn="ctr" fontAlgn="ctr">
                        <a:buNone/>
                      </a:pPr>
                      <a:r>
                        <a:rPr lang="en-IN" sz="1400" b="1" i="0" u="none" strike="noStrike" dirty="0">
                          <a:solidFill>
                            <a:srgbClr val="000000"/>
                          </a:solidFill>
                          <a:effectLst/>
                          <a:latin typeface="Aptos" panose="020B0004020202020204" pitchFamily="34" charset="0"/>
                        </a:rPr>
                        <a:t>0.0</a:t>
                      </a:r>
                    </a:p>
                  </a:txBody>
                  <a:tcPr marL="0" marR="0" marT="0" marB="0" anchor="ctr"/>
                </a:tc>
                <a:tc>
                  <a:txBody>
                    <a:bodyPr/>
                    <a:lstStyle/>
                    <a:p>
                      <a:pPr algn="ctr" fontAlgn="ctr">
                        <a:buNone/>
                      </a:pPr>
                      <a:r>
                        <a:rPr lang="en-IN" sz="1400" b="1" i="0" u="none" strike="noStrike">
                          <a:solidFill>
                            <a:srgbClr val="000000"/>
                          </a:solidFill>
                          <a:effectLst/>
                          <a:latin typeface="Aptos" panose="020B0004020202020204" pitchFamily="34" charset="0"/>
                        </a:rPr>
                        <a:t>0.2</a:t>
                      </a:r>
                    </a:p>
                  </a:txBody>
                  <a:tcPr marL="0" marR="0" marT="0" marB="0" anchor="ctr"/>
                </a:tc>
                <a:tc>
                  <a:txBody>
                    <a:bodyPr/>
                    <a:lstStyle/>
                    <a:p>
                      <a:pPr algn="ctr" fontAlgn="ctr">
                        <a:buNone/>
                      </a:pPr>
                      <a:r>
                        <a:rPr lang="en-IN" sz="1400" b="1" i="0" u="none" strike="noStrike">
                          <a:solidFill>
                            <a:srgbClr val="000000"/>
                          </a:solidFill>
                          <a:effectLst/>
                          <a:latin typeface="Aptos" panose="020B0004020202020204" pitchFamily="34" charset="0"/>
                        </a:rPr>
                        <a:t>0.4</a:t>
                      </a:r>
                    </a:p>
                  </a:txBody>
                  <a:tcPr marL="0" marR="0" marT="0" marB="0" anchor="ctr"/>
                </a:tc>
                <a:tc>
                  <a:txBody>
                    <a:bodyPr/>
                    <a:lstStyle/>
                    <a:p>
                      <a:pPr algn="ctr" fontAlgn="ctr">
                        <a:buNone/>
                      </a:pPr>
                      <a:r>
                        <a:rPr lang="en-IN" sz="1400" b="1" i="0" u="none" strike="noStrike">
                          <a:solidFill>
                            <a:srgbClr val="000000"/>
                          </a:solidFill>
                          <a:effectLst/>
                          <a:latin typeface="Aptos" panose="020B0004020202020204" pitchFamily="34" charset="0"/>
                        </a:rPr>
                        <a:t>0.6</a:t>
                      </a:r>
                    </a:p>
                  </a:txBody>
                  <a:tcPr marL="0" marR="0" marT="0" marB="0" anchor="ctr"/>
                </a:tc>
                <a:tc>
                  <a:txBody>
                    <a:bodyPr/>
                    <a:lstStyle/>
                    <a:p>
                      <a:pPr algn="ctr" fontAlgn="ctr">
                        <a:buNone/>
                      </a:pPr>
                      <a:r>
                        <a:rPr lang="en-IN" sz="1400" b="1" i="0" u="none" strike="noStrike">
                          <a:solidFill>
                            <a:srgbClr val="000000"/>
                          </a:solidFill>
                          <a:effectLst/>
                          <a:latin typeface="Aptos" panose="020B0004020202020204" pitchFamily="34" charset="0"/>
                        </a:rPr>
                        <a:t>0.8</a:t>
                      </a:r>
                    </a:p>
                  </a:txBody>
                  <a:tcPr marL="0" marR="0" marT="0" marB="0" anchor="ctr"/>
                </a:tc>
                <a:tc>
                  <a:txBody>
                    <a:bodyPr/>
                    <a:lstStyle/>
                    <a:p>
                      <a:pPr algn="ctr" fontAlgn="ctr">
                        <a:buNone/>
                      </a:pPr>
                      <a:endParaRPr lang="en-IN" sz="1400" b="1"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4294020417"/>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llama‑3.3‑70b </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100</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100</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99.3</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99.3</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99</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67.33</a:t>
                      </a:r>
                    </a:p>
                  </a:txBody>
                  <a:tcPr marL="0" marR="0" marT="0" marB="0" anchor="ctr"/>
                </a:tc>
                <a:extLst>
                  <a:ext uri="{0D108BD9-81ED-4DB2-BD59-A6C34878D82A}">
                    <a16:rowId xmlns:a16="http://schemas.microsoft.com/office/drawing/2014/main" val="136928060"/>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gpt‑oss‑120b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98</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98</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98</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98.3</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94.7</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71.67</a:t>
                      </a:r>
                    </a:p>
                  </a:txBody>
                  <a:tcPr marL="0" marR="0" marT="0" marB="0" anchor="ctr"/>
                </a:tc>
                <a:extLst>
                  <a:ext uri="{0D108BD9-81ED-4DB2-BD59-A6C34878D82A}">
                    <a16:rowId xmlns:a16="http://schemas.microsoft.com/office/drawing/2014/main" val="2605759964"/>
                  </a:ext>
                </a:extLst>
              </a:tr>
              <a:tr h="260705">
                <a:tc>
                  <a:txBody>
                    <a:bodyPr/>
                    <a:lstStyle/>
                    <a:p>
                      <a:pPr algn="l" fontAlgn="ctr">
                        <a:buNone/>
                      </a:pPr>
                      <a:r>
                        <a:rPr lang="en-IN" sz="1400" b="0" i="0" u="none" strike="noStrike" dirty="0">
                          <a:solidFill>
                            <a:srgbClr val="000000"/>
                          </a:solidFill>
                          <a:effectLst/>
                          <a:latin typeface="Aptos" panose="020B0004020202020204" pitchFamily="34" charset="0"/>
                        </a:rPr>
                        <a:t>gpt‑oss‑20b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97.33</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98</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97</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97.3</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95</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70.33</a:t>
                      </a:r>
                    </a:p>
                  </a:txBody>
                  <a:tcPr marL="0" marR="0" marT="0" marB="0" anchor="ctr"/>
                </a:tc>
                <a:extLst>
                  <a:ext uri="{0D108BD9-81ED-4DB2-BD59-A6C34878D82A}">
                    <a16:rowId xmlns:a16="http://schemas.microsoft.com/office/drawing/2014/main" val="1088951916"/>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llama‑3.1‑8b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99.67</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99.33</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98.3</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96.7</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86</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74</a:t>
                      </a:r>
                    </a:p>
                  </a:txBody>
                  <a:tcPr marL="0" marR="0" marT="0" marB="0" anchor="ctr"/>
                </a:tc>
                <a:extLst>
                  <a:ext uri="{0D108BD9-81ED-4DB2-BD59-A6C34878D82A}">
                    <a16:rowId xmlns:a16="http://schemas.microsoft.com/office/drawing/2014/main" val="3770101470"/>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qwen2.5‑72b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99.67</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99.67</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99</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99</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96</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73</a:t>
                      </a:r>
                    </a:p>
                  </a:txBody>
                  <a:tcPr marL="0" marR="0" marT="0" marB="0" anchor="ctr"/>
                </a:tc>
                <a:extLst>
                  <a:ext uri="{0D108BD9-81ED-4DB2-BD59-A6C34878D82A}">
                    <a16:rowId xmlns:a16="http://schemas.microsoft.com/office/drawing/2014/main" val="1371544570"/>
                  </a:ext>
                </a:extLst>
              </a:tr>
            </a:tbl>
          </a:graphicData>
        </a:graphic>
      </p:graphicFrame>
      <p:graphicFrame>
        <p:nvGraphicFramePr>
          <p:cNvPr id="113" name="Table 112">
            <a:extLst>
              <a:ext uri="{FF2B5EF4-FFF2-40B4-BE49-F238E27FC236}">
                <a16:creationId xmlns:a16="http://schemas.microsoft.com/office/drawing/2014/main" id="{7BB34021-0B21-BF2D-C170-B79D8AF8F819}"/>
              </a:ext>
            </a:extLst>
          </p:cNvPr>
          <p:cNvGraphicFramePr>
            <a:graphicFrameLocks noGrp="1"/>
          </p:cNvGraphicFramePr>
          <p:nvPr>
            <p:extLst>
              <p:ext uri="{D42A27DB-BD31-4B8C-83A1-F6EECF244321}">
                <p14:modId xmlns:p14="http://schemas.microsoft.com/office/powerpoint/2010/main" val="3520817889"/>
              </p:ext>
            </p:extLst>
          </p:nvPr>
        </p:nvGraphicFramePr>
        <p:xfrm>
          <a:off x="7335293" y="1505109"/>
          <a:ext cx="4551904" cy="2495807"/>
        </p:xfrm>
        <a:graphic>
          <a:graphicData uri="http://schemas.openxmlformats.org/drawingml/2006/table">
            <a:tbl>
              <a:tblPr firstRow="1" bandRow="1">
                <a:tableStyleId>{5940675A-B579-460E-94D1-54222C63F5DA}</a:tableStyleId>
              </a:tblPr>
              <a:tblGrid>
                <a:gridCol w="1137976">
                  <a:extLst>
                    <a:ext uri="{9D8B030D-6E8A-4147-A177-3AD203B41FA5}">
                      <a16:colId xmlns:a16="http://schemas.microsoft.com/office/drawing/2014/main" val="2632216945"/>
                    </a:ext>
                  </a:extLst>
                </a:gridCol>
                <a:gridCol w="1137976">
                  <a:extLst>
                    <a:ext uri="{9D8B030D-6E8A-4147-A177-3AD203B41FA5}">
                      <a16:colId xmlns:a16="http://schemas.microsoft.com/office/drawing/2014/main" val="215923058"/>
                    </a:ext>
                  </a:extLst>
                </a:gridCol>
                <a:gridCol w="1137976">
                  <a:extLst>
                    <a:ext uri="{9D8B030D-6E8A-4147-A177-3AD203B41FA5}">
                      <a16:colId xmlns:a16="http://schemas.microsoft.com/office/drawing/2014/main" val="1022225646"/>
                    </a:ext>
                  </a:extLst>
                </a:gridCol>
                <a:gridCol w="1137976">
                  <a:extLst>
                    <a:ext uri="{9D8B030D-6E8A-4147-A177-3AD203B41FA5}">
                      <a16:colId xmlns:a16="http://schemas.microsoft.com/office/drawing/2014/main" val="3085940262"/>
                    </a:ext>
                  </a:extLst>
                </a:gridCol>
              </a:tblGrid>
              <a:tr h="449982">
                <a:tc>
                  <a:txBody>
                    <a:bodyPr/>
                    <a:lstStyle/>
                    <a:p>
                      <a:r>
                        <a:rPr lang="en-US" sz="1400" dirty="0">
                          <a:latin typeface="Aptos" panose="020B0004020202020204" pitchFamily="34" charset="0"/>
                        </a:rPr>
                        <a:t>Models</a:t>
                      </a:r>
                      <a:endParaRPr lang="en-IN" sz="1400" dirty="0">
                        <a:latin typeface="Aptos" panose="020B0004020202020204" pitchFamily="34" charset="0"/>
                      </a:endParaRPr>
                    </a:p>
                  </a:txBody>
                  <a:tcPr/>
                </a:tc>
                <a:tc gridSpan="3">
                  <a:txBody>
                    <a:bodyPr/>
                    <a:lstStyle/>
                    <a:p>
                      <a:r>
                        <a:rPr lang="en-IN" sz="1400" dirty="0">
                          <a:latin typeface="Aptos" panose="020B0004020202020204" pitchFamily="34" charset="0"/>
                        </a:rPr>
                        <a:t>Information Integration</a:t>
                      </a:r>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3479777209"/>
                  </a:ext>
                </a:extLst>
              </a:tr>
              <a:tr h="342200">
                <a:tc>
                  <a:txBody>
                    <a:bodyPr/>
                    <a:lstStyle/>
                    <a:p>
                      <a:endParaRPr lang="en-IN" sz="1400" dirty="0">
                        <a:latin typeface="Aptos" panose="020B0004020202020204" pitchFamily="34" charset="0"/>
                      </a:endParaRPr>
                    </a:p>
                  </a:txBody>
                  <a:tcPr/>
                </a:tc>
                <a:tc>
                  <a:txBody>
                    <a:bodyPr/>
                    <a:lstStyle/>
                    <a:p>
                      <a:pPr algn="ctr" fontAlgn="ctr">
                        <a:buNone/>
                      </a:pPr>
                      <a:r>
                        <a:rPr lang="en-IN" sz="1400" b="1" i="0" u="none" strike="noStrike" dirty="0">
                          <a:solidFill>
                            <a:srgbClr val="000000"/>
                          </a:solidFill>
                          <a:effectLst/>
                          <a:latin typeface="Aptos" panose="020B0004020202020204" pitchFamily="34" charset="0"/>
                        </a:rPr>
                        <a:t>0.0</a:t>
                      </a:r>
                    </a:p>
                  </a:txBody>
                  <a:tcPr marL="0" marR="0" marT="0" marB="0" anchor="ctr"/>
                </a:tc>
                <a:tc>
                  <a:txBody>
                    <a:bodyPr/>
                    <a:lstStyle/>
                    <a:p>
                      <a:pPr algn="ctr" fontAlgn="ctr">
                        <a:buNone/>
                      </a:pPr>
                      <a:r>
                        <a:rPr lang="en-IN" sz="1400" b="1" i="0" u="none" strike="noStrike">
                          <a:solidFill>
                            <a:srgbClr val="000000"/>
                          </a:solidFill>
                          <a:effectLst/>
                          <a:latin typeface="Aptos" panose="020B0004020202020204" pitchFamily="34" charset="0"/>
                        </a:rPr>
                        <a:t>0.2</a:t>
                      </a:r>
                    </a:p>
                  </a:txBody>
                  <a:tcPr marL="0" marR="0" marT="0" marB="0" anchor="ctr"/>
                </a:tc>
                <a:tc>
                  <a:txBody>
                    <a:bodyPr/>
                    <a:lstStyle/>
                    <a:p>
                      <a:pPr algn="ctr" fontAlgn="ctr">
                        <a:buNone/>
                      </a:pPr>
                      <a:r>
                        <a:rPr lang="en-IN" sz="1400" b="1" i="0" u="none" strike="noStrike">
                          <a:solidFill>
                            <a:srgbClr val="000000"/>
                          </a:solidFill>
                          <a:effectLst/>
                          <a:latin typeface="Aptos" panose="020B0004020202020204" pitchFamily="34" charset="0"/>
                        </a:rPr>
                        <a:t>0.4</a:t>
                      </a:r>
                    </a:p>
                  </a:txBody>
                  <a:tcPr marL="0" marR="0" marT="0" marB="0" anchor="ctr"/>
                </a:tc>
                <a:extLst>
                  <a:ext uri="{0D108BD9-81ED-4DB2-BD59-A6C34878D82A}">
                    <a16:rowId xmlns:a16="http://schemas.microsoft.com/office/drawing/2014/main" val="4294020417"/>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llama‑3.3‑70b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80</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79</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74</a:t>
                      </a:r>
                    </a:p>
                  </a:txBody>
                  <a:tcPr marL="0" marR="0" marT="0" marB="0" anchor="ctr"/>
                </a:tc>
                <a:extLst>
                  <a:ext uri="{0D108BD9-81ED-4DB2-BD59-A6C34878D82A}">
                    <a16:rowId xmlns:a16="http://schemas.microsoft.com/office/drawing/2014/main" val="136928060"/>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gpt‑oss‑120b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75</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72</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66</a:t>
                      </a:r>
                    </a:p>
                  </a:txBody>
                  <a:tcPr marL="0" marR="0" marT="0" marB="0" anchor="ctr"/>
                </a:tc>
                <a:extLst>
                  <a:ext uri="{0D108BD9-81ED-4DB2-BD59-A6C34878D82A}">
                    <a16:rowId xmlns:a16="http://schemas.microsoft.com/office/drawing/2014/main" val="2605759964"/>
                  </a:ext>
                </a:extLst>
              </a:tr>
              <a:tr h="260705">
                <a:tc>
                  <a:txBody>
                    <a:bodyPr/>
                    <a:lstStyle/>
                    <a:p>
                      <a:pPr algn="l" fontAlgn="ctr">
                        <a:buNone/>
                      </a:pPr>
                      <a:r>
                        <a:rPr lang="en-IN" sz="1400" b="0" i="0" u="none" strike="noStrike" dirty="0">
                          <a:solidFill>
                            <a:srgbClr val="000000"/>
                          </a:solidFill>
                          <a:effectLst/>
                          <a:latin typeface="Aptos" panose="020B0004020202020204" pitchFamily="34" charset="0"/>
                        </a:rPr>
                        <a:t>gpt‑oss‑20b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70</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66</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63</a:t>
                      </a:r>
                    </a:p>
                  </a:txBody>
                  <a:tcPr marL="0" marR="0" marT="0" marB="0" anchor="ctr"/>
                </a:tc>
                <a:extLst>
                  <a:ext uri="{0D108BD9-81ED-4DB2-BD59-A6C34878D82A}">
                    <a16:rowId xmlns:a16="http://schemas.microsoft.com/office/drawing/2014/main" val="1088951916"/>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llama‑3.1‑8b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68</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64</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55</a:t>
                      </a:r>
                    </a:p>
                  </a:txBody>
                  <a:tcPr marL="0" marR="0" marT="0" marB="0" anchor="ctr"/>
                </a:tc>
                <a:extLst>
                  <a:ext uri="{0D108BD9-81ED-4DB2-BD59-A6C34878D82A}">
                    <a16:rowId xmlns:a16="http://schemas.microsoft.com/office/drawing/2014/main" val="3770101470"/>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qwen2.5‑72b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78</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76</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71</a:t>
                      </a:r>
                    </a:p>
                  </a:txBody>
                  <a:tcPr marL="0" marR="0" marT="0" marB="0" anchor="ctr"/>
                </a:tc>
                <a:extLst>
                  <a:ext uri="{0D108BD9-81ED-4DB2-BD59-A6C34878D82A}">
                    <a16:rowId xmlns:a16="http://schemas.microsoft.com/office/drawing/2014/main" val="1371544570"/>
                  </a:ext>
                </a:extLst>
              </a:tr>
            </a:tbl>
          </a:graphicData>
        </a:graphic>
      </p:graphicFrame>
      <p:graphicFrame>
        <p:nvGraphicFramePr>
          <p:cNvPr id="115" name="Table 114">
            <a:extLst>
              <a:ext uri="{FF2B5EF4-FFF2-40B4-BE49-F238E27FC236}">
                <a16:creationId xmlns:a16="http://schemas.microsoft.com/office/drawing/2014/main" id="{003F4FEE-42AF-F918-58D6-CE488BDDF7ED}"/>
              </a:ext>
            </a:extLst>
          </p:cNvPr>
          <p:cNvGraphicFramePr>
            <a:graphicFrameLocks noGrp="1"/>
          </p:cNvGraphicFramePr>
          <p:nvPr>
            <p:extLst>
              <p:ext uri="{D42A27DB-BD31-4B8C-83A1-F6EECF244321}">
                <p14:modId xmlns:p14="http://schemas.microsoft.com/office/powerpoint/2010/main" val="727132579"/>
              </p:ext>
            </p:extLst>
          </p:nvPr>
        </p:nvGraphicFramePr>
        <p:xfrm>
          <a:off x="371787" y="4209792"/>
          <a:ext cx="6489005" cy="2495807"/>
        </p:xfrm>
        <a:graphic>
          <a:graphicData uri="http://schemas.openxmlformats.org/drawingml/2006/table">
            <a:tbl>
              <a:tblPr firstRow="1" bandRow="1">
                <a:tableStyleId>{5940675A-B579-460E-94D1-54222C63F5DA}</a:tableStyleId>
              </a:tblPr>
              <a:tblGrid>
                <a:gridCol w="1297801">
                  <a:extLst>
                    <a:ext uri="{9D8B030D-6E8A-4147-A177-3AD203B41FA5}">
                      <a16:colId xmlns:a16="http://schemas.microsoft.com/office/drawing/2014/main" val="2632216945"/>
                    </a:ext>
                  </a:extLst>
                </a:gridCol>
                <a:gridCol w="1297801">
                  <a:extLst>
                    <a:ext uri="{9D8B030D-6E8A-4147-A177-3AD203B41FA5}">
                      <a16:colId xmlns:a16="http://schemas.microsoft.com/office/drawing/2014/main" val="215923058"/>
                    </a:ext>
                  </a:extLst>
                </a:gridCol>
                <a:gridCol w="1297801">
                  <a:extLst>
                    <a:ext uri="{9D8B030D-6E8A-4147-A177-3AD203B41FA5}">
                      <a16:colId xmlns:a16="http://schemas.microsoft.com/office/drawing/2014/main" val="1022225646"/>
                    </a:ext>
                  </a:extLst>
                </a:gridCol>
                <a:gridCol w="1297801">
                  <a:extLst>
                    <a:ext uri="{9D8B030D-6E8A-4147-A177-3AD203B41FA5}">
                      <a16:colId xmlns:a16="http://schemas.microsoft.com/office/drawing/2014/main" val="4210320081"/>
                    </a:ext>
                  </a:extLst>
                </a:gridCol>
                <a:gridCol w="1297801">
                  <a:extLst>
                    <a:ext uri="{9D8B030D-6E8A-4147-A177-3AD203B41FA5}">
                      <a16:colId xmlns:a16="http://schemas.microsoft.com/office/drawing/2014/main" val="3085940262"/>
                    </a:ext>
                  </a:extLst>
                </a:gridCol>
              </a:tblGrid>
              <a:tr h="449982">
                <a:tc>
                  <a:txBody>
                    <a:bodyPr/>
                    <a:lstStyle/>
                    <a:p>
                      <a:r>
                        <a:rPr lang="en-US" sz="1400" dirty="0">
                          <a:latin typeface="Aptos" panose="020B0004020202020204" pitchFamily="34" charset="0"/>
                        </a:rPr>
                        <a:t>Models</a:t>
                      </a:r>
                      <a:endParaRPr lang="en-IN" sz="1400" dirty="0">
                        <a:latin typeface="Aptos" panose="020B0004020202020204" pitchFamily="34" charset="0"/>
                      </a:endParaRPr>
                    </a:p>
                  </a:txBody>
                  <a:tcPr/>
                </a:tc>
                <a:tc gridSpan="4">
                  <a:txBody>
                    <a:bodyPr/>
                    <a:lstStyle/>
                    <a:p>
                      <a:r>
                        <a:rPr lang="en-IN" sz="1400" dirty="0">
                          <a:latin typeface="Aptos" panose="020B0004020202020204" pitchFamily="34" charset="0"/>
                        </a:rPr>
                        <a:t>Counterfactual Robustness</a:t>
                      </a:r>
                    </a:p>
                  </a:txBody>
                  <a:tcPr/>
                </a:tc>
                <a:tc hMerge="1">
                  <a:txBody>
                    <a:bodyPr/>
                    <a:lstStyle/>
                    <a:p>
                      <a:endParaRPr lang="en-IN" dirty="0"/>
                    </a:p>
                  </a:txBody>
                  <a:tcPr/>
                </a:tc>
                <a:tc hMerge="1">
                  <a:txBody>
                    <a:bodyPr/>
                    <a:lstStyle/>
                    <a:p>
                      <a:endParaRPr lang="en-IN"/>
                    </a:p>
                  </a:txBody>
                  <a:tcPr/>
                </a:tc>
                <a:tc hMerge="1">
                  <a:txBody>
                    <a:bodyPr/>
                    <a:lstStyle/>
                    <a:p>
                      <a:endParaRPr lang="en-IN" dirty="0"/>
                    </a:p>
                  </a:txBody>
                  <a:tcPr/>
                </a:tc>
                <a:extLst>
                  <a:ext uri="{0D108BD9-81ED-4DB2-BD59-A6C34878D82A}">
                    <a16:rowId xmlns:a16="http://schemas.microsoft.com/office/drawing/2014/main" val="3479777209"/>
                  </a:ext>
                </a:extLst>
              </a:tr>
              <a:tr h="342200">
                <a:tc>
                  <a:txBody>
                    <a:bodyPr/>
                    <a:lstStyle/>
                    <a:p>
                      <a:endParaRPr lang="en-IN" sz="1400" dirty="0">
                        <a:latin typeface="Aptos" panose="020B0004020202020204" pitchFamily="34" charset="0"/>
                      </a:endParaRPr>
                    </a:p>
                  </a:txBody>
                  <a:tcPr/>
                </a:tc>
                <a:tc>
                  <a:txBody>
                    <a:bodyPr/>
                    <a:lstStyle/>
                    <a:p>
                      <a:pPr algn="ctr" fontAlgn="ctr">
                        <a:buNone/>
                      </a:pPr>
                      <a:r>
                        <a:rPr lang="en-IN" sz="1400" b="1" i="0" u="none" strike="noStrike">
                          <a:solidFill>
                            <a:srgbClr val="000000"/>
                          </a:solidFill>
                          <a:effectLst/>
                          <a:latin typeface="Aptos" panose="020B0004020202020204" pitchFamily="34" charset="0"/>
                        </a:rPr>
                        <a:t>Acc</a:t>
                      </a:r>
                    </a:p>
                  </a:txBody>
                  <a:tcPr marL="0" marR="0" marT="0" marB="0" anchor="ctr"/>
                </a:tc>
                <a:tc>
                  <a:txBody>
                    <a:bodyPr/>
                    <a:lstStyle/>
                    <a:p>
                      <a:pPr algn="ctr" fontAlgn="ctr">
                        <a:buNone/>
                      </a:pPr>
                      <a:r>
                        <a:rPr lang="en-IN" sz="1400" b="1" i="0" u="none" strike="noStrike" dirty="0" err="1">
                          <a:solidFill>
                            <a:srgbClr val="000000"/>
                          </a:solidFill>
                          <a:effectLst/>
                          <a:latin typeface="Aptos" panose="020B0004020202020204" pitchFamily="34" charset="0"/>
                        </a:rPr>
                        <a:t>Acc_doc</a:t>
                      </a:r>
                      <a:endParaRPr lang="en-IN" sz="1400" b="1" i="0" u="none" strike="noStrike" dirty="0">
                        <a:solidFill>
                          <a:srgbClr val="000000"/>
                        </a:solidFill>
                        <a:effectLst/>
                        <a:latin typeface="Aptos" panose="020B0004020202020204" pitchFamily="34" charset="0"/>
                      </a:endParaRPr>
                    </a:p>
                  </a:txBody>
                  <a:tcPr marL="0" marR="0" marT="0" marB="0" anchor="ctr"/>
                </a:tc>
                <a:tc>
                  <a:txBody>
                    <a:bodyPr/>
                    <a:lstStyle/>
                    <a:p>
                      <a:pPr algn="ctr" fontAlgn="ctr">
                        <a:buNone/>
                      </a:pPr>
                      <a:r>
                        <a:rPr lang="en-IN" sz="1400" b="1" i="0" u="none" strike="noStrike">
                          <a:solidFill>
                            <a:srgbClr val="000000"/>
                          </a:solidFill>
                          <a:effectLst/>
                          <a:latin typeface="Aptos" panose="020B0004020202020204" pitchFamily="34" charset="0"/>
                        </a:rPr>
                        <a:t>ED</a:t>
                      </a:r>
                    </a:p>
                  </a:txBody>
                  <a:tcPr marL="0" marR="0" marT="0" marB="0" anchor="ctr"/>
                </a:tc>
                <a:tc>
                  <a:txBody>
                    <a:bodyPr/>
                    <a:lstStyle/>
                    <a:p>
                      <a:pPr algn="ctr" fontAlgn="ctr">
                        <a:buNone/>
                      </a:pPr>
                      <a:r>
                        <a:rPr lang="en-IN" sz="1400" b="1" i="0" u="none" strike="noStrike" dirty="0">
                          <a:solidFill>
                            <a:srgbClr val="000000"/>
                          </a:solidFill>
                          <a:effectLst/>
                          <a:latin typeface="Aptos" panose="020B0004020202020204" pitchFamily="34" charset="0"/>
                        </a:rPr>
                        <a:t>CR</a:t>
                      </a:r>
                    </a:p>
                  </a:txBody>
                  <a:tcPr marL="0" marR="0" marT="0" marB="0" anchor="ctr"/>
                </a:tc>
                <a:extLst>
                  <a:ext uri="{0D108BD9-81ED-4DB2-BD59-A6C34878D82A}">
                    <a16:rowId xmlns:a16="http://schemas.microsoft.com/office/drawing/2014/main" val="4294020417"/>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llama‑3.3‑70b</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93</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61</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54</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93</a:t>
                      </a:r>
                    </a:p>
                  </a:txBody>
                  <a:tcPr marL="0" marR="0" marT="0" marB="0" anchor="ctr"/>
                </a:tc>
                <a:extLst>
                  <a:ext uri="{0D108BD9-81ED-4DB2-BD59-A6C34878D82A}">
                    <a16:rowId xmlns:a16="http://schemas.microsoft.com/office/drawing/2014/main" val="136928060"/>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gpt‑oss‑120b</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91</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51</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60</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83</a:t>
                      </a:r>
                    </a:p>
                  </a:txBody>
                  <a:tcPr marL="0" marR="0" marT="0" marB="0" anchor="ctr"/>
                </a:tc>
                <a:extLst>
                  <a:ext uri="{0D108BD9-81ED-4DB2-BD59-A6C34878D82A}">
                    <a16:rowId xmlns:a16="http://schemas.microsoft.com/office/drawing/2014/main" val="2605759964"/>
                  </a:ext>
                </a:extLst>
              </a:tr>
              <a:tr h="260705">
                <a:tc>
                  <a:txBody>
                    <a:bodyPr/>
                    <a:lstStyle/>
                    <a:p>
                      <a:pPr algn="l" fontAlgn="ctr">
                        <a:buNone/>
                      </a:pPr>
                      <a:r>
                        <a:rPr lang="en-IN" sz="1400" b="0" i="0" u="none" strike="noStrike" dirty="0">
                          <a:solidFill>
                            <a:srgbClr val="000000"/>
                          </a:solidFill>
                          <a:effectLst/>
                          <a:latin typeface="Aptos" panose="020B0004020202020204" pitchFamily="34" charset="0"/>
                        </a:rPr>
                        <a:t>gpt‑oss‑20b</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71</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26</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40</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65</a:t>
                      </a:r>
                    </a:p>
                  </a:txBody>
                  <a:tcPr marL="0" marR="0" marT="0" marB="0" anchor="ctr"/>
                </a:tc>
                <a:extLst>
                  <a:ext uri="{0D108BD9-81ED-4DB2-BD59-A6C34878D82A}">
                    <a16:rowId xmlns:a16="http://schemas.microsoft.com/office/drawing/2014/main" val="1088951916"/>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llama‑3.1‑8b</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82</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12</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24</a:t>
                      </a:r>
                    </a:p>
                  </a:txBody>
                  <a:tcPr marL="0" marR="0" marT="0" marB="0" anchor="ctr"/>
                </a:tc>
                <a:tc>
                  <a:txBody>
                    <a:bodyPr/>
                    <a:lstStyle/>
                    <a:p>
                      <a:pPr algn="r" fontAlgn="ctr">
                        <a:buNone/>
                      </a:pPr>
                      <a:r>
                        <a:rPr lang="en-IN" sz="1400" b="0" i="0" u="none" strike="noStrike">
                          <a:solidFill>
                            <a:srgbClr val="000000"/>
                          </a:solidFill>
                          <a:effectLst/>
                          <a:latin typeface="Aptos" panose="020B0004020202020204" pitchFamily="34" charset="0"/>
                        </a:rPr>
                        <a:t>42</a:t>
                      </a:r>
                    </a:p>
                  </a:txBody>
                  <a:tcPr marL="0" marR="0" marT="0" marB="0" anchor="ctr"/>
                </a:tc>
                <a:extLst>
                  <a:ext uri="{0D108BD9-81ED-4DB2-BD59-A6C34878D82A}">
                    <a16:rowId xmlns:a16="http://schemas.microsoft.com/office/drawing/2014/main" val="3770101470"/>
                  </a:ext>
                </a:extLst>
              </a:tr>
              <a:tr h="360730">
                <a:tc>
                  <a:txBody>
                    <a:bodyPr/>
                    <a:lstStyle/>
                    <a:p>
                      <a:pPr algn="l" fontAlgn="ctr">
                        <a:buNone/>
                      </a:pPr>
                      <a:r>
                        <a:rPr lang="en-IN" sz="1400" b="0" i="0" u="none" strike="noStrike" dirty="0">
                          <a:solidFill>
                            <a:srgbClr val="000000"/>
                          </a:solidFill>
                          <a:effectLst/>
                          <a:latin typeface="Aptos" panose="020B0004020202020204" pitchFamily="34" charset="0"/>
                        </a:rPr>
                        <a:t>qwen2.5‑72b</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92</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71</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60</a:t>
                      </a:r>
                    </a:p>
                  </a:txBody>
                  <a:tcPr marL="0" marR="0" marT="0" marB="0" anchor="ctr"/>
                </a:tc>
                <a:tc>
                  <a:txBody>
                    <a:bodyPr/>
                    <a:lstStyle/>
                    <a:p>
                      <a:pPr algn="r" fontAlgn="ctr">
                        <a:buNone/>
                      </a:pPr>
                      <a:r>
                        <a:rPr lang="en-IN" sz="1400" b="0" i="0" u="none" strike="noStrike" dirty="0">
                          <a:solidFill>
                            <a:srgbClr val="000000"/>
                          </a:solidFill>
                          <a:effectLst/>
                          <a:latin typeface="Aptos" panose="020B0004020202020204" pitchFamily="34" charset="0"/>
                        </a:rPr>
                        <a:t>90</a:t>
                      </a:r>
                    </a:p>
                  </a:txBody>
                  <a:tcPr marL="0" marR="0" marT="0" marB="0" anchor="ctr"/>
                </a:tc>
                <a:extLst>
                  <a:ext uri="{0D108BD9-81ED-4DB2-BD59-A6C34878D82A}">
                    <a16:rowId xmlns:a16="http://schemas.microsoft.com/office/drawing/2014/main" val="1371544570"/>
                  </a:ext>
                </a:extLst>
              </a:tr>
            </a:tbl>
          </a:graphicData>
        </a:graphic>
      </p:graphicFrame>
      <p:sp>
        <p:nvSpPr>
          <p:cNvPr id="117" name="Shape 36">
            <a:extLst>
              <a:ext uri="{FF2B5EF4-FFF2-40B4-BE49-F238E27FC236}">
                <a16:creationId xmlns:a16="http://schemas.microsoft.com/office/drawing/2014/main" id="{D69B8B8B-9577-5B75-2345-46928054FAB1}"/>
              </a:ext>
            </a:extLst>
          </p:cNvPr>
          <p:cNvSpPr/>
          <p:nvPr/>
        </p:nvSpPr>
        <p:spPr>
          <a:xfrm>
            <a:off x="7053943" y="4209793"/>
            <a:ext cx="5135009" cy="2495806"/>
          </a:xfrm>
          <a:prstGeom prst="roundRect">
            <a:avLst>
              <a:gd name="adj" fmla="val 3636"/>
            </a:avLst>
          </a:prstGeom>
          <a:solidFill>
            <a:srgbClr val="FFFFFF"/>
          </a:solidFill>
          <a:ln w="9525">
            <a:solidFill>
              <a:srgbClr val="C9B195"/>
            </a:solidFill>
            <a:prstDash val="solid"/>
          </a:ln>
        </p:spPr>
        <p:txBody>
          <a:bodyPr/>
          <a:lstStyle/>
          <a:p>
            <a:pPr lvl="0"/>
            <a:r>
              <a:rPr lang="en-IN" sz="1400" b="1" dirty="0"/>
              <a:t>Noise Robustness:</a:t>
            </a:r>
            <a:r>
              <a:rPr lang="en-IN" sz="1400" dirty="0"/>
              <a:t> Large models stayed near-perfect even with 80% distractors (≈99% accuracy). Only the smallest model (LLaMA‑8B) dropped sharply to 86, showing noise isn’t the main weakness.</a:t>
            </a:r>
          </a:p>
          <a:p>
            <a:pPr lvl="0"/>
            <a:r>
              <a:rPr lang="en-IN" sz="1400" b="1" dirty="0"/>
              <a:t>Rejection &amp; Integration:</a:t>
            </a:r>
            <a:r>
              <a:rPr lang="en-IN" sz="1400" dirty="0"/>
              <a:t> Refusal rates were modest (67–74%), meaning models often try to answer even when evidence is missing. Integration is harder than it looks — 80% at best, falling to 55–74% as noise rises.</a:t>
            </a:r>
          </a:p>
          <a:p>
            <a:pPr lvl="0"/>
            <a:r>
              <a:rPr lang="en-IN" sz="1400" b="1" dirty="0"/>
              <a:t>Counterfactual Robustness:</a:t>
            </a:r>
            <a:r>
              <a:rPr lang="en-IN" sz="1400" dirty="0"/>
              <a:t> Detecting wrong evidence was hardest — Qwen‑72B led with 71, LLaMA‑70B scored 61, but smaller models collapsed (GPT‑20B at 26, LLaMA‑8B at 12). Robustness clearly scales with model size.</a:t>
            </a:r>
          </a:p>
        </p:txBody>
      </p:sp>
    </p:spTree>
    <p:extLst>
      <p:ext uri="{BB962C8B-B14F-4D97-AF65-F5344CB8AC3E}">
        <p14:creationId xmlns:p14="http://schemas.microsoft.com/office/powerpoint/2010/main" val="14058187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Tools &amp; Technology Stack</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Chosen under three real constraints: no GPU, daily usage limits, sessions that disconnect</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4.5</a:t>
            </a:r>
            <a:endParaRPr lang="en-US" sz="1000" dirty="0"/>
          </a:p>
        </p:txBody>
      </p:sp>
      <p:sp>
        <p:nvSpPr>
          <p:cNvPr id="7" name="Shape 5"/>
          <p:cNvSpPr/>
          <p:nvPr/>
        </p:nvSpPr>
        <p:spPr>
          <a:xfrm>
            <a:off x="548640" y="1371600"/>
            <a:ext cx="2697480" cy="457200"/>
          </a:xfrm>
          <a:prstGeom prst="roundRect">
            <a:avLst>
              <a:gd name="adj" fmla="val 12000"/>
            </a:avLst>
          </a:prstGeom>
          <a:solidFill>
            <a:srgbClr val="4A6B4F"/>
          </a:solidFill>
          <a:ln/>
        </p:spPr>
        <p:txBody>
          <a:bodyPr/>
          <a:lstStyle/>
          <a:p>
            <a:endParaRPr lang="en-IN" sz="2400"/>
          </a:p>
        </p:txBody>
      </p:sp>
      <p:sp>
        <p:nvSpPr>
          <p:cNvPr id="8" name="Text 6"/>
          <p:cNvSpPr/>
          <p:nvPr/>
        </p:nvSpPr>
        <p:spPr>
          <a:xfrm>
            <a:off x="548640" y="1371600"/>
            <a:ext cx="26974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Runtime &amp; data</a:t>
            </a:r>
            <a:endParaRPr lang="en-US" sz="1600" dirty="0"/>
          </a:p>
        </p:txBody>
      </p:sp>
      <p:sp>
        <p:nvSpPr>
          <p:cNvPr id="9" name="Shape 7"/>
          <p:cNvSpPr/>
          <p:nvPr/>
        </p:nvSpPr>
        <p:spPr>
          <a:xfrm>
            <a:off x="548640" y="193852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10" name="Text 8"/>
          <p:cNvSpPr/>
          <p:nvPr/>
        </p:nvSpPr>
        <p:spPr>
          <a:xfrm>
            <a:off x="685800" y="202996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Python 3 on Google Colab</a:t>
            </a:r>
            <a:endParaRPr lang="en-US" sz="1100" dirty="0"/>
          </a:p>
        </p:txBody>
      </p:sp>
      <p:sp>
        <p:nvSpPr>
          <p:cNvPr id="11" name="Text 9"/>
          <p:cNvSpPr/>
          <p:nvPr/>
        </p:nvSpPr>
        <p:spPr>
          <a:xfrm>
            <a:off x="685800" y="230428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free, shared, no GPU needed</a:t>
            </a:r>
            <a:endParaRPr lang="en-US" sz="1050" dirty="0"/>
          </a:p>
        </p:txBody>
      </p:sp>
      <p:sp>
        <p:nvSpPr>
          <p:cNvPr id="12" name="Shape 10"/>
          <p:cNvSpPr/>
          <p:nvPr/>
        </p:nvSpPr>
        <p:spPr>
          <a:xfrm>
            <a:off x="548640" y="2898648"/>
            <a:ext cx="2697480" cy="841248"/>
          </a:xfrm>
          <a:prstGeom prst="roundRect">
            <a:avLst>
              <a:gd name="adj" fmla="val 6522"/>
            </a:avLst>
          </a:prstGeom>
          <a:solidFill>
            <a:srgbClr val="F0E7DA"/>
          </a:solidFill>
          <a:ln w="8890">
            <a:solidFill>
              <a:srgbClr val="C9B195"/>
            </a:solidFill>
            <a:prstDash val="solid"/>
          </a:ln>
        </p:spPr>
        <p:txBody>
          <a:bodyPr/>
          <a:lstStyle/>
          <a:p>
            <a:endParaRPr lang="en-IN" sz="2400"/>
          </a:p>
        </p:txBody>
      </p:sp>
      <p:sp>
        <p:nvSpPr>
          <p:cNvPr id="13" name="Text 11"/>
          <p:cNvSpPr/>
          <p:nvPr/>
        </p:nvSpPr>
        <p:spPr>
          <a:xfrm>
            <a:off x="685800" y="299008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rungalileo/ragbench</a:t>
            </a:r>
            <a:endParaRPr lang="en-US" sz="1100" dirty="0"/>
          </a:p>
        </p:txBody>
      </p:sp>
      <p:sp>
        <p:nvSpPr>
          <p:cNvPr id="14" name="Text 12"/>
          <p:cNvSpPr/>
          <p:nvPr/>
        </p:nvSpPr>
        <p:spPr>
          <a:xfrm>
            <a:off x="685800" y="326440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documents plus reference scores</a:t>
            </a:r>
            <a:endParaRPr lang="en-US" sz="1050" dirty="0"/>
          </a:p>
        </p:txBody>
      </p:sp>
      <p:sp>
        <p:nvSpPr>
          <p:cNvPr id="15" name="Shape 13"/>
          <p:cNvSpPr/>
          <p:nvPr/>
        </p:nvSpPr>
        <p:spPr>
          <a:xfrm>
            <a:off x="548640" y="385876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16" name="Text 14"/>
          <p:cNvSpPr/>
          <p:nvPr/>
        </p:nvSpPr>
        <p:spPr>
          <a:xfrm>
            <a:off x="685800" y="395020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RGB (English set)</a:t>
            </a:r>
            <a:endParaRPr lang="en-US" sz="1100" dirty="0"/>
          </a:p>
        </p:txBody>
      </p:sp>
      <p:sp>
        <p:nvSpPr>
          <p:cNvPr id="17" name="Text 15"/>
          <p:cNvSpPr/>
          <p:nvPr/>
        </p:nvSpPr>
        <p:spPr>
          <a:xfrm>
            <a:off x="685800" y="422452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robustness testbed</a:t>
            </a:r>
            <a:endParaRPr lang="en-US" sz="1050" dirty="0"/>
          </a:p>
        </p:txBody>
      </p:sp>
      <p:sp>
        <p:nvSpPr>
          <p:cNvPr id="18" name="Shape 16"/>
          <p:cNvSpPr/>
          <p:nvPr/>
        </p:nvSpPr>
        <p:spPr>
          <a:xfrm>
            <a:off x="3401568" y="1371600"/>
            <a:ext cx="2697480" cy="457200"/>
          </a:xfrm>
          <a:prstGeom prst="roundRect">
            <a:avLst>
              <a:gd name="adj" fmla="val 12000"/>
            </a:avLst>
          </a:prstGeom>
          <a:solidFill>
            <a:srgbClr val="8C6E52"/>
          </a:solidFill>
          <a:ln/>
        </p:spPr>
        <p:txBody>
          <a:bodyPr/>
          <a:lstStyle/>
          <a:p>
            <a:endParaRPr lang="en-IN" sz="2400"/>
          </a:p>
        </p:txBody>
      </p:sp>
      <p:sp>
        <p:nvSpPr>
          <p:cNvPr id="19" name="Text 17"/>
          <p:cNvSpPr/>
          <p:nvPr/>
        </p:nvSpPr>
        <p:spPr>
          <a:xfrm>
            <a:off x="3401568" y="1371600"/>
            <a:ext cx="26974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Retrieval stack</a:t>
            </a:r>
            <a:endParaRPr lang="en-US" sz="1600" dirty="0"/>
          </a:p>
        </p:txBody>
      </p:sp>
      <p:sp>
        <p:nvSpPr>
          <p:cNvPr id="20" name="Shape 18"/>
          <p:cNvSpPr/>
          <p:nvPr/>
        </p:nvSpPr>
        <p:spPr>
          <a:xfrm>
            <a:off x="3401568" y="193852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21" name="Text 19"/>
          <p:cNvSpPr/>
          <p:nvPr/>
        </p:nvSpPr>
        <p:spPr>
          <a:xfrm>
            <a:off x="3538728" y="202996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sentence-transformers</a:t>
            </a:r>
            <a:endParaRPr lang="en-US" sz="1100" dirty="0"/>
          </a:p>
        </p:txBody>
      </p:sp>
      <p:sp>
        <p:nvSpPr>
          <p:cNvPr id="22" name="Text 20"/>
          <p:cNvSpPr/>
          <p:nvPr/>
        </p:nvSpPr>
        <p:spPr>
          <a:xfrm>
            <a:off x="3538728" y="230428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one interface for every embedder</a:t>
            </a:r>
            <a:endParaRPr lang="en-US" sz="1050" dirty="0"/>
          </a:p>
        </p:txBody>
      </p:sp>
      <p:sp>
        <p:nvSpPr>
          <p:cNvPr id="23" name="Shape 21"/>
          <p:cNvSpPr/>
          <p:nvPr/>
        </p:nvSpPr>
        <p:spPr>
          <a:xfrm>
            <a:off x="3401568" y="2898648"/>
            <a:ext cx="2697480" cy="841248"/>
          </a:xfrm>
          <a:prstGeom prst="roundRect">
            <a:avLst>
              <a:gd name="adj" fmla="val 6522"/>
            </a:avLst>
          </a:prstGeom>
          <a:solidFill>
            <a:srgbClr val="F0E7DA"/>
          </a:solidFill>
          <a:ln w="8890">
            <a:solidFill>
              <a:srgbClr val="C9B195"/>
            </a:solidFill>
            <a:prstDash val="solid"/>
          </a:ln>
        </p:spPr>
        <p:txBody>
          <a:bodyPr/>
          <a:lstStyle/>
          <a:p>
            <a:endParaRPr lang="en-IN" sz="2400"/>
          </a:p>
        </p:txBody>
      </p:sp>
      <p:sp>
        <p:nvSpPr>
          <p:cNvPr id="24" name="Text 22"/>
          <p:cNvSpPr/>
          <p:nvPr/>
        </p:nvSpPr>
        <p:spPr>
          <a:xfrm>
            <a:off x="3538728" y="299008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FAISS flat index</a:t>
            </a:r>
            <a:endParaRPr lang="en-US" sz="1100" dirty="0"/>
          </a:p>
        </p:txBody>
      </p:sp>
      <p:sp>
        <p:nvSpPr>
          <p:cNvPr id="25" name="Text 23"/>
          <p:cNvSpPr/>
          <p:nvPr/>
        </p:nvSpPr>
        <p:spPr>
          <a:xfrm>
            <a:off x="3538728" y="326440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exact search — no approximation error to explain</a:t>
            </a:r>
            <a:endParaRPr lang="en-US" sz="1050" dirty="0"/>
          </a:p>
        </p:txBody>
      </p:sp>
      <p:sp>
        <p:nvSpPr>
          <p:cNvPr id="26" name="Shape 24"/>
          <p:cNvSpPr/>
          <p:nvPr/>
        </p:nvSpPr>
        <p:spPr>
          <a:xfrm>
            <a:off x="3401568" y="385876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27" name="Text 25"/>
          <p:cNvSpPr/>
          <p:nvPr/>
        </p:nvSpPr>
        <p:spPr>
          <a:xfrm>
            <a:off x="3538728" y="395020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rank-bm25</a:t>
            </a:r>
            <a:endParaRPr lang="en-US" sz="1100" dirty="0"/>
          </a:p>
        </p:txBody>
      </p:sp>
      <p:sp>
        <p:nvSpPr>
          <p:cNvPr id="28" name="Text 26"/>
          <p:cNvSpPr/>
          <p:nvPr/>
        </p:nvSpPr>
        <p:spPr>
          <a:xfrm>
            <a:off x="3538728" y="422452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standard keyword search</a:t>
            </a:r>
            <a:endParaRPr lang="en-US" sz="1050" dirty="0"/>
          </a:p>
        </p:txBody>
      </p:sp>
      <p:sp>
        <p:nvSpPr>
          <p:cNvPr id="29" name="Shape 27"/>
          <p:cNvSpPr/>
          <p:nvPr/>
        </p:nvSpPr>
        <p:spPr>
          <a:xfrm>
            <a:off x="3401568" y="4818888"/>
            <a:ext cx="2697480" cy="841248"/>
          </a:xfrm>
          <a:prstGeom prst="roundRect">
            <a:avLst>
              <a:gd name="adj" fmla="val 6522"/>
            </a:avLst>
          </a:prstGeom>
          <a:solidFill>
            <a:srgbClr val="F0E7DA"/>
          </a:solidFill>
          <a:ln w="8890">
            <a:solidFill>
              <a:srgbClr val="C9B195"/>
            </a:solidFill>
            <a:prstDash val="solid"/>
          </a:ln>
        </p:spPr>
        <p:txBody>
          <a:bodyPr/>
          <a:lstStyle/>
          <a:p>
            <a:endParaRPr lang="en-IN" sz="2400"/>
          </a:p>
        </p:txBody>
      </p:sp>
      <p:sp>
        <p:nvSpPr>
          <p:cNvPr id="30" name="Text 28"/>
          <p:cNvSpPr/>
          <p:nvPr/>
        </p:nvSpPr>
        <p:spPr>
          <a:xfrm>
            <a:off x="3538728" y="491032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ms-marco cross-encoder</a:t>
            </a:r>
            <a:endParaRPr lang="en-US" sz="1100" dirty="0"/>
          </a:p>
        </p:txBody>
      </p:sp>
      <p:sp>
        <p:nvSpPr>
          <p:cNvPr id="31" name="Text 29"/>
          <p:cNvSpPr/>
          <p:nvPr/>
        </p:nvSpPr>
        <p:spPr>
          <a:xfrm>
            <a:off x="3538728" y="518464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reads question and document together</a:t>
            </a:r>
            <a:endParaRPr lang="en-US" sz="1050" dirty="0"/>
          </a:p>
        </p:txBody>
      </p:sp>
      <p:sp>
        <p:nvSpPr>
          <p:cNvPr id="32" name="Shape 30"/>
          <p:cNvSpPr/>
          <p:nvPr/>
        </p:nvSpPr>
        <p:spPr>
          <a:xfrm>
            <a:off x="6254496" y="1371600"/>
            <a:ext cx="2697480" cy="457200"/>
          </a:xfrm>
          <a:prstGeom prst="roundRect">
            <a:avLst>
              <a:gd name="adj" fmla="val 12000"/>
            </a:avLst>
          </a:prstGeom>
          <a:solidFill>
            <a:srgbClr val="7D9B76"/>
          </a:solidFill>
          <a:ln/>
        </p:spPr>
        <p:txBody>
          <a:bodyPr/>
          <a:lstStyle/>
          <a:p>
            <a:endParaRPr lang="en-IN" sz="2400"/>
          </a:p>
        </p:txBody>
      </p:sp>
      <p:sp>
        <p:nvSpPr>
          <p:cNvPr id="33" name="Text 31"/>
          <p:cNvSpPr/>
          <p:nvPr/>
        </p:nvSpPr>
        <p:spPr>
          <a:xfrm>
            <a:off x="6254496" y="1371600"/>
            <a:ext cx="26974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Models &amp; serving</a:t>
            </a:r>
            <a:endParaRPr lang="en-US" sz="1600" dirty="0"/>
          </a:p>
        </p:txBody>
      </p:sp>
      <p:sp>
        <p:nvSpPr>
          <p:cNvPr id="34" name="Shape 32"/>
          <p:cNvSpPr/>
          <p:nvPr/>
        </p:nvSpPr>
        <p:spPr>
          <a:xfrm>
            <a:off x="6254496" y="193852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35" name="Text 33"/>
          <p:cNvSpPr/>
          <p:nvPr/>
        </p:nvSpPr>
        <p:spPr>
          <a:xfrm>
            <a:off x="6391656" y="202996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llama-3.3-70b-versatile</a:t>
            </a:r>
            <a:endParaRPr lang="en-US" sz="1100" dirty="0"/>
          </a:p>
        </p:txBody>
      </p:sp>
      <p:sp>
        <p:nvSpPr>
          <p:cNvPr id="36" name="Text 34"/>
          <p:cNvSpPr/>
          <p:nvPr/>
        </p:nvSpPr>
        <p:spPr>
          <a:xfrm>
            <a:off x="6391656" y="230428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generator, temperature 0</a:t>
            </a:r>
            <a:endParaRPr lang="en-US" sz="1050" dirty="0"/>
          </a:p>
        </p:txBody>
      </p:sp>
      <p:sp>
        <p:nvSpPr>
          <p:cNvPr id="37" name="Shape 35"/>
          <p:cNvSpPr/>
          <p:nvPr/>
        </p:nvSpPr>
        <p:spPr>
          <a:xfrm>
            <a:off x="6254496" y="2898648"/>
            <a:ext cx="2697480" cy="841248"/>
          </a:xfrm>
          <a:prstGeom prst="roundRect">
            <a:avLst>
              <a:gd name="adj" fmla="val 6522"/>
            </a:avLst>
          </a:prstGeom>
          <a:solidFill>
            <a:srgbClr val="F0E7DA"/>
          </a:solidFill>
          <a:ln w="8890">
            <a:solidFill>
              <a:srgbClr val="C9B195"/>
            </a:solidFill>
            <a:prstDash val="solid"/>
          </a:ln>
        </p:spPr>
        <p:txBody>
          <a:bodyPr/>
          <a:lstStyle/>
          <a:p>
            <a:endParaRPr lang="en-IN" sz="2400"/>
          </a:p>
        </p:txBody>
      </p:sp>
      <p:sp>
        <p:nvSpPr>
          <p:cNvPr id="38" name="Text 36"/>
          <p:cNvSpPr/>
          <p:nvPr/>
        </p:nvSpPr>
        <p:spPr>
          <a:xfrm>
            <a:off x="6391656" y="299008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openai/gpt-oss-120b</a:t>
            </a:r>
            <a:endParaRPr lang="en-US" sz="1100" dirty="0"/>
          </a:p>
        </p:txBody>
      </p:sp>
      <p:sp>
        <p:nvSpPr>
          <p:cNvPr id="39" name="Text 37"/>
          <p:cNvSpPr/>
          <p:nvPr/>
        </p:nvSpPr>
        <p:spPr>
          <a:xfrm>
            <a:off x="6391656" y="326440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judge — larger than the generator</a:t>
            </a:r>
            <a:endParaRPr lang="en-US" sz="1050" dirty="0"/>
          </a:p>
        </p:txBody>
      </p:sp>
      <p:sp>
        <p:nvSpPr>
          <p:cNvPr id="40" name="Shape 38"/>
          <p:cNvSpPr/>
          <p:nvPr/>
        </p:nvSpPr>
        <p:spPr>
          <a:xfrm>
            <a:off x="6254496" y="385876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41" name="Text 39"/>
          <p:cNvSpPr/>
          <p:nvPr/>
        </p:nvSpPr>
        <p:spPr>
          <a:xfrm>
            <a:off x="6391656" y="395020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Groq API + OpenRouter</a:t>
            </a:r>
            <a:endParaRPr lang="en-US" sz="1100" dirty="0"/>
          </a:p>
        </p:txBody>
      </p:sp>
      <p:sp>
        <p:nvSpPr>
          <p:cNvPr id="42" name="Text 40"/>
          <p:cNvSpPr/>
          <p:nvPr/>
        </p:nvSpPr>
        <p:spPr>
          <a:xfrm>
            <a:off x="6391656" y="422452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hosted inference, paid overflow</a:t>
            </a:r>
            <a:endParaRPr lang="en-US" sz="1050" dirty="0"/>
          </a:p>
        </p:txBody>
      </p:sp>
      <p:sp>
        <p:nvSpPr>
          <p:cNvPr id="43" name="Shape 41"/>
          <p:cNvSpPr/>
          <p:nvPr/>
        </p:nvSpPr>
        <p:spPr>
          <a:xfrm>
            <a:off x="6254496" y="4818888"/>
            <a:ext cx="2697480" cy="841248"/>
          </a:xfrm>
          <a:prstGeom prst="roundRect">
            <a:avLst>
              <a:gd name="adj" fmla="val 6522"/>
            </a:avLst>
          </a:prstGeom>
          <a:solidFill>
            <a:srgbClr val="F0E7DA"/>
          </a:solidFill>
          <a:ln w="8890">
            <a:solidFill>
              <a:srgbClr val="C9B195"/>
            </a:solidFill>
            <a:prstDash val="solid"/>
          </a:ln>
        </p:spPr>
        <p:txBody>
          <a:bodyPr/>
          <a:lstStyle/>
          <a:p>
            <a:endParaRPr lang="en-IN" sz="2400"/>
          </a:p>
        </p:txBody>
      </p:sp>
      <p:sp>
        <p:nvSpPr>
          <p:cNvPr id="44" name="Text 42"/>
          <p:cNvSpPr/>
          <p:nvPr/>
        </p:nvSpPr>
        <p:spPr>
          <a:xfrm>
            <a:off x="6391656" y="491032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Gradio + HF Spaces</a:t>
            </a:r>
            <a:endParaRPr lang="en-US" sz="1100" dirty="0"/>
          </a:p>
        </p:txBody>
      </p:sp>
      <p:sp>
        <p:nvSpPr>
          <p:cNvPr id="45" name="Text 43"/>
          <p:cNvSpPr/>
          <p:nvPr/>
        </p:nvSpPr>
        <p:spPr>
          <a:xfrm>
            <a:off x="6391656" y="518464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demo interface</a:t>
            </a:r>
            <a:endParaRPr lang="en-US" sz="1050" dirty="0"/>
          </a:p>
        </p:txBody>
      </p:sp>
      <p:sp>
        <p:nvSpPr>
          <p:cNvPr id="46" name="Shape 44"/>
          <p:cNvSpPr/>
          <p:nvPr/>
        </p:nvSpPr>
        <p:spPr>
          <a:xfrm>
            <a:off x="9107424" y="1371600"/>
            <a:ext cx="2697480" cy="457200"/>
          </a:xfrm>
          <a:prstGeom prst="roundRect">
            <a:avLst>
              <a:gd name="adj" fmla="val 12000"/>
            </a:avLst>
          </a:prstGeom>
          <a:solidFill>
            <a:srgbClr val="5C4A38"/>
          </a:solidFill>
          <a:ln/>
        </p:spPr>
        <p:txBody>
          <a:bodyPr/>
          <a:lstStyle/>
          <a:p>
            <a:endParaRPr lang="en-IN" sz="2400"/>
          </a:p>
        </p:txBody>
      </p:sp>
      <p:sp>
        <p:nvSpPr>
          <p:cNvPr id="47" name="Text 45"/>
          <p:cNvSpPr/>
          <p:nvPr/>
        </p:nvSpPr>
        <p:spPr>
          <a:xfrm>
            <a:off x="9107424" y="1371600"/>
            <a:ext cx="26974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Engineering</a:t>
            </a:r>
            <a:endParaRPr lang="en-US" sz="1600" dirty="0"/>
          </a:p>
        </p:txBody>
      </p:sp>
      <p:sp>
        <p:nvSpPr>
          <p:cNvPr id="48" name="Shape 46"/>
          <p:cNvSpPr/>
          <p:nvPr/>
        </p:nvSpPr>
        <p:spPr>
          <a:xfrm>
            <a:off x="9107424" y="193852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49" name="Text 47"/>
          <p:cNvSpPr/>
          <p:nvPr/>
        </p:nvSpPr>
        <p:spPr>
          <a:xfrm>
            <a:off x="9244584" y="202996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scikit-learn</a:t>
            </a:r>
            <a:endParaRPr lang="en-US" sz="1100" dirty="0"/>
          </a:p>
        </p:txBody>
      </p:sp>
      <p:sp>
        <p:nvSpPr>
          <p:cNvPr id="50" name="Text 48"/>
          <p:cNvSpPr/>
          <p:nvPr/>
        </p:nvSpPr>
        <p:spPr>
          <a:xfrm>
            <a:off x="9244584" y="230428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RMSE and AUCROC</a:t>
            </a:r>
            <a:endParaRPr lang="en-US" sz="1050" dirty="0"/>
          </a:p>
        </p:txBody>
      </p:sp>
      <p:sp>
        <p:nvSpPr>
          <p:cNvPr id="51" name="Shape 49"/>
          <p:cNvSpPr/>
          <p:nvPr/>
        </p:nvSpPr>
        <p:spPr>
          <a:xfrm>
            <a:off x="9107424" y="2898648"/>
            <a:ext cx="2697480" cy="841248"/>
          </a:xfrm>
          <a:prstGeom prst="roundRect">
            <a:avLst>
              <a:gd name="adj" fmla="val 6522"/>
            </a:avLst>
          </a:prstGeom>
          <a:solidFill>
            <a:srgbClr val="F0E7DA"/>
          </a:solidFill>
          <a:ln w="8890">
            <a:solidFill>
              <a:srgbClr val="C9B195"/>
            </a:solidFill>
            <a:prstDash val="solid"/>
          </a:ln>
        </p:spPr>
        <p:txBody>
          <a:bodyPr/>
          <a:lstStyle/>
          <a:p>
            <a:endParaRPr lang="en-IN" sz="2400"/>
          </a:p>
        </p:txBody>
      </p:sp>
      <p:sp>
        <p:nvSpPr>
          <p:cNvPr id="52" name="Text 50"/>
          <p:cNvSpPr/>
          <p:nvPr/>
        </p:nvSpPr>
        <p:spPr>
          <a:xfrm>
            <a:off x="9244584" y="299008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GitHub + Google Drive</a:t>
            </a:r>
            <a:endParaRPr lang="en-US" sz="1100" dirty="0"/>
          </a:p>
        </p:txBody>
      </p:sp>
      <p:sp>
        <p:nvSpPr>
          <p:cNvPr id="53" name="Text 51"/>
          <p:cNvSpPr/>
          <p:nvPr/>
        </p:nvSpPr>
        <p:spPr>
          <a:xfrm>
            <a:off x="9244584" y="326440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version control and two backups</a:t>
            </a:r>
            <a:endParaRPr lang="en-US" sz="1050" dirty="0"/>
          </a:p>
        </p:txBody>
      </p:sp>
      <p:sp>
        <p:nvSpPr>
          <p:cNvPr id="54" name="Shape 52"/>
          <p:cNvSpPr/>
          <p:nvPr/>
        </p:nvSpPr>
        <p:spPr>
          <a:xfrm>
            <a:off x="9107424" y="3858768"/>
            <a:ext cx="2697480" cy="841248"/>
          </a:xfrm>
          <a:prstGeom prst="roundRect">
            <a:avLst>
              <a:gd name="adj" fmla="val 6522"/>
            </a:avLst>
          </a:prstGeom>
          <a:solidFill>
            <a:srgbClr val="FFFFFF"/>
          </a:solidFill>
          <a:ln w="8890">
            <a:solidFill>
              <a:srgbClr val="C9B195"/>
            </a:solidFill>
            <a:prstDash val="solid"/>
          </a:ln>
        </p:spPr>
        <p:txBody>
          <a:bodyPr/>
          <a:lstStyle/>
          <a:p>
            <a:endParaRPr lang="en-IN" sz="2400"/>
          </a:p>
        </p:txBody>
      </p:sp>
      <p:sp>
        <p:nvSpPr>
          <p:cNvPr id="55" name="Text 53"/>
          <p:cNvSpPr/>
          <p:nvPr/>
        </p:nvSpPr>
        <p:spPr>
          <a:xfrm>
            <a:off x="9244584" y="3950208"/>
            <a:ext cx="2423160" cy="274320"/>
          </a:xfrm>
          <a:prstGeom prst="rect">
            <a:avLst/>
          </a:prstGeom>
          <a:noFill/>
          <a:ln/>
        </p:spPr>
        <p:txBody>
          <a:bodyPr wrap="square" lIns="0" tIns="0" rIns="0" bIns="0" rtlCol="0" anchor="ctr"/>
          <a:lstStyle/>
          <a:p>
            <a:pPr marL="0" indent="0">
              <a:buNone/>
            </a:pPr>
            <a:r>
              <a:rPr lang="en-US" sz="1100" b="1" dirty="0">
                <a:solidFill>
                  <a:srgbClr val="5C4A38"/>
                </a:solidFill>
                <a:latin typeface="Calibri" pitchFamily="34" charset="0"/>
                <a:ea typeface="Calibri" pitchFamily="34" charset="-122"/>
                <a:cs typeface="Calibri" pitchFamily="34" charset="-120"/>
              </a:rPr>
              <a:t>FastAPI wrapper</a:t>
            </a:r>
            <a:endParaRPr lang="en-US" sz="1100" dirty="0"/>
          </a:p>
        </p:txBody>
      </p:sp>
      <p:sp>
        <p:nvSpPr>
          <p:cNvPr id="56" name="Text 54"/>
          <p:cNvSpPr/>
          <p:nvPr/>
        </p:nvSpPr>
        <p:spPr>
          <a:xfrm>
            <a:off x="9244584" y="4224528"/>
            <a:ext cx="2423160" cy="411480"/>
          </a:xfrm>
          <a:prstGeom prst="rect">
            <a:avLst/>
          </a:prstGeom>
          <a:noFill/>
          <a:ln/>
        </p:spPr>
        <p:txBody>
          <a:bodyPr wrap="square" lIns="0" tIns="0" rIns="0" bIns="0" rtlCol="0" anchor="ctr"/>
          <a:lstStyle/>
          <a:p>
            <a:pPr marL="0" indent="0">
              <a:buNone/>
            </a:pPr>
            <a:r>
              <a:rPr lang="en-US" sz="1050" dirty="0">
                <a:solidFill>
                  <a:srgbClr val="7A6A5A"/>
                </a:solidFill>
                <a:latin typeface="Calibri" pitchFamily="34" charset="0"/>
                <a:ea typeface="Calibri" pitchFamily="34" charset="-122"/>
                <a:cs typeface="Calibri" pitchFamily="34" charset="-120"/>
              </a:rPr>
              <a:t>same code serves demo and harness</a:t>
            </a:r>
            <a:endParaRPr lang="en-US" sz="1050" dirty="0"/>
          </a:p>
        </p:txBody>
      </p:sp>
      <p:sp>
        <p:nvSpPr>
          <p:cNvPr id="57" name="Shape 55"/>
          <p:cNvSpPr/>
          <p:nvPr/>
        </p:nvSpPr>
        <p:spPr>
          <a:xfrm>
            <a:off x="548640" y="5870448"/>
            <a:ext cx="11109960" cy="566928"/>
          </a:xfrm>
          <a:prstGeom prst="roundRect">
            <a:avLst>
              <a:gd name="adj" fmla="val 12903"/>
            </a:avLst>
          </a:prstGeom>
          <a:solidFill>
            <a:srgbClr val="E3EDE0"/>
          </a:solidFill>
          <a:ln w="15240">
            <a:solidFill>
              <a:srgbClr val="A8C0A0"/>
            </a:solidFill>
            <a:prstDash val="solid"/>
          </a:ln>
        </p:spPr>
        <p:txBody>
          <a:bodyPr/>
          <a:lstStyle/>
          <a:p>
            <a:endParaRPr lang="en-IN" sz="2400"/>
          </a:p>
        </p:txBody>
      </p:sp>
      <p:sp>
        <p:nvSpPr>
          <p:cNvPr id="58" name="Text 56"/>
          <p:cNvSpPr/>
          <p:nvPr/>
        </p:nvSpPr>
        <p:spPr>
          <a:xfrm>
            <a:off x="822960" y="5870448"/>
            <a:ext cx="10607040" cy="566928"/>
          </a:xfrm>
          <a:prstGeom prst="rect">
            <a:avLst/>
          </a:prstGeom>
          <a:noFill/>
          <a:ln/>
        </p:spPr>
        <p:txBody>
          <a:bodyPr wrap="square" lIns="0" tIns="0" rIns="0" bIns="0" rtlCol="0" anchor="ctr"/>
          <a:lstStyle/>
          <a:p>
            <a:pPr marL="0" indent="0">
              <a:buNone/>
            </a:pPr>
            <a:r>
              <a:rPr lang="en-US" sz="1400" i="1" dirty="0">
                <a:solidFill>
                  <a:srgbClr val="4A6B4F"/>
                </a:solidFill>
                <a:latin typeface="Calibri" pitchFamily="34" charset="0"/>
                <a:ea typeface="Calibri" pitchFamily="34" charset="-122"/>
                <a:cs typeface="Calibri" pitchFamily="34" charset="-120"/>
              </a:rPr>
              <a:t>The binding constraint on this entire project was hosted inference quota — not compute, not ideas. We bought OpenRouter credits out of pocket to finish runs Groq's daily limits would otherwise have stranded.</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9">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Ten Defects — None of Which Crashed</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Every one produced numbers. None produced an error message.</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8</a:t>
            </a:r>
            <a:endParaRPr lang="en-US" sz="1000" dirty="0"/>
          </a:p>
        </p:txBody>
      </p:sp>
      <p:sp>
        <p:nvSpPr>
          <p:cNvPr id="7" name="Shape 5"/>
          <p:cNvSpPr/>
          <p:nvPr/>
        </p:nvSpPr>
        <p:spPr>
          <a:xfrm>
            <a:off x="548640" y="1325880"/>
            <a:ext cx="11109960" cy="960120"/>
          </a:xfrm>
          <a:prstGeom prst="roundRect">
            <a:avLst>
              <a:gd name="adj" fmla="val 7619"/>
            </a:avLst>
          </a:prstGeom>
          <a:solidFill>
            <a:srgbClr val="E3EDE0"/>
          </a:solidFill>
          <a:ln w="15240">
            <a:solidFill>
              <a:srgbClr val="A8C0A0"/>
            </a:solidFill>
            <a:prstDash val="solid"/>
          </a:ln>
        </p:spPr>
        <p:txBody>
          <a:bodyPr/>
          <a:lstStyle/>
          <a:p>
            <a:endParaRPr lang="en-IN" sz="2800"/>
          </a:p>
        </p:txBody>
      </p:sp>
      <p:sp>
        <p:nvSpPr>
          <p:cNvPr id="8" name="Text 6"/>
          <p:cNvSpPr/>
          <p:nvPr/>
        </p:nvSpPr>
        <p:spPr>
          <a:xfrm>
            <a:off x="822960" y="1417320"/>
            <a:ext cx="10607040" cy="274320"/>
          </a:xfrm>
          <a:prstGeom prst="rect">
            <a:avLst/>
          </a:prstGeom>
          <a:noFill/>
          <a:ln/>
        </p:spPr>
        <p:txBody>
          <a:bodyPr wrap="square" lIns="0" tIns="0" rIns="0" bIns="0" rtlCol="0" anchor="ctr"/>
          <a:lstStyle/>
          <a:p>
            <a:pPr marL="0" indent="0">
              <a:buNone/>
            </a:pPr>
            <a:r>
              <a:rPr lang="en-US" b="1" dirty="0">
                <a:solidFill>
                  <a:srgbClr val="4A6B4F"/>
                </a:solidFill>
                <a:latin typeface="Calibri" pitchFamily="34" charset="0"/>
                <a:ea typeface="Calibri" pitchFamily="34" charset="-122"/>
                <a:cs typeface="Calibri" pitchFamily="34" charset="-120"/>
              </a:rPr>
              <a:t>The single largest lever we found anywhere was not an architectural choice</a:t>
            </a:r>
            <a:endParaRPr lang="en-US" dirty="0"/>
          </a:p>
        </p:txBody>
      </p:sp>
      <p:sp>
        <p:nvSpPr>
          <p:cNvPr id="9" name="Text 7"/>
          <p:cNvSpPr/>
          <p:nvPr/>
        </p:nvSpPr>
        <p:spPr>
          <a:xfrm>
            <a:off x="822960" y="1700784"/>
            <a:ext cx="10607040" cy="502920"/>
          </a:xfrm>
          <a:prstGeom prst="rect">
            <a:avLst/>
          </a:prstGeom>
          <a:noFill/>
          <a:ln/>
        </p:spPr>
        <p:txBody>
          <a:bodyPr wrap="square" lIns="0" tIns="0" rIns="0" bIns="0" rtlCol="0" anchor="ctr"/>
          <a:lstStyle/>
          <a:p>
            <a:pPr marL="0" indent="0">
              <a:buNone/>
            </a:pPr>
            <a:r>
              <a:rPr lang="en-US" sz="1600" dirty="0">
                <a:solidFill>
                  <a:srgbClr val="3E3228"/>
                </a:solidFill>
                <a:latin typeface="Calibri" pitchFamily="34" charset="0"/>
                <a:ea typeface="Calibri" pitchFamily="34" charset="-122"/>
                <a:cs typeface="Calibri" pitchFamily="34" charset="-120"/>
              </a:rPr>
              <a:t>Rewording the judging prompt instead of copying it verbatim roughly doubled our relevance error (0.44 against 0.22) and moved RGB results by 44.7 points. Larger than any chunking, embedding, retrieval or reranking decision we measured.</a:t>
            </a:r>
            <a:endParaRPr lang="en-US" sz="1600" dirty="0"/>
          </a:p>
        </p:txBody>
      </p:sp>
      <p:sp>
        <p:nvSpPr>
          <p:cNvPr id="10" name="Shape 8"/>
          <p:cNvSpPr/>
          <p:nvPr/>
        </p:nvSpPr>
        <p:spPr>
          <a:xfrm>
            <a:off x="548640" y="2423160"/>
            <a:ext cx="5440680" cy="694944"/>
          </a:xfrm>
          <a:prstGeom prst="roundRect">
            <a:avLst>
              <a:gd name="adj" fmla="val 7895"/>
            </a:avLst>
          </a:prstGeom>
          <a:solidFill>
            <a:srgbClr val="FFFFFF"/>
          </a:solidFill>
          <a:ln w="8890">
            <a:solidFill>
              <a:srgbClr val="C9B195"/>
            </a:solidFill>
            <a:prstDash val="solid"/>
          </a:ln>
        </p:spPr>
        <p:txBody>
          <a:bodyPr/>
          <a:lstStyle/>
          <a:p>
            <a:endParaRPr lang="en-IN" sz="2800"/>
          </a:p>
        </p:txBody>
      </p:sp>
      <p:sp>
        <p:nvSpPr>
          <p:cNvPr id="11" name="Shape 9"/>
          <p:cNvSpPr/>
          <p:nvPr/>
        </p:nvSpPr>
        <p:spPr>
          <a:xfrm>
            <a:off x="694944" y="2606040"/>
            <a:ext cx="347472" cy="347472"/>
          </a:xfrm>
          <a:prstGeom prst="ellipse">
            <a:avLst/>
          </a:prstGeom>
          <a:solidFill>
            <a:srgbClr val="8C6E52"/>
          </a:solidFill>
          <a:ln/>
        </p:spPr>
        <p:txBody>
          <a:bodyPr/>
          <a:lstStyle/>
          <a:p>
            <a:endParaRPr lang="en-IN" sz="2800"/>
          </a:p>
        </p:txBody>
      </p:sp>
      <p:sp>
        <p:nvSpPr>
          <p:cNvPr id="12" name="Text 10"/>
          <p:cNvSpPr/>
          <p:nvPr/>
        </p:nvSpPr>
        <p:spPr>
          <a:xfrm>
            <a:off x="694944" y="26060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1143000" y="2478024"/>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Judge labels not checked against real sentences</a:t>
            </a:r>
            <a:endParaRPr lang="en-US" sz="1200" dirty="0"/>
          </a:p>
        </p:txBody>
      </p:sp>
      <p:sp>
        <p:nvSpPr>
          <p:cNvPr id="14" name="Text 12"/>
          <p:cNvSpPr/>
          <p:nvPr/>
        </p:nvSpPr>
        <p:spPr>
          <a:xfrm>
            <a:off x="1143000" y="2770632"/>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An error figure came out above 1.0 — impossible, and how we found it</a:t>
            </a:r>
            <a:endParaRPr lang="en-US" sz="1100" dirty="0"/>
          </a:p>
        </p:txBody>
      </p:sp>
      <p:sp>
        <p:nvSpPr>
          <p:cNvPr id="15" name="Shape 13"/>
          <p:cNvSpPr/>
          <p:nvPr/>
        </p:nvSpPr>
        <p:spPr>
          <a:xfrm>
            <a:off x="6217920" y="2423160"/>
            <a:ext cx="5440680" cy="694944"/>
          </a:xfrm>
          <a:prstGeom prst="roundRect">
            <a:avLst>
              <a:gd name="adj" fmla="val 7895"/>
            </a:avLst>
          </a:prstGeom>
          <a:solidFill>
            <a:srgbClr val="FFFFFF"/>
          </a:solidFill>
          <a:ln w="8890">
            <a:solidFill>
              <a:srgbClr val="C9B195"/>
            </a:solidFill>
            <a:prstDash val="solid"/>
          </a:ln>
        </p:spPr>
        <p:txBody>
          <a:bodyPr/>
          <a:lstStyle/>
          <a:p>
            <a:endParaRPr lang="en-IN" sz="2800"/>
          </a:p>
        </p:txBody>
      </p:sp>
      <p:sp>
        <p:nvSpPr>
          <p:cNvPr id="16" name="Shape 14"/>
          <p:cNvSpPr/>
          <p:nvPr/>
        </p:nvSpPr>
        <p:spPr>
          <a:xfrm>
            <a:off x="6364224" y="2606040"/>
            <a:ext cx="347472" cy="347472"/>
          </a:xfrm>
          <a:prstGeom prst="ellipse">
            <a:avLst/>
          </a:prstGeom>
          <a:solidFill>
            <a:srgbClr val="8C6E52"/>
          </a:solidFill>
          <a:ln/>
        </p:spPr>
        <p:txBody>
          <a:bodyPr/>
          <a:lstStyle/>
          <a:p>
            <a:endParaRPr lang="en-IN" sz="2800"/>
          </a:p>
        </p:txBody>
      </p:sp>
      <p:sp>
        <p:nvSpPr>
          <p:cNvPr id="17" name="Text 15"/>
          <p:cNvSpPr/>
          <p:nvPr/>
        </p:nvSpPr>
        <p:spPr>
          <a:xfrm>
            <a:off x="6364224" y="260604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6"/>
          <p:cNvSpPr/>
          <p:nvPr/>
        </p:nvSpPr>
        <p:spPr>
          <a:xfrm>
            <a:off x="6812280" y="2478024"/>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Documents reformatted into prose for the judge</a:t>
            </a:r>
            <a:endParaRPr lang="en-US" sz="1200" dirty="0"/>
          </a:p>
        </p:txBody>
      </p:sp>
      <p:sp>
        <p:nvSpPr>
          <p:cNvPr id="19" name="Text 17"/>
          <p:cNvSpPr/>
          <p:nvPr/>
        </p:nvSpPr>
        <p:spPr>
          <a:xfrm>
            <a:off x="6812280" y="2770632"/>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Judge saw an unfamiliar layout and mislabelled its output</a:t>
            </a:r>
            <a:endParaRPr lang="en-US" sz="1100" dirty="0"/>
          </a:p>
        </p:txBody>
      </p:sp>
      <p:sp>
        <p:nvSpPr>
          <p:cNvPr id="20" name="Shape 18"/>
          <p:cNvSpPr/>
          <p:nvPr/>
        </p:nvSpPr>
        <p:spPr>
          <a:xfrm>
            <a:off x="548640" y="3209544"/>
            <a:ext cx="5440680" cy="694944"/>
          </a:xfrm>
          <a:prstGeom prst="roundRect">
            <a:avLst>
              <a:gd name="adj" fmla="val 7895"/>
            </a:avLst>
          </a:prstGeom>
          <a:solidFill>
            <a:srgbClr val="F0E7DA"/>
          </a:solidFill>
          <a:ln w="8890">
            <a:solidFill>
              <a:srgbClr val="C9B195"/>
            </a:solidFill>
            <a:prstDash val="solid"/>
          </a:ln>
        </p:spPr>
        <p:txBody>
          <a:bodyPr/>
          <a:lstStyle/>
          <a:p>
            <a:endParaRPr lang="en-IN" sz="2800"/>
          </a:p>
        </p:txBody>
      </p:sp>
      <p:sp>
        <p:nvSpPr>
          <p:cNvPr id="21" name="Shape 19"/>
          <p:cNvSpPr/>
          <p:nvPr/>
        </p:nvSpPr>
        <p:spPr>
          <a:xfrm>
            <a:off x="694944" y="3392424"/>
            <a:ext cx="347472" cy="347472"/>
          </a:xfrm>
          <a:prstGeom prst="ellipse">
            <a:avLst/>
          </a:prstGeom>
          <a:solidFill>
            <a:srgbClr val="8C6E52"/>
          </a:solidFill>
          <a:ln/>
        </p:spPr>
        <p:txBody>
          <a:bodyPr/>
          <a:lstStyle/>
          <a:p>
            <a:endParaRPr lang="en-IN" sz="2800"/>
          </a:p>
        </p:txBody>
      </p:sp>
      <p:sp>
        <p:nvSpPr>
          <p:cNvPr id="22" name="Text 20"/>
          <p:cNvSpPr/>
          <p:nvPr/>
        </p:nvSpPr>
        <p:spPr>
          <a:xfrm>
            <a:off x="694944" y="33924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3" name="Text 21"/>
          <p:cNvSpPr/>
          <p:nvPr/>
        </p:nvSpPr>
        <p:spPr>
          <a:xfrm>
            <a:off x="1143000" y="3264408"/>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Two TRACe formulas had denominators swapped</a:t>
            </a:r>
            <a:endParaRPr lang="en-US" sz="1200" dirty="0"/>
          </a:p>
        </p:txBody>
      </p:sp>
      <p:sp>
        <p:nvSpPr>
          <p:cNvPr id="24" name="Text 22"/>
          <p:cNvSpPr/>
          <p:nvPr/>
        </p:nvSpPr>
        <p:spPr>
          <a:xfrm>
            <a:off x="1143000" y="3557016"/>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Utilization and completeness were measuring each other</a:t>
            </a:r>
            <a:endParaRPr lang="en-US" sz="1100" dirty="0"/>
          </a:p>
        </p:txBody>
      </p:sp>
      <p:sp>
        <p:nvSpPr>
          <p:cNvPr id="25" name="Shape 23"/>
          <p:cNvSpPr/>
          <p:nvPr/>
        </p:nvSpPr>
        <p:spPr>
          <a:xfrm>
            <a:off x="6217920" y="3209544"/>
            <a:ext cx="5440680" cy="694944"/>
          </a:xfrm>
          <a:prstGeom prst="roundRect">
            <a:avLst>
              <a:gd name="adj" fmla="val 7895"/>
            </a:avLst>
          </a:prstGeom>
          <a:solidFill>
            <a:srgbClr val="F0E7DA"/>
          </a:solidFill>
          <a:ln w="8890">
            <a:solidFill>
              <a:srgbClr val="C9B195"/>
            </a:solidFill>
            <a:prstDash val="solid"/>
          </a:ln>
        </p:spPr>
        <p:txBody>
          <a:bodyPr/>
          <a:lstStyle/>
          <a:p>
            <a:endParaRPr lang="en-IN" sz="2800"/>
          </a:p>
        </p:txBody>
      </p:sp>
      <p:sp>
        <p:nvSpPr>
          <p:cNvPr id="26" name="Shape 24"/>
          <p:cNvSpPr/>
          <p:nvPr/>
        </p:nvSpPr>
        <p:spPr>
          <a:xfrm>
            <a:off x="6364224" y="3392424"/>
            <a:ext cx="347472" cy="347472"/>
          </a:xfrm>
          <a:prstGeom prst="ellipse">
            <a:avLst/>
          </a:prstGeom>
          <a:solidFill>
            <a:srgbClr val="8C6E52"/>
          </a:solidFill>
          <a:ln/>
        </p:spPr>
        <p:txBody>
          <a:bodyPr/>
          <a:lstStyle/>
          <a:p>
            <a:endParaRPr lang="en-IN" sz="2800"/>
          </a:p>
        </p:txBody>
      </p:sp>
      <p:sp>
        <p:nvSpPr>
          <p:cNvPr id="27" name="Text 25"/>
          <p:cNvSpPr/>
          <p:nvPr/>
        </p:nvSpPr>
        <p:spPr>
          <a:xfrm>
            <a:off x="6364224" y="339242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8" name="Text 26"/>
          <p:cNvSpPr/>
          <p:nvPr/>
        </p:nvSpPr>
        <p:spPr>
          <a:xfrm>
            <a:off x="6812280" y="3264408"/>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RGB counterfactual test read the clean documents</a:t>
            </a:r>
            <a:endParaRPr lang="en-US" sz="1200" dirty="0"/>
          </a:p>
        </p:txBody>
      </p:sp>
      <p:sp>
        <p:nvSpPr>
          <p:cNvPr id="29" name="Text 27"/>
          <p:cNvSpPr/>
          <p:nvPr/>
        </p:nvSpPr>
        <p:spPr>
          <a:xfrm>
            <a:off x="6812280" y="3557016"/>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The test for planted errors contained no errors</a:t>
            </a:r>
            <a:endParaRPr lang="en-US" sz="1100" dirty="0"/>
          </a:p>
        </p:txBody>
      </p:sp>
      <p:sp>
        <p:nvSpPr>
          <p:cNvPr id="30" name="Shape 28"/>
          <p:cNvSpPr/>
          <p:nvPr/>
        </p:nvSpPr>
        <p:spPr>
          <a:xfrm>
            <a:off x="548640" y="3995928"/>
            <a:ext cx="5440680" cy="694944"/>
          </a:xfrm>
          <a:prstGeom prst="roundRect">
            <a:avLst>
              <a:gd name="adj" fmla="val 7895"/>
            </a:avLst>
          </a:prstGeom>
          <a:solidFill>
            <a:srgbClr val="FFFFFF"/>
          </a:solidFill>
          <a:ln w="8890">
            <a:solidFill>
              <a:srgbClr val="C9B195"/>
            </a:solidFill>
            <a:prstDash val="solid"/>
          </a:ln>
        </p:spPr>
        <p:txBody>
          <a:bodyPr/>
          <a:lstStyle/>
          <a:p>
            <a:endParaRPr lang="en-IN" sz="2800"/>
          </a:p>
        </p:txBody>
      </p:sp>
      <p:sp>
        <p:nvSpPr>
          <p:cNvPr id="31" name="Shape 29"/>
          <p:cNvSpPr/>
          <p:nvPr/>
        </p:nvSpPr>
        <p:spPr>
          <a:xfrm>
            <a:off x="694944" y="4178808"/>
            <a:ext cx="347472" cy="347472"/>
          </a:xfrm>
          <a:prstGeom prst="ellipse">
            <a:avLst/>
          </a:prstGeom>
          <a:solidFill>
            <a:srgbClr val="8C6E52"/>
          </a:solidFill>
          <a:ln/>
        </p:spPr>
        <p:txBody>
          <a:bodyPr/>
          <a:lstStyle/>
          <a:p>
            <a:endParaRPr lang="en-IN" sz="2800"/>
          </a:p>
        </p:txBody>
      </p:sp>
      <p:sp>
        <p:nvSpPr>
          <p:cNvPr id="32" name="Text 30"/>
          <p:cNvSpPr/>
          <p:nvPr/>
        </p:nvSpPr>
        <p:spPr>
          <a:xfrm>
            <a:off x="694944" y="417880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3" name="Text 31"/>
          <p:cNvSpPr/>
          <p:nvPr/>
        </p:nvSpPr>
        <p:spPr>
          <a:xfrm>
            <a:off x="1143000" y="4050792"/>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Old embedding model left in a shared variable</a:t>
            </a:r>
            <a:endParaRPr lang="en-US" sz="1200" dirty="0"/>
          </a:p>
        </p:txBody>
      </p:sp>
      <p:sp>
        <p:nvSpPr>
          <p:cNvPr id="34" name="Text 32"/>
          <p:cNvSpPr/>
          <p:nvPr/>
        </p:nvSpPr>
        <p:spPr>
          <a:xfrm>
            <a:off x="1143000" y="4343400"/>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Vector sizes mismatched, invalidating a whole set of runs</a:t>
            </a:r>
            <a:endParaRPr lang="en-US" sz="1100" dirty="0"/>
          </a:p>
        </p:txBody>
      </p:sp>
      <p:sp>
        <p:nvSpPr>
          <p:cNvPr id="35" name="Shape 33"/>
          <p:cNvSpPr/>
          <p:nvPr/>
        </p:nvSpPr>
        <p:spPr>
          <a:xfrm>
            <a:off x="6217920" y="3995928"/>
            <a:ext cx="5440680" cy="694944"/>
          </a:xfrm>
          <a:prstGeom prst="roundRect">
            <a:avLst>
              <a:gd name="adj" fmla="val 7895"/>
            </a:avLst>
          </a:prstGeom>
          <a:solidFill>
            <a:srgbClr val="FFFFFF"/>
          </a:solidFill>
          <a:ln w="8890">
            <a:solidFill>
              <a:srgbClr val="C9B195"/>
            </a:solidFill>
            <a:prstDash val="solid"/>
          </a:ln>
        </p:spPr>
        <p:txBody>
          <a:bodyPr/>
          <a:lstStyle/>
          <a:p>
            <a:endParaRPr lang="en-IN" sz="2800"/>
          </a:p>
        </p:txBody>
      </p:sp>
      <p:sp>
        <p:nvSpPr>
          <p:cNvPr id="36" name="Shape 34"/>
          <p:cNvSpPr/>
          <p:nvPr/>
        </p:nvSpPr>
        <p:spPr>
          <a:xfrm>
            <a:off x="6364224" y="4178808"/>
            <a:ext cx="347472" cy="347472"/>
          </a:xfrm>
          <a:prstGeom prst="ellipse">
            <a:avLst/>
          </a:prstGeom>
          <a:solidFill>
            <a:srgbClr val="8C6E52"/>
          </a:solidFill>
          <a:ln/>
        </p:spPr>
        <p:txBody>
          <a:bodyPr/>
          <a:lstStyle/>
          <a:p>
            <a:endParaRPr lang="en-IN" sz="2800"/>
          </a:p>
        </p:txBody>
      </p:sp>
      <p:sp>
        <p:nvSpPr>
          <p:cNvPr id="37" name="Text 35"/>
          <p:cNvSpPr/>
          <p:nvPr/>
        </p:nvSpPr>
        <p:spPr>
          <a:xfrm>
            <a:off x="6364224" y="417880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p:nvPr/>
        </p:nvSpPr>
        <p:spPr>
          <a:xfrm>
            <a:off x="6812280" y="4050792"/>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Contract text broke JSON parsing</a:t>
            </a:r>
            <a:endParaRPr lang="en-US" sz="1200" dirty="0"/>
          </a:p>
        </p:txBody>
      </p:sp>
      <p:sp>
        <p:nvSpPr>
          <p:cNvPr id="39" name="Text 37"/>
          <p:cNvSpPr/>
          <p:nvPr/>
        </p:nvSpPr>
        <p:spPr>
          <a:xfrm>
            <a:off x="6812280" y="4343400"/>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Judge output failed to parse; runs stopped part-way</a:t>
            </a:r>
            <a:endParaRPr lang="en-US" sz="1100" dirty="0"/>
          </a:p>
        </p:txBody>
      </p:sp>
      <p:sp>
        <p:nvSpPr>
          <p:cNvPr id="40" name="Shape 38"/>
          <p:cNvSpPr/>
          <p:nvPr/>
        </p:nvSpPr>
        <p:spPr>
          <a:xfrm>
            <a:off x="548640" y="4782312"/>
            <a:ext cx="5440680" cy="694944"/>
          </a:xfrm>
          <a:prstGeom prst="roundRect">
            <a:avLst>
              <a:gd name="adj" fmla="val 7895"/>
            </a:avLst>
          </a:prstGeom>
          <a:solidFill>
            <a:srgbClr val="F0E7DA"/>
          </a:solidFill>
          <a:ln w="8890">
            <a:solidFill>
              <a:srgbClr val="C9B195"/>
            </a:solidFill>
            <a:prstDash val="solid"/>
          </a:ln>
        </p:spPr>
        <p:txBody>
          <a:bodyPr/>
          <a:lstStyle/>
          <a:p>
            <a:endParaRPr lang="en-IN" sz="2800"/>
          </a:p>
        </p:txBody>
      </p:sp>
      <p:sp>
        <p:nvSpPr>
          <p:cNvPr id="41" name="Shape 39"/>
          <p:cNvSpPr/>
          <p:nvPr/>
        </p:nvSpPr>
        <p:spPr>
          <a:xfrm>
            <a:off x="694944" y="4965192"/>
            <a:ext cx="347472" cy="347472"/>
          </a:xfrm>
          <a:prstGeom prst="ellipse">
            <a:avLst/>
          </a:prstGeom>
          <a:solidFill>
            <a:srgbClr val="B5714B"/>
          </a:solidFill>
          <a:ln/>
        </p:spPr>
        <p:txBody>
          <a:bodyPr/>
          <a:lstStyle/>
          <a:p>
            <a:endParaRPr lang="en-IN" sz="2800"/>
          </a:p>
        </p:txBody>
      </p:sp>
      <p:sp>
        <p:nvSpPr>
          <p:cNvPr id="42" name="Text 40"/>
          <p:cNvSpPr/>
          <p:nvPr/>
        </p:nvSpPr>
        <p:spPr>
          <a:xfrm>
            <a:off x="694944" y="496519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3" name="Text 41"/>
          <p:cNvSpPr/>
          <p:nvPr/>
        </p:nvSpPr>
        <p:spPr>
          <a:xfrm>
            <a:off x="1143000" y="4837176"/>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Judging prompt reworded, not copied</a:t>
            </a:r>
            <a:endParaRPr lang="en-US" sz="1200" dirty="0"/>
          </a:p>
        </p:txBody>
      </p:sp>
      <p:sp>
        <p:nvSpPr>
          <p:cNvPr id="44" name="Text 42"/>
          <p:cNvSpPr/>
          <p:nvPr/>
        </p:nvSpPr>
        <p:spPr>
          <a:xfrm>
            <a:off x="1143000" y="5129784"/>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Relevance error doubled; 44.7-point RGB swing</a:t>
            </a:r>
            <a:endParaRPr lang="en-US" sz="1100" dirty="0"/>
          </a:p>
        </p:txBody>
      </p:sp>
      <p:sp>
        <p:nvSpPr>
          <p:cNvPr id="45" name="Shape 43"/>
          <p:cNvSpPr/>
          <p:nvPr/>
        </p:nvSpPr>
        <p:spPr>
          <a:xfrm>
            <a:off x="6217920" y="4782312"/>
            <a:ext cx="5440680" cy="694944"/>
          </a:xfrm>
          <a:prstGeom prst="roundRect">
            <a:avLst>
              <a:gd name="adj" fmla="val 7895"/>
            </a:avLst>
          </a:prstGeom>
          <a:solidFill>
            <a:srgbClr val="F0E7DA"/>
          </a:solidFill>
          <a:ln w="8890">
            <a:solidFill>
              <a:srgbClr val="C9B195"/>
            </a:solidFill>
            <a:prstDash val="solid"/>
          </a:ln>
        </p:spPr>
        <p:txBody>
          <a:bodyPr/>
          <a:lstStyle/>
          <a:p>
            <a:endParaRPr lang="en-IN" sz="2800"/>
          </a:p>
        </p:txBody>
      </p:sp>
      <p:sp>
        <p:nvSpPr>
          <p:cNvPr id="46" name="Shape 44"/>
          <p:cNvSpPr/>
          <p:nvPr/>
        </p:nvSpPr>
        <p:spPr>
          <a:xfrm>
            <a:off x="6364224" y="4965192"/>
            <a:ext cx="347472" cy="347472"/>
          </a:xfrm>
          <a:prstGeom prst="ellipse">
            <a:avLst/>
          </a:prstGeom>
          <a:solidFill>
            <a:srgbClr val="8C6E52"/>
          </a:solidFill>
          <a:ln/>
        </p:spPr>
        <p:txBody>
          <a:bodyPr/>
          <a:lstStyle/>
          <a:p>
            <a:endParaRPr lang="en-IN" sz="2800"/>
          </a:p>
        </p:txBody>
      </p:sp>
      <p:sp>
        <p:nvSpPr>
          <p:cNvPr id="47" name="Text 45"/>
          <p:cNvSpPr/>
          <p:nvPr/>
        </p:nvSpPr>
        <p:spPr>
          <a:xfrm>
            <a:off x="6364224" y="496519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8" name="Text 46"/>
          <p:cNvSpPr/>
          <p:nvPr/>
        </p:nvSpPr>
        <p:spPr>
          <a:xfrm>
            <a:off x="6812280" y="4837176"/>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Retired models returned nothing, silently</a:t>
            </a:r>
            <a:endParaRPr lang="en-US" sz="1200" dirty="0"/>
          </a:p>
        </p:txBody>
      </p:sp>
      <p:sp>
        <p:nvSpPr>
          <p:cNvPr id="49" name="Text 47"/>
          <p:cNvSpPr/>
          <p:nvPr/>
        </p:nvSpPr>
        <p:spPr>
          <a:xfrm>
            <a:off x="6812280" y="5129784"/>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Runs appeared to finish with empty answers</a:t>
            </a:r>
            <a:endParaRPr lang="en-US" sz="1100" dirty="0"/>
          </a:p>
        </p:txBody>
      </p:sp>
      <p:sp>
        <p:nvSpPr>
          <p:cNvPr id="50" name="Shape 48"/>
          <p:cNvSpPr/>
          <p:nvPr/>
        </p:nvSpPr>
        <p:spPr>
          <a:xfrm>
            <a:off x="548640" y="5568696"/>
            <a:ext cx="5440680" cy="694944"/>
          </a:xfrm>
          <a:prstGeom prst="roundRect">
            <a:avLst>
              <a:gd name="adj" fmla="val 7895"/>
            </a:avLst>
          </a:prstGeom>
          <a:solidFill>
            <a:srgbClr val="FFFFFF"/>
          </a:solidFill>
          <a:ln w="8890">
            <a:solidFill>
              <a:srgbClr val="C9B195"/>
            </a:solidFill>
            <a:prstDash val="solid"/>
          </a:ln>
        </p:spPr>
        <p:txBody>
          <a:bodyPr/>
          <a:lstStyle/>
          <a:p>
            <a:endParaRPr lang="en-IN" sz="2800"/>
          </a:p>
        </p:txBody>
      </p:sp>
      <p:sp>
        <p:nvSpPr>
          <p:cNvPr id="51" name="Shape 49"/>
          <p:cNvSpPr/>
          <p:nvPr/>
        </p:nvSpPr>
        <p:spPr>
          <a:xfrm>
            <a:off x="694944" y="5751576"/>
            <a:ext cx="347472" cy="347472"/>
          </a:xfrm>
          <a:prstGeom prst="ellipse">
            <a:avLst/>
          </a:prstGeom>
          <a:solidFill>
            <a:srgbClr val="8C6E52"/>
          </a:solidFill>
          <a:ln/>
        </p:spPr>
        <p:txBody>
          <a:bodyPr/>
          <a:lstStyle/>
          <a:p>
            <a:endParaRPr lang="en-IN" sz="2800"/>
          </a:p>
        </p:txBody>
      </p:sp>
      <p:sp>
        <p:nvSpPr>
          <p:cNvPr id="52" name="Text 50"/>
          <p:cNvSpPr/>
          <p:nvPr/>
        </p:nvSpPr>
        <p:spPr>
          <a:xfrm>
            <a:off x="694944" y="575157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53" name="Text 51"/>
          <p:cNvSpPr/>
          <p:nvPr/>
        </p:nvSpPr>
        <p:spPr>
          <a:xfrm>
            <a:off x="1143000" y="5623560"/>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“cannot” and “can not” treated as different</a:t>
            </a:r>
            <a:endParaRPr lang="en-US" sz="1200" dirty="0"/>
          </a:p>
        </p:txBody>
      </p:sp>
      <p:sp>
        <p:nvSpPr>
          <p:cNvPr id="54" name="Text 52"/>
          <p:cNvSpPr/>
          <p:nvPr/>
        </p:nvSpPr>
        <p:spPr>
          <a:xfrm>
            <a:off x="1143000" y="5916168"/>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Correct refusals scored as failures — 29.7 points hidden</a:t>
            </a:r>
            <a:endParaRPr lang="en-US" sz="1100" dirty="0"/>
          </a:p>
        </p:txBody>
      </p:sp>
      <p:sp>
        <p:nvSpPr>
          <p:cNvPr id="55" name="Shape 53"/>
          <p:cNvSpPr/>
          <p:nvPr/>
        </p:nvSpPr>
        <p:spPr>
          <a:xfrm>
            <a:off x="6217920" y="5568696"/>
            <a:ext cx="5440680" cy="694944"/>
          </a:xfrm>
          <a:prstGeom prst="roundRect">
            <a:avLst>
              <a:gd name="adj" fmla="val 7895"/>
            </a:avLst>
          </a:prstGeom>
          <a:solidFill>
            <a:srgbClr val="FFFFFF"/>
          </a:solidFill>
          <a:ln w="8890">
            <a:solidFill>
              <a:srgbClr val="C9B195"/>
            </a:solidFill>
            <a:prstDash val="solid"/>
          </a:ln>
        </p:spPr>
        <p:txBody>
          <a:bodyPr/>
          <a:lstStyle/>
          <a:p>
            <a:endParaRPr lang="en-IN" sz="2800"/>
          </a:p>
        </p:txBody>
      </p:sp>
      <p:sp>
        <p:nvSpPr>
          <p:cNvPr id="56" name="Shape 54"/>
          <p:cNvSpPr/>
          <p:nvPr/>
        </p:nvSpPr>
        <p:spPr>
          <a:xfrm>
            <a:off x="6364224" y="5751576"/>
            <a:ext cx="347472" cy="347472"/>
          </a:xfrm>
          <a:prstGeom prst="ellipse">
            <a:avLst/>
          </a:prstGeom>
          <a:solidFill>
            <a:srgbClr val="B5714B"/>
          </a:solidFill>
          <a:ln/>
        </p:spPr>
        <p:txBody>
          <a:bodyPr/>
          <a:lstStyle/>
          <a:p>
            <a:endParaRPr lang="en-IN" sz="2800"/>
          </a:p>
        </p:txBody>
      </p:sp>
      <p:sp>
        <p:nvSpPr>
          <p:cNvPr id="57" name="Text 55"/>
          <p:cNvSpPr/>
          <p:nvPr/>
        </p:nvSpPr>
        <p:spPr>
          <a:xfrm>
            <a:off x="6364224" y="575157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8" name="Text 56"/>
          <p:cNvSpPr/>
          <p:nvPr/>
        </p:nvSpPr>
        <p:spPr>
          <a:xfrm>
            <a:off x="6812280" y="5623560"/>
            <a:ext cx="4754880" cy="310896"/>
          </a:xfrm>
          <a:prstGeom prst="rect">
            <a:avLst/>
          </a:prstGeom>
          <a:noFill/>
          <a:ln/>
        </p:spPr>
        <p:txBody>
          <a:bodyPr wrap="square" lIns="0" tIns="0" rIns="0" bIns="0" rtlCol="0" anchor="ctr"/>
          <a:lstStyle/>
          <a:p>
            <a:pPr marL="0" indent="0">
              <a:buNone/>
            </a:pPr>
            <a:r>
              <a:rPr lang="en-US" sz="1200" b="1" dirty="0">
                <a:solidFill>
                  <a:srgbClr val="5C4A38"/>
                </a:solidFill>
                <a:latin typeface="Calibri" pitchFamily="34" charset="0"/>
                <a:ea typeface="Calibri" pitchFamily="34" charset="-122"/>
                <a:cs typeface="Calibri" pitchFamily="34" charset="-120"/>
              </a:rPr>
              <a:t>Judge same size as, or smaller than, the generator</a:t>
            </a:r>
            <a:endParaRPr lang="en-US" sz="1200" dirty="0"/>
          </a:p>
        </p:txBody>
      </p:sp>
      <p:sp>
        <p:nvSpPr>
          <p:cNvPr id="59" name="Text 57"/>
          <p:cNvSpPr/>
          <p:nvPr/>
        </p:nvSpPr>
        <p:spPr>
          <a:xfrm>
            <a:off x="6812280" y="5916168"/>
            <a:ext cx="4754880" cy="310896"/>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Either self-grading, or a weaker model judging a stronger one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Challenges — Running the Work at All</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The practical problems, and what we did about them</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8.3</a:t>
            </a:r>
            <a:endParaRPr lang="en-US" sz="1000" dirty="0"/>
          </a:p>
        </p:txBody>
      </p:sp>
      <p:sp>
        <p:nvSpPr>
          <p:cNvPr id="7" name="Shape 5"/>
          <p:cNvSpPr/>
          <p:nvPr/>
        </p:nvSpPr>
        <p:spPr>
          <a:xfrm>
            <a:off x="548640" y="1371600"/>
            <a:ext cx="11109960" cy="1115568"/>
          </a:xfrm>
          <a:prstGeom prst="roundRect">
            <a:avLst>
              <a:gd name="adj" fmla="val 5738"/>
            </a:avLst>
          </a:prstGeom>
          <a:solidFill>
            <a:srgbClr val="FFFFFF"/>
          </a:solidFill>
          <a:ln w="9525">
            <a:solidFill>
              <a:srgbClr val="C9B195"/>
            </a:solidFill>
            <a:prstDash val="solid"/>
          </a:ln>
        </p:spPr>
        <p:txBody>
          <a:bodyPr/>
          <a:lstStyle/>
          <a:p>
            <a:endParaRPr lang="en-IN" sz="2800"/>
          </a:p>
        </p:txBody>
      </p:sp>
      <p:sp>
        <p:nvSpPr>
          <p:cNvPr id="8" name="Shape 6"/>
          <p:cNvSpPr/>
          <p:nvPr/>
        </p:nvSpPr>
        <p:spPr>
          <a:xfrm>
            <a:off x="548640" y="1371600"/>
            <a:ext cx="109728" cy="1115568"/>
          </a:xfrm>
          <a:prstGeom prst="roundRect">
            <a:avLst>
              <a:gd name="adj" fmla="val 33333"/>
            </a:avLst>
          </a:prstGeom>
          <a:solidFill>
            <a:srgbClr val="4A6B4F"/>
          </a:solidFill>
          <a:ln/>
        </p:spPr>
        <p:txBody>
          <a:bodyPr/>
          <a:lstStyle/>
          <a:p>
            <a:endParaRPr lang="en-IN" sz="2800"/>
          </a:p>
        </p:txBody>
      </p:sp>
      <p:sp>
        <p:nvSpPr>
          <p:cNvPr id="9" name="Text 7"/>
          <p:cNvSpPr/>
          <p:nvPr/>
        </p:nvSpPr>
        <p:spPr>
          <a:xfrm>
            <a:off x="822960" y="1499616"/>
            <a:ext cx="2651760" cy="292608"/>
          </a:xfrm>
          <a:prstGeom prst="rect">
            <a:avLst/>
          </a:prstGeom>
          <a:noFill/>
          <a:ln/>
        </p:spPr>
        <p:txBody>
          <a:bodyPr wrap="square" lIns="0" tIns="0" rIns="0" bIns="0" rtlCol="0" anchor="ctr"/>
          <a:lstStyle/>
          <a:p>
            <a:pPr marL="0" indent="0">
              <a:buNone/>
            </a:pPr>
            <a:r>
              <a:rPr lang="en-US" b="1" dirty="0">
                <a:solidFill>
                  <a:srgbClr val="4A6B4F"/>
                </a:solidFill>
                <a:latin typeface="Calibri" pitchFamily="34" charset="0"/>
                <a:ea typeface="Calibri" pitchFamily="34" charset="-122"/>
                <a:cs typeface="Calibri" pitchFamily="34" charset="-120"/>
              </a:rPr>
              <a:t>Running out of API quota</a:t>
            </a:r>
            <a:endParaRPr lang="en-US" dirty="0"/>
          </a:p>
        </p:txBody>
      </p:sp>
      <p:sp>
        <p:nvSpPr>
          <p:cNvPr id="10" name="Text 8"/>
          <p:cNvSpPr/>
          <p:nvPr/>
        </p:nvSpPr>
        <p:spPr>
          <a:xfrm>
            <a:off x="822960" y="1810512"/>
            <a:ext cx="2697480" cy="566928"/>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A 200-example run with a large judge can exhaust a key's daily allowance part-way through.</a:t>
            </a:r>
            <a:endParaRPr lang="en-US" sz="1100" dirty="0"/>
          </a:p>
        </p:txBody>
      </p:sp>
      <p:sp>
        <p:nvSpPr>
          <p:cNvPr id="11" name="Text 9"/>
          <p:cNvSpPr/>
          <p:nvPr/>
        </p:nvSpPr>
        <p:spPr>
          <a:xfrm>
            <a:off x="3749040" y="1554480"/>
            <a:ext cx="7680960" cy="777240"/>
          </a:xfrm>
          <a:prstGeom prst="rect">
            <a:avLst/>
          </a:prstGeom>
          <a:noFill/>
          <a:ln/>
        </p:spPr>
        <p:txBody>
          <a:bodyPr wrap="square" lIns="0" tIns="0" rIns="0" bIns="0" rtlCol="0" anchor="ctr"/>
          <a:lstStyle/>
          <a:p>
            <a:pPr marL="0" indent="0">
              <a:buNone/>
            </a:pPr>
            <a:r>
              <a:rPr lang="en-US" sz="1600" dirty="0">
                <a:solidFill>
                  <a:srgbClr val="3E3228"/>
                </a:solidFill>
                <a:latin typeface="Calibri" pitchFamily="34" charset="0"/>
                <a:ea typeface="Calibri" pitchFamily="34" charset="-122"/>
                <a:cs typeface="Calibri" pitchFamily="34" charset="-120"/>
              </a:rPr>
              <a:t>→  Six rotating Groq keys with automatic backoff. When Groq was exhausted we bought OpenRouter credits out of pocket rather than abandon runs.</a:t>
            </a:r>
            <a:endParaRPr lang="en-US" sz="1600" dirty="0"/>
          </a:p>
        </p:txBody>
      </p:sp>
      <p:sp>
        <p:nvSpPr>
          <p:cNvPr id="12" name="Shape 10"/>
          <p:cNvSpPr/>
          <p:nvPr/>
        </p:nvSpPr>
        <p:spPr>
          <a:xfrm>
            <a:off x="548640" y="2615184"/>
            <a:ext cx="11109960" cy="1115568"/>
          </a:xfrm>
          <a:prstGeom prst="roundRect">
            <a:avLst>
              <a:gd name="adj" fmla="val 5738"/>
            </a:avLst>
          </a:prstGeom>
          <a:solidFill>
            <a:srgbClr val="F0E7DA"/>
          </a:solidFill>
          <a:ln w="9525">
            <a:solidFill>
              <a:srgbClr val="C9B195"/>
            </a:solidFill>
            <a:prstDash val="solid"/>
          </a:ln>
        </p:spPr>
        <p:txBody>
          <a:bodyPr/>
          <a:lstStyle/>
          <a:p>
            <a:endParaRPr lang="en-IN" sz="2800"/>
          </a:p>
        </p:txBody>
      </p:sp>
      <p:sp>
        <p:nvSpPr>
          <p:cNvPr id="13" name="Shape 11"/>
          <p:cNvSpPr/>
          <p:nvPr/>
        </p:nvSpPr>
        <p:spPr>
          <a:xfrm>
            <a:off x="548640" y="2615184"/>
            <a:ext cx="109728" cy="1115568"/>
          </a:xfrm>
          <a:prstGeom prst="roundRect">
            <a:avLst>
              <a:gd name="adj" fmla="val 33333"/>
            </a:avLst>
          </a:prstGeom>
          <a:solidFill>
            <a:srgbClr val="8C6E52"/>
          </a:solidFill>
          <a:ln/>
        </p:spPr>
        <p:txBody>
          <a:bodyPr/>
          <a:lstStyle/>
          <a:p>
            <a:endParaRPr lang="en-IN" sz="2800"/>
          </a:p>
        </p:txBody>
      </p:sp>
      <p:sp>
        <p:nvSpPr>
          <p:cNvPr id="14" name="Text 12"/>
          <p:cNvSpPr/>
          <p:nvPr/>
        </p:nvSpPr>
        <p:spPr>
          <a:xfrm>
            <a:off x="822960" y="2743200"/>
            <a:ext cx="2651760" cy="292608"/>
          </a:xfrm>
          <a:prstGeom prst="rect">
            <a:avLst/>
          </a:prstGeom>
          <a:noFill/>
          <a:ln/>
        </p:spPr>
        <p:txBody>
          <a:bodyPr wrap="square" lIns="0" tIns="0" rIns="0" bIns="0" rtlCol="0" anchor="ctr"/>
          <a:lstStyle/>
          <a:p>
            <a:pPr marL="0" indent="0">
              <a:buNone/>
            </a:pPr>
            <a:r>
              <a:rPr lang="en-US" b="1" dirty="0">
                <a:solidFill>
                  <a:srgbClr val="8C6E52"/>
                </a:solidFill>
                <a:latin typeface="Calibri" pitchFamily="34" charset="0"/>
                <a:ea typeface="Calibri" pitchFamily="34" charset="-122"/>
                <a:cs typeface="Calibri" pitchFamily="34" charset="-120"/>
              </a:rPr>
              <a:t>Sessions disconnecting</a:t>
            </a:r>
            <a:endParaRPr lang="en-US" dirty="0"/>
          </a:p>
        </p:txBody>
      </p:sp>
      <p:sp>
        <p:nvSpPr>
          <p:cNvPr id="15" name="Text 13"/>
          <p:cNvSpPr/>
          <p:nvPr/>
        </p:nvSpPr>
        <p:spPr>
          <a:xfrm>
            <a:off x="822960" y="3054096"/>
            <a:ext cx="2697480" cy="566928"/>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We lost several complete runs before checkpointing existed.</a:t>
            </a:r>
            <a:endParaRPr lang="en-US" sz="1100" dirty="0"/>
          </a:p>
        </p:txBody>
      </p:sp>
      <p:sp>
        <p:nvSpPr>
          <p:cNvPr id="16" name="Text 14"/>
          <p:cNvSpPr/>
          <p:nvPr/>
        </p:nvSpPr>
        <p:spPr>
          <a:xfrm>
            <a:off x="3749040" y="2798064"/>
            <a:ext cx="7680960" cy="777240"/>
          </a:xfrm>
          <a:prstGeom prst="rect">
            <a:avLst/>
          </a:prstGeom>
          <a:noFill/>
          <a:ln/>
        </p:spPr>
        <p:txBody>
          <a:bodyPr wrap="square" lIns="0" tIns="0" rIns="0" bIns="0" rtlCol="0" anchor="ctr"/>
          <a:lstStyle/>
          <a:p>
            <a:pPr marL="0" indent="0">
              <a:buNone/>
            </a:pPr>
            <a:r>
              <a:rPr lang="en-US" sz="1600" dirty="0">
                <a:solidFill>
                  <a:srgbClr val="3E3228"/>
                </a:solidFill>
                <a:latin typeface="Calibri" pitchFamily="34" charset="0"/>
                <a:ea typeface="Calibri" pitchFamily="34" charset="-122"/>
                <a:cs typeface="Calibri" pitchFamily="34" charset="-120"/>
              </a:rPr>
              <a:t>→  Save progress every five examples to three places: Colab disk, Google Drive, GitHub. The third seemed excessive until a session found Drive empty and everything had to come back from GitHub.</a:t>
            </a:r>
            <a:endParaRPr lang="en-US" sz="1600" dirty="0"/>
          </a:p>
        </p:txBody>
      </p:sp>
      <p:sp>
        <p:nvSpPr>
          <p:cNvPr id="17" name="Shape 15"/>
          <p:cNvSpPr/>
          <p:nvPr/>
        </p:nvSpPr>
        <p:spPr>
          <a:xfrm>
            <a:off x="548640" y="3858768"/>
            <a:ext cx="11109960" cy="1115568"/>
          </a:xfrm>
          <a:prstGeom prst="roundRect">
            <a:avLst>
              <a:gd name="adj" fmla="val 5738"/>
            </a:avLst>
          </a:prstGeom>
          <a:solidFill>
            <a:srgbClr val="FFFFFF"/>
          </a:solidFill>
          <a:ln w="9525">
            <a:solidFill>
              <a:srgbClr val="C9B195"/>
            </a:solidFill>
            <a:prstDash val="solid"/>
          </a:ln>
        </p:spPr>
        <p:txBody>
          <a:bodyPr/>
          <a:lstStyle/>
          <a:p>
            <a:endParaRPr lang="en-IN" sz="2800"/>
          </a:p>
        </p:txBody>
      </p:sp>
      <p:sp>
        <p:nvSpPr>
          <p:cNvPr id="18" name="Shape 16"/>
          <p:cNvSpPr/>
          <p:nvPr/>
        </p:nvSpPr>
        <p:spPr>
          <a:xfrm>
            <a:off x="548640" y="3858768"/>
            <a:ext cx="109728" cy="1115568"/>
          </a:xfrm>
          <a:prstGeom prst="roundRect">
            <a:avLst>
              <a:gd name="adj" fmla="val 33333"/>
            </a:avLst>
          </a:prstGeom>
          <a:solidFill>
            <a:srgbClr val="7D9B76"/>
          </a:solidFill>
          <a:ln/>
        </p:spPr>
        <p:txBody>
          <a:bodyPr/>
          <a:lstStyle/>
          <a:p>
            <a:endParaRPr lang="en-IN" sz="2800"/>
          </a:p>
        </p:txBody>
      </p:sp>
      <p:sp>
        <p:nvSpPr>
          <p:cNvPr id="19" name="Text 17"/>
          <p:cNvSpPr/>
          <p:nvPr/>
        </p:nvSpPr>
        <p:spPr>
          <a:xfrm>
            <a:off x="822960" y="3986784"/>
            <a:ext cx="2651760" cy="292608"/>
          </a:xfrm>
          <a:prstGeom prst="rect">
            <a:avLst/>
          </a:prstGeom>
          <a:noFill/>
          <a:ln/>
        </p:spPr>
        <p:txBody>
          <a:bodyPr wrap="square" lIns="0" tIns="0" rIns="0" bIns="0" rtlCol="0" anchor="ctr"/>
          <a:lstStyle/>
          <a:p>
            <a:pPr marL="0" indent="0">
              <a:buNone/>
            </a:pPr>
            <a:r>
              <a:rPr lang="en-US" b="1" dirty="0">
                <a:solidFill>
                  <a:srgbClr val="7D9B76"/>
                </a:solidFill>
                <a:latin typeface="Calibri" pitchFamily="34" charset="0"/>
                <a:ea typeface="Calibri" pitchFamily="34" charset="-122"/>
                <a:cs typeface="Calibri" pitchFamily="34" charset="-120"/>
              </a:rPr>
              <a:t>Models disappearing</a:t>
            </a:r>
            <a:endParaRPr lang="en-US" dirty="0"/>
          </a:p>
        </p:txBody>
      </p:sp>
      <p:sp>
        <p:nvSpPr>
          <p:cNvPr id="20" name="Text 18"/>
          <p:cNvSpPr/>
          <p:nvPr/>
        </p:nvSpPr>
        <p:spPr>
          <a:xfrm>
            <a:off x="822960" y="4297680"/>
            <a:ext cx="2697480" cy="566928"/>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Two models we had evaluated were withdrawn by the provider mid-project; our generator retires shortly after submission.</a:t>
            </a:r>
            <a:endParaRPr lang="en-US" sz="1100" dirty="0"/>
          </a:p>
        </p:txBody>
      </p:sp>
      <p:sp>
        <p:nvSpPr>
          <p:cNvPr id="21" name="Text 19"/>
          <p:cNvSpPr/>
          <p:nvPr/>
        </p:nvSpPr>
        <p:spPr>
          <a:xfrm>
            <a:off x="3749040" y="4041648"/>
            <a:ext cx="7680960" cy="777240"/>
          </a:xfrm>
          <a:prstGeom prst="rect">
            <a:avLst/>
          </a:prstGeom>
          <a:noFill/>
          <a:ln/>
        </p:spPr>
        <p:txBody>
          <a:bodyPr wrap="square" lIns="0" tIns="0" rIns="0" bIns="0" rtlCol="0" anchor="ctr"/>
          <a:lstStyle/>
          <a:p>
            <a:pPr marL="0" indent="0">
              <a:buNone/>
            </a:pPr>
            <a:r>
              <a:rPr lang="en-US" sz="1600" dirty="0">
                <a:solidFill>
                  <a:srgbClr val="3E3228"/>
                </a:solidFill>
                <a:latin typeface="Calibri" pitchFamily="34" charset="0"/>
                <a:ea typeface="Calibri" pitchFamily="34" charset="-122"/>
                <a:cs typeface="Calibri" pitchFamily="34" charset="-120"/>
              </a:rPr>
              <a:t>→  Keep superseded results, clearly marked. Make sure at least one model appears in both campaigns so they can be related to each other.</a:t>
            </a:r>
            <a:endParaRPr lang="en-US" sz="1600" dirty="0"/>
          </a:p>
        </p:txBody>
      </p:sp>
      <p:sp>
        <p:nvSpPr>
          <p:cNvPr id="22" name="Shape 20"/>
          <p:cNvSpPr/>
          <p:nvPr/>
        </p:nvSpPr>
        <p:spPr>
          <a:xfrm>
            <a:off x="548640" y="5102352"/>
            <a:ext cx="11109960" cy="1115568"/>
          </a:xfrm>
          <a:prstGeom prst="roundRect">
            <a:avLst>
              <a:gd name="adj" fmla="val 5738"/>
            </a:avLst>
          </a:prstGeom>
          <a:solidFill>
            <a:srgbClr val="F0E7DA"/>
          </a:solidFill>
          <a:ln w="9525">
            <a:solidFill>
              <a:srgbClr val="C9B195"/>
            </a:solidFill>
            <a:prstDash val="solid"/>
          </a:ln>
        </p:spPr>
        <p:txBody>
          <a:bodyPr/>
          <a:lstStyle/>
          <a:p>
            <a:endParaRPr lang="en-IN" sz="2800"/>
          </a:p>
        </p:txBody>
      </p:sp>
      <p:sp>
        <p:nvSpPr>
          <p:cNvPr id="23" name="Shape 21"/>
          <p:cNvSpPr/>
          <p:nvPr/>
        </p:nvSpPr>
        <p:spPr>
          <a:xfrm>
            <a:off x="548640" y="5102352"/>
            <a:ext cx="109728" cy="1115568"/>
          </a:xfrm>
          <a:prstGeom prst="roundRect">
            <a:avLst>
              <a:gd name="adj" fmla="val 33333"/>
            </a:avLst>
          </a:prstGeom>
          <a:solidFill>
            <a:srgbClr val="B5714B"/>
          </a:solidFill>
          <a:ln/>
        </p:spPr>
        <p:txBody>
          <a:bodyPr/>
          <a:lstStyle/>
          <a:p>
            <a:endParaRPr lang="en-IN" sz="2800"/>
          </a:p>
        </p:txBody>
      </p:sp>
      <p:sp>
        <p:nvSpPr>
          <p:cNvPr id="24" name="Text 22"/>
          <p:cNvSpPr/>
          <p:nvPr/>
        </p:nvSpPr>
        <p:spPr>
          <a:xfrm>
            <a:off x="822960" y="5230368"/>
            <a:ext cx="2651760" cy="292608"/>
          </a:xfrm>
          <a:prstGeom prst="rect">
            <a:avLst/>
          </a:prstGeom>
          <a:noFill/>
          <a:ln/>
        </p:spPr>
        <p:txBody>
          <a:bodyPr wrap="square" lIns="0" tIns="0" rIns="0" bIns="0" rtlCol="0" anchor="ctr"/>
          <a:lstStyle/>
          <a:p>
            <a:pPr marL="0" indent="0">
              <a:buNone/>
            </a:pPr>
            <a:r>
              <a:rPr lang="en-US" b="1" dirty="0">
                <a:solidFill>
                  <a:srgbClr val="B5714B"/>
                </a:solidFill>
                <a:latin typeface="Calibri" pitchFamily="34" charset="0"/>
                <a:ea typeface="Calibri" pitchFamily="34" charset="-122"/>
                <a:cs typeface="Calibri" pitchFamily="34" charset="-120"/>
              </a:rPr>
              <a:t>Stale settings in Colab</a:t>
            </a:r>
            <a:endParaRPr lang="en-US" dirty="0"/>
          </a:p>
        </p:txBody>
      </p:sp>
      <p:sp>
        <p:nvSpPr>
          <p:cNvPr id="25" name="Text 23"/>
          <p:cNvSpPr/>
          <p:nvPr/>
        </p:nvSpPr>
        <p:spPr>
          <a:xfrm>
            <a:off x="822960" y="5541264"/>
            <a:ext cx="2697480" cy="566928"/>
          </a:xfrm>
          <a:prstGeom prst="rect">
            <a:avLst/>
          </a:prstGeom>
          <a:noFill/>
          <a:ln/>
        </p:spPr>
        <p:txBody>
          <a:bodyPr wrap="square" lIns="0" tIns="0" rIns="0" bIns="0" rtlCol="0" anchor="ctr"/>
          <a:lstStyle/>
          <a:p>
            <a:pPr marL="0" indent="0">
              <a:buNone/>
            </a:pPr>
            <a:r>
              <a:rPr lang="en-US" sz="1100" dirty="0">
                <a:solidFill>
                  <a:srgbClr val="7A6A5A"/>
                </a:solidFill>
                <a:latin typeface="Calibri" pitchFamily="34" charset="0"/>
                <a:ea typeface="Calibri" pitchFamily="34" charset="-122"/>
                <a:cs typeface="Calibri" pitchFamily="34" charset="-120"/>
              </a:rPr>
              <a:t>A variable set in an earlier cell stayed in memory, so a run meant for 200 examples quietly ran at 25.</a:t>
            </a:r>
            <a:endParaRPr lang="en-US" sz="1100" dirty="0"/>
          </a:p>
        </p:txBody>
      </p:sp>
      <p:sp>
        <p:nvSpPr>
          <p:cNvPr id="26" name="Text 24"/>
          <p:cNvSpPr/>
          <p:nvPr/>
        </p:nvSpPr>
        <p:spPr>
          <a:xfrm>
            <a:off x="3749040" y="5285232"/>
            <a:ext cx="7680960" cy="777240"/>
          </a:xfrm>
          <a:prstGeom prst="rect">
            <a:avLst/>
          </a:prstGeom>
          <a:noFill/>
          <a:ln/>
        </p:spPr>
        <p:txBody>
          <a:bodyPr wrap="square" lIns="0" tIns="0" rIns="0" bIns="0" rtlCol="0" anchor="ctr"/>
          <a:lstStyle/>
          <a:p>
            <a:pPr marL="0" indent="0">
              <a:buNone/>
            </a:pPr>
            <a:r>
              <a:rPr lang="en-US" sz="1600" dirty="0">
                <a:solidFill>
                  <a:srgbClr val="3E3228"/>
                </a:solidFill>
                <a:latin typeface="Calibri" pitchFamily="34" charset="0"/>
                <a:ea typeface="Calibri" pitchFamily="34" charset="-122"/>
                <a:cs typeface="Calibri" pitchFamily="34" charset="-120"/>
              </a:rPr>
              <a:t>→  Print the sample size and pause three seconds before every long run, so there is time to stop it.</a:t>
            </a:r>
            <a:endParaRPr lang="en-US" sz="1600" dirty="0"/>
          </a:p>
        </p:txBody>
      </p:sp>
      <p:sp>
        <p:nvSpPr>
          <p:cNvPr id="27" name="Shape 25"/>
          <p:cNvSpPr/>
          <p:nvPr/>
        </p:nvSpPr>
        <p:spPr>
          <a:xfrm>
            <a:off x="548640" y="6382512"/>
            <a:ext cx="11109960" cy="384048"/>
          </a:xfrm>
          <a:prstGeom prst="roundRect">
            <a:avLst>
              <a:gd name="adj" fmla="val 19048"/>
            </a:avLst>
          </a:prstGeom>
          <a:solidFill>
            <a:srgbClr val="E3EDE0"/>
          </a:solidFill>
          <a:ln w="15240">
            <a:solidFill>
              <a:srgbClr val="A8C0A0"/>
            </a:solidFill>
            <a:prstDash val="solid"/>
          </a:ln>
        </p:spPr>
        <p:txBody>
          <a:bodyPr/>
          <a:lstStyle/>
          <a:p>
            <a:endParaRPr lang="en-IN" sz="2800"/>
          </a:p>
        </p:txBody>
      </p:sp>
      <p:sp>
        <p:nvSpPr>
          <p:cNvPr id="28" name="Text 26"/>
          <p:cNvSpPr/>
          <p:nvPr/>
        </p:nvSpPr>
        <p:spPr>
          <a:xfrm>
            <a:off x="822960" y="6382512"/>
            <a:ext cx="10607040" cy="384048"/>
          </a:xfrm>
          <a:prstGeom prst="rect">
            <a:avLst/>
          </a:prstGeom>
          <a:noFill/>
          <a:ln/>
        </p:spPr>
        <p:txBody>
          <a:bodyPr wrap="square" lIns="0" tIns="0" rIns="0" bIns="0" rtlCol="0" anchor="ctr"/>
          <a:lstStyle/>
          <a:p>
            <a:pPr marL="0" indent="0">
              <a:buNone/>
            </a:pPr>
            <a:r>
              <a:rPr lang="en-US" sz="1400" i="1" dirty="0">
                <a:solidFill>
                  <a:srgbClr val="4A6B4F"/>
                </a:solidFill>
                <a:latin typeface="Calibri" pitchFamily="34" charset="0"/>
                <a:ea typeface="Calibri" pitchFamily="34" charset="-122"/>
                <a:cs typeface="Calibri" pitchFamily="34" charset="-120"/>
              </a:rPr>
              <a:t>Every item in Band D of the architecture diagram exists because its absence cost us a completed run.</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FAF6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78992"/>
          </a:xfrm>
          <a:prstGeom prst="roundRect">
            <a:avLst/>
          </a:prstGeom>
          <a:solidFill>
            <a:srgbClr val="FFFFFF"/>
          </a:solidFill>
          <a:ln/>
        </p:spPr>
        <p:txBody>
          <a:bodyPr/>
          <a:lstStyle/>
          <a:p>
            <a:endParaRPr lang="en-IN"/>
          </a:p>
        </p:txBody>
      </p:sp>
      <p:sp>
        <p:nvSpPr>
          <p:cNvPr id="3" name="Shape 1"/>
          <p:cNvSpPr/>
          <p:nvPr/>
        </p:nvSpPr>
        <p:spPr>
          <a:xfrm>
            <a:off x="0" y="1060704"/>
            <a:ext cx="12188952" cy="32004"/>
          </a:xfrm>
          <a:prstGeom prst="rect">
            <a:avLst/>
          </a:prstGeom>
          <a:solidFill>
            <a:srgbClr val="7D9B76"/>
          </a:solidFill>
          <a:ln/>
        </p:spPr>
        <p:txBody>
          <a:bodyPr/>
          <a:lstStyle/>
          <a:p>
            <a:endParaRPr lang="en-IN"/>
          </a:p>
        </p:txBody>
      </p:sp>
      <p:sp>
        <p:nvSpPr>
          <p:cNvPr id="4" name="Text 2"/>
          <p:cNvSpPr/>
          <p:nvPr/>
        </p:nvSpPr>
        <p:spPr>
          <a:xfrm>
            <a:off x="502920" y="118872"/>
            <a:ext cx="9464040" cy="457200"/>
          </a:xfrm>
          <a:prstGeom prst="rect">
            <a:avLst/>
          </a:prstGeom>
          <a:noFill/>
          <a:ln/>
        </p:spPr>
        <p:txBody>
          <a:bodyPr wrap="square" lIns="0" tIns="0" rIns="0" bIns="0" rtlCol="0" anchor="ctr"/>
          <a:lstStyle/>
          <a:p>
            <a:pPr marL="0" indent="0">
              <a:buNone/>
            </a:pPr>
            <a:r>
              <a:rPr lang="en-US" sz="2400" b="1" dirty="0">
                <a:solidFill>
                  <a:srgbClr val="5C4A38"/>
                </a:solidFill>
                <a:latin typeface="Georgia" pitchFamily="34" charset="0"/>
                <a:ea typeface="Georgia" pitchFamily="34" charset="-122"/>
                <a:cs typeface="Georgia" pitchFamily="34" charset="-120"/>
              </a:rPr>
              <a:t>What We Learned</a:t>
            </a:r>
            <a:endParaRPr lang="en-US" sz="2400" dirty="0"/>
          </a:p>
        </p:txBody>
      </p:sp>
      <p:sp>
        <p:nvSpPr>
          <p:cNvPr id="5" name="Text 3"/>
          <p:cNvSpPr/>
          <p:nvPr/>
        </p:nvSpPr>
        <p:spPr>
          <a:xfrm>
            <a:off x="502920" y="603504"/>
            <a:ext cx="9464040" cy="310896"/>
          </a:xfrm>
          <a:prstGeom prst="rect">
            <a:avLst/>
          </a:prstGeom>
          <a:noFill/>
          <a:ln/>
        </p:spPr>
        <p:txBody>
          <a:bodyPr wrap="square" lIns="0" tIns="0" rIns="0" bIns="0" rtlCol="0" anchor="ctr"/>
          <a:lstStyle/>
          <a:p>
            <a:pPr marL="0" indent="0">
              <a:buNone/>
            </a:pPr>
            <a:r>
              <a:rPr lang="en-US" sz="1250" i="1" dirty="0">
                <a:solidFill>
                  <a:srgbClr val="7A6A5A"/>
                </a:solidFill>
                <a:latin typeface="Calibri" pitchFamily="34" charset="0"/>
                <a:ea typeface="Calibri" pitchFamily="34" charset="-122"/>
                <a:cs typeface="Calibri" pitchFamily="34" charset="-120"/>
              </a:rPr>
              <a:t>The guidance we would give the next team</a:t>
            </a:r>
            <a:endParaRPr lang="en-US" sz="1250" dirty="0"/>
          </a:p>
        </p:txBody>
      </p:sp>
      <p:sp>
        <p:nvSpPr>
          <p:cNvPr id="6" name="Text 4"/>
          <p:cNvSpPr/>
          <p:nvPr/>
        </p:nvSpPr>
        <p:spPr>
          <a:xfrm>
            <a:off x="10195560" y="274320"/>
            <a:ext cx="1554480" cy="384048"/>
          </a:xfrm>
          <a:prstGeom prst="roundRect">
            <a:avLst>
              <a:gd name="adj" fmla="val 19048"/>
            </a:avLst>
          </a:prstGeom>
          <a:solidFill>
            <a:srgbClr val="E3EDE0"/>
          </a:solidFill>
          <a:ln w="12700">
            <a:solidFill>
              <a:srgbClr val="A8C0A0"/>
            </a:solidFill>
          </a:ln>
        </p:spPr>
        <p:txBody>
          <a:bodyPr wrap="square" lIns="0" tIns="0" rIns="0" bIns="0" rtlCol="0" anchor="ctr"/>
          <a:lstStyle/>
          <a:p>
            <a:pPr marL="0" indent="0" algn="ctr">
              <a:buNone/>
            </a:pPr>
            <a:r>
              <a:rPr lang="en-US" sz="1000" b="1" dirty="0">
                <a:solidFill>
                  <a:srgbClr val="4A6B4F"/>
                </a:solidFill>
                <a:latin typeface="Calibri" pitchFamily="34" charset="0"/>
                <a:ea typeface="Calibri" pitchFamily="34" charset="-122"/>
                <a:cs typeface="Calibri" pitchFamily="34" charset="-120"/>
              </a:rPr>
              <a:t>Report Sec. 11</a:t>
            </a:r>
            <a:endParaRPr lang="en-US" sz="1000" dirty="0"/>
          </a:p>
        </p:txBody>
      </p:sp>
      <p:sp>
        <p:nvSpPr>
          <p:cNvPr id="7" name="Shape 5"/>
          <p:cNvSpPr/>
          <p:nvPr/>
        </p:nvSpPr>
        <p:spPr>
          <a:xfrm>
            <a:off x="548640" y="1371600"/>
            <a:ext cx="5440680" cy="1426464"/>
          </a:xfrm>
          <a:prstGeom prst="roundRect">
            <a:avLst>
              <a:gd name="adj" fmla="val 4487"/>
            </a:avLst>
          </a:prstGeom>
          <a:solidFill>
            <a:srgbClr val="E3EDE0"/>
          </a:solidFill>
          <a:ln w="11430">
            <a:solidFill>
              <a:srgbClr val="A8C0A0"/>
            </a:solidFill>
            <a:prstDash val="solid"/>
          </a:ln>
        </p:spPr>
        <p:txBody>
          <a:bodyPr/>
          <a:lstStyle/>
          <a:p>
            <a:endParaRPr lang="en-IN" sz="2400"/>
          </a:p>
        </p:txBody>
      </p:sp>
      <p:sp>
        <p:nvSpPr>
          <p:cNvPr id="8" name="Shape 6"/>
          <p:cNvSpPr/>
          <p:nvPr/>
        </p:nvSpPr>
        <p:spPr>
          <a:xfrm>
            <a:off x="749808" y="1554480"/>
            <a:ext cx="384048" cy="384048"/>
          </a:xfrm>
          <a:prstGeom prst="ellipse">
            <a:avLst/>
          </a:prstGeom>
          <a:solidFill>
            <a:srgbClr val="4A6B4F"/>
          </a:solidFill>
          <a:ln/>
        </p:spPr>
        <p:txBody>
          <a:bodyPr/>
          <a:lstStyle/>
          <a:p>
            <a:endParaRPr lang="en-IN" sz="2400"/>
          </a:p>
        </p:txBody>
      </p:sp>
      <p:sp>
        <p:nvSpPr>
          <p:cNvPr id="9" name="Text 7"/>
          <p:cNvSpPr/>
          <p:nvPr/>
        </p:nvSpPr>
        <p:spPr>
          <a:xfrm>
            <a:off x="749808" y="1554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261872" y="1536192"/>
            <a:ext cx="4572000" cy="38404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Diagnose before optimising</a:t>
            </a:r>
            <a:endParaRPr lang="en-US" sz="1600" dirty="0"/>
          </a:p>
        </p:txBody>
      </p:sp>
      <p:sp>
        <p:nvSpPr>
          <p:cNvPr id="11" name="Text 9"/>
          <p:cNvSpPr/>
          <p:nvPr/>
        </p:nvSpPr>
        <p:spPr>
          <a:xfrm>
            <a:off x="1261872" y="1938528"/>
            <a:ext cx="4572000" cy="777240"/>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The four TRACe scores localise the failure. Adequate relevance with poor adherence means the generator is the problem, and no amount of retrieval work will fix it.</a:t>
            </a:r>
            <a:endParaRPr lang="en-US" sz="1200" dirty="0"/>
          </a:p>
        </p:txBody>
      </p:sp>
      <p:sp>
        <p:nvSpPr>
          <p:cNvPr id="12" name="Shape 10"/>
          <p:cNvSpPr/>
          <p:nvPr/>
        </p:nvSpPr>
        <p:spPr>
          <a:xfrm>
            <a:off x="6217920" y="1371600"/>
            <a:ext cx="5440680" cy="1426464"/>
          </a:xfrm>
          <a:prstGeom prst="roundRect">
            <a:avLst>
              <a:gd name="adj" fmla="val 4487"/>
            </a:avLst>
          </a:prstGeom>
          <a:solidFill>
            <a:srgbClr val="E3EDE0"/>
          </a:solidFill>
          <a:ln w="11430">
            <a:solidFill>
              <a:srgbClr val="A8C0A0"/>
            </a:solidFill>
            <a:prstDash val="solid"/>
          </a:ln>
        </p:spPr>
        <p:txBody>
          <a:bodyPr/>
          <a:lstStyle/>
          <a:p>
            <a:endParaRPr lang="en-IN" sz="2400"/>
          </a:p>
        </p:txBody>
      </p:sp>
      <p:sp>
        <p:nvSpPr>
          <p:cNvPr id="13" name="Shape 11"/>
          <p:cNvSpPr/>
          <p:nvPr/>
        </p:nvSpPr>
        <p:spPr>
          <a:xfrm>
            <a:off x="6419088" y="1554480"/>
            <a:ext cx="384048" cy="384048"/>
          </a:xfrm>
          <a:prstGeom prst="ellipse">
            <a:avLst/>
          </a:prstGeom>
          <a:solidFill>
            <a:srgbClr val="8C6E52"/>
          </a:solidFill>
          <a:ln/>
        </p:spPr>
        <p:txBody>
          <a:bodyPr/>
          <a:lstStyle/>
          <a:p>
            <a:endParaRPr lang="en-IN" sz="2400"/>
          </a:p>
        </p:txBody>
      </p:sp>
      <p:sp>
        <p:nvSpPr>
          <p:cNvPr id="14" name="Text 12"/>
          <p:cNvSpPr/>
          <p:nvPr/>
        </p:nvSpPr>
        <p:spPr>
          <a:xfrm>
            <a:off x="6419088" y="1554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6931152" y="1536192"/>
            <a:ext cx="4572000" cy="38404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Chunking mattered most — not search</a:t>
            </a:r>
            <a:endParaRPr lang="en-US" sz="1600" dirty="0"/>
          </a:p>
        </p:txBody>
      </p:sp>
      <p:sp>
        <p:nvSpPr>
          <p:cNvPr id="16" name="Text 14"/>
          <p:cNvSpPr/>
          <p:nvPr/>
        </p:nvSpPr>
        <p:spPr>
          <a:xfrm>
            <a:off x="6931152" y="1938528"/>
            <a:ext cx="4572000" cy="777240"/>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It led in three of four domains and dominated Legal. We had assumed better search was the main route to better answers. It was not.</a:t>
            </a:r>
            <a:endParaRPr lang="en-US" sz="1200" dirty="0"/>
          </a:p>
        </p:txBody>
      </p:sp>
      <p:sp>
        <p:nvSpPr>
          <p:cNvPr id="17" name="Shape 15"/>
          <p:cNvSpPr/>
          <p:nvPr/>
        </p:nvSpPr>
        <p:spPr>
          <a:xfrm>
            <a:off x="548640" y="2944368"/>
            <a:ext cx="5440680" cy="1426464"/>
          </a:xfrm>
          <a:prstGeom prst="roundRect">
            <a:avLst>
              <a:gd name="adj" fmla="val 4487"/>
            </a:avLst>
          </a:prstGeom>
          <a:solidFill>
            <a:srgbClr val="F0E7DA"/>
          </a:solidFill>
          <a:ln w="11430">
            <a:solidFill>
              <a:srgbClr val="C9B195"/>
            </a:solidFill>
            <a:prstDash val="solid"/>
          </a:ln>
        </p:spPr>
        <p:txBody>
          <a:bodyPr/>
          <a:lstStyle/>
          <a:p>
            <a:endParaRPr lang="en-IN" sz="2400"/>
          </a:p>
        </p:txBody>
      </p:sp>
      <p:sp>
        <p:nvSpPr>
          <p:cNvPr id="18" name="Shape 16"/>
          <p:cNvSpPr/>
          <p:nvPr/>
        </p:nvSpPr>
        <p:spPr>
          <a:xfrm>
            <a:off x="749808" y="3127248"/>
            <a:ext cx="384048" cy="384048"/>
          </a:xfrm>
          <a:prstGeom prst="ellipse">
            <a:avLst/>
          </a:prstGeom>
          <a:solidFill>
            <a:srgbClr val="7D9B76"/>
          </a:solidFill>
          <a:ln/>
        </p:spPr>
        <p:txBody>
          <a:bodyPr/>
          <a:lstStyle/>
          <a:p>
            <a:endParaRPr lang="en-IN" sz="2400"/>
          </a:p>
        </p:txBody>
      </p:sp>
      <p:sp>
        <p:nvSpPr>
          <p:cNvPr id="19" name="Text 17"/>
          <p:cNvSpPr/>
          <p:nvPr/>
        </p:nvSpPr>
        <p:spPr>
          <a:xfrm>
            <a:off x="749808" y="31272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1261872" y="3108960"/>
            <a:ext cx="4572000" cy="38404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Specialist embedders are not automatically better</a:t>
            </a:r>
            <a:endParaRPr lang="en-US" sz="1600" dirty="0"/>
          </a:p>
        </p:txBody>
      </p:sp>
      <p:sp>
        <p:nvSpPr>
          <p:cNvPr id="21" name="Text 19"/>
          <p:cNvSpPr/>
          <p:nvPr/>
        </p:nvSpPr>
        <p:spPr>
          <a:xfrm>
            <a:off x="1261872" y="3511296"/>
            <a:ext cx="4572000" cy="777240"/>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Only FinBERT earned its place. The clause-aware chunker we built for contracts lost to a plain sliding window.</a:t>
            </a:r>
            <a:endParaRPr lang="en-US" sz="1200" dirty="0"/>
          </a:p>
        </p:txBody>
      </p:sp>
      <p:sp>
        <p:nvSpPr>
          <p:cNvPr id="22" name="Shape 20"/>
          <p:cNvSpPr/>
          <p:nvPr/>
        </p:nvSpPr>
        <p:spPr>
          <a:xfrm>
            <a:off x="6217920" y="2944368"/>
            <a:ext cx="5440680" cy="1426464"/>
          </a:xfrm>
          <a:prstGeom prst="roundRect">
            <a:avLst>
              <a:gd name="adj" fmla="val 4487"/>
            </a:avLst>
          </a:prstGeom>
          <a:solidFill>
            <a:srgbClr val="F0E7DA"/>
          </a:solidFill>
          <a:ln w="11430">
            <a:solidFill>
              <a:srgbClr val="C9B195"/>
            </a:solidFill>
            <a:prstDash val="solid"/>
          </a:ln>
        </p:spPr>
        <p:txBody>
          <a:bodyPr/>
          <a:lstStyle/>
          <a:p>
            <a:endParaRPr lang="en-IN" sz="2400"/>
          </a:p>
        </p:txBody>
      </p:sp>
      <p:sp>
        <p:nvSpPr>
          <p:cNvPr id="23" name="Shape 21"/>
          <p:cNvSpPr/>
          <p:nvPr/>
        </p:nvSpPr>
        <p:spPr>
          <a:xfrm>
            <a:off x="6419088" y="3127248"/>
            <a:ext cx="384048" cy="384048"/>
          </a:xfrm>
          <a:prstGeom prst="ellipse">
            <a:avLst/>
          </a:prstGeom>
          <a:solidFill>
            <a:srgbClr val="B5714B"/>
          </a:solidFill>
          <a:ln/>
        </p:spPr>
        <p:txBody>
          <a:bodyPr/>
          <a:lstStyle/>
          <a:p>
            <a:endParaRPr lang="en-IN" sz="2400"/>
          </a:p>
        </p:txBody>
      </p:sp>
      <p:sp>
        <p:nvSpPr>
          <p:cNvPr id="24" name="Text 22"/>
          <p:cNvSpPr/>
          <p:nvPr/>
        </p:nvSpPr>
        <p:spPr>
          <a:xfrm>
            <a:off x="6419088" y="312724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p:nvPr/>
        </p:nvSpPr>
        <p:spPr>
          <a:xfrm>
            <a:off x="6931152" y="3108960"/>
            <a:ext cx="4572000" cy="38404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Validate the instrument before the result</a:t>
            </a:r>
            <a:endParaRPr lang="en-US" sz="1600" dirty="0"/>
          </a:p>
        </p:txBody>
      </p:sp>
      <p:sp>
        <p:nvSpPr>
          <p:cNvPr id="26" name="Text 24"/>
          <p:cNvSpPr/>
          <p:nvPr/>
        </p:nvSpPr>
        <p:spPr>
          <a:xfrm>
            <a:off x="6931152" y="3511296"/>
            <a:ext cx="4572000" cy="777240"/>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The judging prompt outweighed every design decision we tested. Check how you measure before you tune what you measure.</a:t>
            </a:r>
            <a:endParaRPr lang="en-US" sz="1200" dirty="0"/>
          </a:p>
        </p:txBody>
      </p:sp>
      <p:sp>
        <p:nvSpPr>
          <p:cNvPr id="27" name="Shape 25"/>
          <p:cNvSpPr/>
          <p:nvPr/>
        </p:nvSpPr>
        <p:spPr>
          <a:xfrm>
            <a:off x="548640" y="4517136"/>
            <a:ext cx="5440680" cy="1426464"/>
          </a:xfrm>
          <a:prstGeom prst="roundRect">
            <a:avLst>
              <a:gd name="adj" fmla="val 4487"/>
            </a:avLst>
          </a:prstGeom>
          <a:solidFill>
            <a:srgbClr val="FFFFFF"/>
          </a:solidFill>
          <a:ln w="11430">
            <a:solidFill>
              <a:srgbClr val="C9B195"/>
            </a:solidFill>
            <a:prstDash val="solid"/>
          </a:ln>
        </p:spPr>
        <p:txBody>
          <a:bodyPr/>
          <a:lstStyle/>
          <a:p>
            <a:endParaRPr lang="en-IN" sz="2400"/>
          </a:p>
        </p:txBody>
      </p:sp>
      <p:sp>
        <p:nvSpPr>
          <p:cNvPr id="28" name="Shape 26"/>
          <p:cNvSpPr/>
          <p:nvPr/>
        </p:nvSpPr>
        <p:spPr>
          <a:xfrm>
            <a:off x="749808" y="4700016"/>
            <a:ext cx="384048" cy="384048"/>
          </a:xfrm>
          <a:prstGeom prst="ellipse">
            <a:avLst/>
          </a:prstGeom>
          <a:solidFill>
            <a:srgbClr val="5C4A38"/>
          </a:solidFill>
          <a:ln/>
        </p:spPr>
        <p:txBody>
          <a:bodyPr/>
          <a:lstStyle/>
          <a:p>
            <a:endParaRPr lang="en-IN" sz="2400"/>
          </a:p>
        </p:txBody>
      </p:sp>
      <p:sp>
        <p:nvSpPr>
          <p:cNvPr id="29" name="Text 27"/>
          <p:cNvSpPr/>
          <p:nvPr/>
        </p:nvSpPr>
        <p:spPr>
          <a:xfrm>
            <a:off x="749808" y="47000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Text 28"/>
          <p:cNvSpPr/>
          <p:nvPr/>
        </p:nvSpPr>
        <p:spPr>
          <a:xfrm>
            <a:off x="1261872" y="4681728"/>
            <a:ext cx="4572000" cy="38404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Screen small, report large</a:t>
            </a:r>
            <a:endParaRPr lang="en-US" sz="1600" dirty="0"/>
          </a:p>
        </p:txBody>
      </p:sp>
      <p:sp>
        <p:nvSpPr>
          <p:cNvPr id="31" name="Text 29"/>
          <p:cNvSpPr/>
          <p:nvPr/>
        </p:nvSpPr>
        <p:spPr>
          <a:xfrm>
            <a:off x="1261872" y="5084064"/>
            <a:ext cx="4572000" cy="777240"/>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A 25-example score moved 0.239 by the time it reached 200 examples — enough to reverse a ranking decision.</a:t>
            </a:r>
            <a:endParaRPr lang="en-US" sz="1200" dirty="0"/>
          </a:p>
        </p:txBody>
      </p:sp>
      <p:sp>
        <p:nvSpPr>
          <p:cNvPr id="32" name="Shape 30"/>
          <p:cNvSpPr/>
          <p:nvPr/>
        </p:nvSpPr>
        <p:spPr>
          <a:xfrm>
            <a:off x="6217920" y="4517136"/>
            <a:ext cx="5440680" cy="1426464"/>
          </a:xfrm>
          <a:prstGeom prst="roundRect">
            <a:avLst>
              <a:gd name="adj" fmla="val 4487"/>
            </a:avLst>
          </a:prstGeom>
          <a:solidFill>
            <a:srgbClr val="FFFFFF"/>
          </a:solidFill>
          <a:ln w="11430">
            <a:solidFill>
              <a:srgbClr val="C9B195"/>
            </a:solidFill>
            <a:prstDash val="solid"/>
          </a:ln>
        </p:spPr>
        <p:txBody>
          <a:bodyPr/>
          <a:lstStyle/>
          <a:p>
            <a:endParaRPr lang="en-IN" sz="2400"/>
          </a:p>
        </p:txBody>
      </p:sp>
      <p:sp>
        <p:nvSpPr>
          <p:cNvPr id="33" name="Shape 31"/>
          <p:cNvSpPr/>
          <p:nvPr/>
        </p:nvSpPr>
        <p:spPr>
          <a:xfrm>
            <a:off x="6419088" y="4700016"/>
            <a:ext cx="384048" cy="384048"/>
          </a:xfrm>
          <a:prstGeom prst="ellipse">
            <a:avLst/>
          </a:prstGeom>
          <a:solidFill>
            <a:srgbClr val="4A6B4F"/>
          </a:solidFill>
          <a:ln/>
        </p:spPr>
        <p:txBody>
          <a:bodyPr/>
          <a:lstStyle/>
          <a:p>
            <a:endParaRPr lang="en-IN" sz="2400"/>
          </a:p>
        </p:txBody>
      </p:sp>
      <p:sp>
        <p:nvSpPr>
          <p:cNvPr id="34" name="Text 32"/>
          <p:cNvSpPr/>
          <p:nvPr/>
        </p:nvSpPr>
        <p:spPr>
          <a:xfrm>
            <a:off x="6419088" y="470001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5" name="Text 33"/>
          <p:cNvSpPr/>
          <p:nvPr/>
        </p:nvSpPr>
        <p:spPr>
          <a:xfrm>
            <a:off x="6931152" y="4681728"/>
            <a:ext cx="4572000" cy="384048"/>
          </a:xfrm>
          <a:prstGeom prst="rect">
            <a:avLst/>
          </a:prstGeom>
          <a:noFill/>
          <a:ln/>
        </p:spPr>
        <p:txBody>
          <a:bodyPr wrap="square" lIns="0" tIns="0" rIns="0" bIns="0" rtlCol="0" anchor="ctr"/>
          <a:lstStyle/>
          <a:p>
            <a:pPr marL="0" indent="0">
              <a:buNone/>
            </a:pPr>
            <a:r>
              <a:rPr lang="en-US" sz="1600" b="1" dirty="0">
                <a:solidFill>
                  <a:srgbClr val="5C4A38"/>
                </a:solidFill>
                <a:latin typeface="Calibri" pitchFamily="34" charset="0"/>
                <a:ea typeface="Calibri" pitchFamily="34" charset="-122"/>
                <a:cs typeface="Calibri" pitchFamily="34" charset="-120"/>
              </a:rPr>
              <a:t>Silent failures are the dangerous ones</a:t>
            </a:r>
            <a:endParaRPr lang="en-US" sz="1600" dirty="0"/>
          </a:p>
        </p:txBody>
      </p:sp>
      <p:sp>
        <p:nvSpPr>
          <p:cNvPr id="36" name="Text 34"/>
          <p:cNvSpPr/>
          <p:nvPr/>
        </p:nvSpPr>
        <p:spPr>
          <a:xfrm>
            <a:off x="6931152" y="5084064"/>
            <a:ext cx="4572000" cy="777240"/>
          </a:xfrm>
          <a:prstGeom prst="rect">
            <a:avLst/>
          </a:prstGeom>
          <a:noFill/>
          <a:ln/>
        </p:spPr>
        <p:txBody>
          <a:bodyPr wrap="square" lIns="0" tIns="0" rIns="0" bIns="0" rtlCol="0" anchor="ctr"/>
          <a:lstStyle/>
          <a:p>
            <a:pPr marL="0" indent="0">
              <a:buNone/>
            </a:pPr>
            <a:r>
              <a:rPr lang="en-US" sz="1200" dirty="0">
                <a:solidFill>
                  <a:srgbClr val="3E3228"/>
                </a:solidFill>
                <a:latin typeface="Calibri" pitchFamily="34" charset="0"/>
                <a:ea typeface="Calibri" pitchFamily="34" charset="-122"/>
                <a:cs typeface="Calibri" pitchFamily="34" charset="-120"/>
              </a:rPr>
              <a:t>Ten defects, none of which crashed. A test that only asks whether the code ran would have passed every one.</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5C4A38"/>
        </a:solidFill>
        <a:effectLst/>
      </p:bgPr>
    </p:bg>
    <p:spTree>
      <p:nvGrpSpPr>
        <p:cNvPr id="1" name=""/>
        <p:cNvGrpSpPr/>
        <p:nvPr/>
      </p:nvGrpSpPr>
      <p:grpSpPr>
        <a:xfrm>
          <a:off x="0" y="0"/>
          <a:ext cx="0" cy="0"/>
          <a:chOff x="0" y="0"/>
          <a:chExt cx="0" cy="0"/>
        </a:xfrm>
      </p:grpSpPr>
      <p:sp>
        <p:nvSpPr>
          <p:cNvPr id="2" name="Shape 0"/>
          <p:cNvSpPr/>
          <p:nvPr/>
        </p:nvSpPr>
        <p:spPr>
          <a:xfrm>
            <a:off x="9509760" y="3931920"/>
            <a:ext cx="5120640" cy="5120640"/>
          </a:xfrm>
          <a:prstGeom prst="ellipse">
            <a:avLst/>
          </a:prstGeom>
          <a:solidFill>
            <a:srgbClr val="8C6E52"/>
          </a:solidFill>
          <a:ln/>
        </p:spPr>
        <p:txBody>
          <a:bodyPr/>
          <a:lstStyle/>
          <a:p>
            <a:endParaRPr lang="en-IN"/>
          </a:p>
        </p:txBody>
      </p:sp>
      <p:sp>
        <p:nvSpPr>
          <p:cNvPr id="3" name="Shape 1"/>
          <p:cNvSpPr/>
          <p:nvPr/>
        </p:nvSpPr>
        <p:spPr>
          <a:xfrm>
            <a:off x="-1463040" y="-1828800"/>
            <a:ext cx="4023360" cy="4023360"/>
          </a:xfrm>
          <a:prstGeom prst="ellipse">
            <a:avLst/>
          </a:prstGeom>
          <a:solidFill>
            <a:srgbClr val="4A6B4F"/>
          </a:solidFill>
          <a:ln/>
        </p:spPr>
        <p:txBody>
          <a:bodyPr/>
          <a:lstStyle/>
          <a:p>
            <a:endParaRPr lang="en-IN"/>
          </a:p>
        </p:txBody>
      </p:sp>
      <p:sp>
        <p:nvSpPr>
          <p:cNvPr id="4" name="Text 2"/>
          <p:cNvSpPr/>
          <p:nvPr/>
        </p:nvSpPr>
        <p:spPr>
          <a:xfrm>
            <a:off x="822960" y="685800"/>
            <a:ext cx="914400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In Closing</a:t>
            </a:r>
            <a:endParaRPr lang="en-US" sz="3400" dirty="0"/>
          </a:p>
        </p:txBody>
      </p:sp>
      <p:sp>
        <p:nvSpPr>
          <p:cNvPr id="5" name="Shape 3"/>
          <p:cNvSpPr/>
          <p:nvPr/>
        </p:nvSpPr>
        <p:spPr>
          <a:xfrm>
            <a:off x="822960" y="1444752"/>
            <a:ext cx="2377440" cy="41148"/>
          </a:xfrm>
          <a:prstGeom prst="rect">
            <a:avLst/>
          </a:prstGeom>
          <a:solidFill>
            <a:srgbClr val="A8C0A0"/>
          </a:solidFill>
          <a:ln/>
        </p:spPr>
        <p:txBody>
          <a:bodyPr/>
          <a:lstStyle/>
          <a:p>
            <a:endParaRPr lang="en-IN"/>
          </a:p>
        </p:txBody>
      </p:sp>
      <p:sp>
        <p:nvSpPr>
          <p:cNvPr id="6" name="Shape 4"/>
          <p:cNvSpPr/>
          <p:nvPr/>
        </p:nvSpPr>
        <p:spPr>
          <a:xfrm>
            <a:off x="822960" y="1837944"/>
            <a:ext cx="402336" cy="402336"/>
          </a:xfrm>
          <a:prstGeom prst="ellipse">
            <a:avLst/>
          </a:prstGeom>
          <a:solidFill>
            <a:srgbClr val="A8C0A0"/>
          </a:solidFill>
          <a:ln/>
        </p:spPr>
        <p:txBody>
          <a:bodyPr/>
          <a:lstStyle/>
          <a:p>
            <a:endParaRPr lang="en-IN"/>
          </a:p>
        </p:txBody>
      </p:sp>
      <p:sp>
        <p:nvSpPr>
          <p:cNvPr id="7" name="Text 5"/>
          <p:cNvSpPr/>
          <p:nvPr/>
        </p:nvSpPr>
        <p:spPr>
          <a:xfrm>
            <a:off x="822960" y="1837944"/>
            <a:ext cx="402336" cy="402336"/>
          </a:xfrm>
          <a:prstGeom prst="rect">
            <a:avLst/>
          </a:prstGeom>
          <a:noFill/>
          <a:ln/>
        </p:spPr>
        <p:txBody>
          <a:bodyPr wrap="square" lIns="0" tIns="0" rIns="0" bIns="0" rtlCol="0" anchor="ctr"/>
          <a:lstStyle/>
          <a:p>
            <a:pPr marL="0" indent="0" algn="ctr">
              <a:buNone/>
            </a:pPr>
            <a:r>
              <a:rPr lang="en-US" sz="1200" b="1" dirty="0">
                <a:solidFill>
                  <a:srgbClr val="5C4A38"/>
                </a:solidFill>
                <a:latin typeface="Georgia" pitchFamily="34" charset="0"/>
                <a:ea typeface="Georgia" pitchFamily="34" charset="-122"/>
                <a:cs typeface="Georgia" pitchFamily="34" charset="-120"/>
              </a:rPr>
              <a:t>1</a:t>
            </a:r>
            <a:endParaRPr lang="en-US" sz="1200" dirty="0"/>
          </a:p>
        </p:txBody>
      </p:sp>
      <p:sp>
        <p:nvSpPr>
          <p:cNvPr id="8" name="Text 6"/>
          <p:cNvSpPr/>
          <p:nvPr/>
        </p:nvSpPr>
        <p:spPr>
          <a:xfrm>
            <a:off x="1417320" y="1783080"/>
            <a:ext cx="9509760" cy="310896"/>
          </a:xfrm>
          <a:prstGeom prst="rect">
            <a:avLst/>
          </a:prstGeom>
          <a:noFill/>
          <a:ln/>
        </p:spPr>
        <p:txBody>
          <a:bodyPr wrap="square" lIns="0" tIns="0" rIns="0" bIns="0" rtlCol="0" anchor="ctr"/>
          <a:lstStyle/>
          <a:p>
            <a:pPr marL="0" indent="0">
              <a:buNone/>
            </a:pPr>
            <a:r>
              <a:rPr lang="en-US" sz="1500" b="1" dirty="0">
                <a:solidFill>
                  <a:srgbClr val="A8C0A0"/>
                </a:solidFill>
                <a:latin typeface="Calibri" pitchFamily="34" charset="0"/>
                <a:ea typeface="Calibri" pitchFamily="34" charset="-122"/>
                <a:cs typeface="Calibri" pitchFamily="34" charset="-120"/>
              </a:rPr>
              <a:t>Attribution</a:t>
            </a:r>
            <a:endParaRPr lang="en-US" sz="1500" dirty="0"/>
          </a:p>
        </p:txBody>
      </p:sp>
      <p:sp>
        <p:nvSpPr>
          <p:cNvPr id="9" name="Text 7"/>
          <p:cNvSpPr/>
          <p:nvPr/>
        </p:nvSpPr>
        <p:spPr>
          <a:xfrm>
            <a:off x="1417320" y="2112264"/>
            <a:ext cx="9326880" cy="868680"/>
          </a:xfrm>
          <a:prstGeom prst="rect">
            <a:avLst/>
          </a:prstGeom>
          <a:noFill/>
          <a:ln/>
        </p:spPr>
        <p:txBody>
          <a:bodyPr wrap="square" lIns="0" tIns="0" rIns="0" bIns="0" rtlCol="0" anchor="ctr"/>
          <a:lstStyle/>
          <a:p>
            <a:pPr marL="0" indent="0">
              <a:buNone/>
            </a:pPr>
            <a:r>
              <a:rPr lang="en-US" sz="1150" dirty="0">
                <a:solidFill>
                  <a:srgbClr val="F0E7DA"/>
                </a:solidFill>
                <a:latin typeface="Calibri" pitchFamily="34" charset="0"/>
                <a:ea typeface="Calibri" pitchFamily="34" charset="-122"/>
                <a:cs typeface="Calibri" pitchFamily="34" charset="-120"/>
              </a:rPr>
              <a:t>Chunking carried the most variation in three of four domains and dominated Legal. Retrieval and reranking — the two we expected to matter most — moved the score least. That reversal is the clearest single lesson of the project.</a:t>
            </a:r>
            <a:endParaRPr lang="en-US" sz="1150" dirty="0"/>
          </a:p>
        </p:txBody>
      </p:sp>
      <p:sp>
        <p:nvSpPr>
          <p:cNvPr id="10" name="Shape 8"/>
          <p:cNvSpPr/>
          <p:nvPr/>
        </p:nvSpPr>
        <p:spPr>
          <a:xfrm>
            <a:off x="822960" y="3136392"/>
            <a:ext cx="402336" cy="402336"/>
          </a:xfrm>
          <a:prstGeom prst="ellipse">
            <a:avLst/>
          </a:prstGeom>
          <a:solidFill>
            <a:srgbClr val="A8C0A0"/>
          </a:solidFill>
          <a:ln/>
        </p:spPr>
        <p:txBody>
          <a:bodyPr/>
          <a:lstStyle/>
          <a:p>
            <a:endParaRPr lang="en-IN"/>
          </a:p>
        </p:txBody>
      </p:sp>
      <p:sp>
        <p:nvSpPr>
          <p:cNvPr id="11" name="Text 9"/>
          <p:cNvSpPr/>
          <p:nvPr/>
        </p:nvSpPr>
        <p:spPr>
          <a:xfrm>
            <a:off x="822960" y="3136392"/>
            <a:ext cx="402336" cy="402336"/>
          </a:xfrm>
          <a:prstGeom prst="rect">
            <a:avLst/>
          </a:prstGeom>
          <a:noFill/>
          <a:ln/>
        </p:spPr>
        <p:txBody>
          <a:bodyPr wrap="square" lIns="0" tIns="0" rIns="0" bIns="0" rtlCol="0" anchor="ctr"/>
          <a:lstStyle/>
          <a:p>
            <a:pPr marL="0" indent="0" algn="ctr">
              <a:buNone/>
            </a:pPr>
            <a:r>
              <a:rPr lang="en-US" sz="1200" b="1" dirty="0">
                <a:solidFill>
                  <a:srgbClr val="5C4A38"/>
                </a:solidFill>
                <a:latin typeface="Georgia" pitchFamily="34" charset="0"/>
                <a:ea typeface="Georgia" pitchFamily="34" charset="-122"/>
                <a:cs typeface="Georgia" pitchFamily="34" charset="-120"/>
              </a:rPr>
              <a:t>2</a:t>
            </a:r>
            <a:endParaRPr lang="en-US" sz="1200" dirty="0"/>
          </a:p>
        </p:txBody>
      </p:sp>
      <p:sp>
        <p:nvSpPr>
          <p:cNvPr id="12" name="Text 10"/>
          <p:cNvSpPr/>
          <p:nvPr/>
        </p:nvSpPr>
        <p:spPr>
          <a:xfrm>
            <a:off x="1417320" y="3081528"/>
            <a:ext cx="9509760" cy="310896"/>
          </a:xfrm>
          <a:prstGeom prst="rect">
            <a:avLst/>
          </a:prstGeom>
          <a:noFill/>
          <a:ln/>
        </p:spPr>
        <p:txBody>
          <a:bodyPr wrap="square" lIns="0" tIns="0" rIns="0" bIns="0" rtlCol="0" anchor="ctr"/>
          <a:lstStyle/>
          <a:p>
            <a:pPr marL="0" indent="0">
              <a:buNone/>
            </a:pPr>
            <a:r>
              <a:rPr lang="en-US" sz="1500" b="1" dirty="0">
                <a:solidFill>
                  <a:srgbClr val="A8C0A0"/>
                </a:solidFill>
                <a:latin typeface="Calibri" pitchFamily="34" charset="0"/>
                <a:ea typeface="Calibri" pitchFamily="34" charset="-122"/>
                <a:cs typeface="Calibri" pitchFamily="34" charset="-120"/>
              </a:rPr>
              <a:t>Generality</a:t>
            </a:r>
            <a:endParaRPr lang="en-US" sz="1500" dirty="0"/>
          </a:p>
        </p:txBody>
      </p:sp>
      <p:sp>
        <p:nvSpPr>
          <p:cNvPr id="13" name="Text 11"/>
          <p:cNvSpPr/>
          <p:nvPr/>
        </p:nvSpPr>
        <p:spPr>
          <a:xfrm>
            <a:off x="1417320" y="3410712"/>
            <a:ext cx="9326880" cy="868680"/>
          </a:xfrm>
          <a:prstGeom prst="rect">
            <a:avLst/>
          </a:prstGeom>
          <a:noFill/>
          <a:ln/>
        </p:spPr>
        <p:txBody>
          <a:bodyPr wrap="square" lIns="0" tIns="0" rIns="0" bIns="0" rtlCol="0" anchor="ctr"/>
          <a:lstStyle/>
          <a:p>
            <a:pPr marL="0" indent="0">
              <a:buNone/>
            </a:pPr>
            <a:r>
              <a:rPr lang="en-US" sz="1150" dirty="0">
                <a:solidFill>
                  <a:srgbClr val="F0E7DA"/>
                </a:solidFill>
                <a:latin typeface="Calibri" pitchFamily="34" charset="0"/>
                <a:ea typeface="Calibri" pitchFamily="34" charset="-122"/>
                <a:cs typeface="Calibri" pitchFamily="34" charset="-120"/>
              </a:rPr>
              <a:t>Less divergence than expected. The four configurations converge on window-based chunking, forward ordering and mostly hybrid retrieval, and diverge on the embedding model in the direction each domain suggests. A sensible default exists; the embedder still needs local tuning.</a:t>
            </a:r>
            <a:endParaRPr lang="en-US" sz="1150" dirty="0"/>
          </a:p>
        </p:txBody>
      </p:sp>
      <p:sp>
        <p:nvSpPr>
          <p:cNvPr id="14" name="Shape 12"/>
          <p:cNvSpPr/>
          <p:nvPr/>
        </p:nvSpPr>
        <p:spPr>
          <a:xfrm>
            <a:off x="822960" y="4434840"/>
            <a:ext cx="402336" cy="402336"/>
          </a:xfrm>
          <a:prstGeom prst="ellipse">
            <a:avLst/>
          </a:prstGeom>
          <a:solidFill>
            <a:srgbClr val="A8C0A0"/>
          </a:solidFill>
          <a:ln/>
        </p:spPr>
        <p:txBody>
          <a:bodyPr/>
          <a:lstStyle/>
          <a:p>
            <a:endParaRPr lang="en-IN"/>
          </a:p>
        </p:txBody>
      </p:sp>
      <p:sp>
        <p:nvSpPr>
          <p:cNvPr id="15" name="Text 13"/>
          <p:cNvSpPr/>
          <p:nvPr/>
        </p:nvSpPr>
        <p:spPr>
          <a:xfrm>
            <a:off x="822960" y="4434840"/>
            <a:ext cx="402336" cy="402336"/>
          </a:xfrm>
          <a:prstGeom prst="rect">
            <a:avLst/>
          </a:prstGeom>
          <a:noFill/>
          <a:ln/>
        </p:spPr>
        <p:txBody>
          <a:bodyPr wrap="square" lIns="0" tIns="0" rIns="0" bIns="0" rtlCol="0" anchor="ctr"/>
          <a:lstStyle/>
          <a:p>
            <a:pPr marL="0" indent="0" algn="ctr">
              <a:buNone/>
            </a:pPr>
            <a:r>
              <a:rPr lang="en-US" sz="1200" b="1" dirty="0">
                <a:solidFill>
                  <a:srgbClr val="5C4A38"/>
                </a:solidFill>
                <a:latin typeface="Georgia" pitchFamily="34" charset="0"/>
                <a:ea typeface="Georgia" pitchFamily="34" charset="-122"/>
                <a:cs typeface="Georgia" pitchFamily="34" charset="-120"/>
              </a:rPr>
              <a:t>3</a:t>
            </a:r>
            <a:endParaRPr lang="en-US" sz="1200" dirty="0"/>
          </a:p>
        </p:txBody>
      </p:sp>
      <p:sp>
        <p:nvSpPr>
          <p:cNvPr id="16" name="Text 14"/>
          <p:cNvSpPr/>
          <p:nvPr/>
        </p:nvSpPr>
        <p:spPr>
          <a:xfrm>
            <a:off x="1417320" y="4379976"/>
            <a:ext cx="9509760" cy="310896"/>
          </a:xfrm>
          <a:prstGeom prst="rect">
            <a:avLst/>
          </a:prstGeom>
          <a:noFill/>
          <a:ln/>
        </p:spPr>
        <p:txBody>
          <a:bodyPr wrap="square" lIns="0" tIns="0" rIns="0" bIns="0" rtlCol="0" anchor="ctr"/>
          <a:lstStyle/>
          <a:p>
            <a:pPr marL="0" indent="0">
              <a:buNone/>
            </a:pPr>
            <a:r>
              <a:rPr lang="en-US" sz="1500" b="1" dirty="0">
                <a:solidFill>
                  <a:srgbClr val="A8C0A0"/>
                </a:solidFill>
                <a:latin typeface="Calibri" pitchFamily="34" charset="0"/>
                <a:ea typeface="Calibri" pitchFamily="34" charset="-122"/>
                <a:cs typeface="Calibri" pitchFamily="34" charset="-120"/>
              </a:rPr>
              <a:t>Validity</a:t>
            </a:r>
            <a:endParaRPr lang="en-US" sz="1500" dirty="0"/>
          </a:p>
        </p:txBody>
      </p:sp>
      <p:sp>
        <p:nvSpPr>
          <p:cNvPr id="17" name="Text 15"/>
          <p:cNvSpPr/>
          <p:nvPr/>
        </p:nvSpPr>
        <p:spPr>
          <a:xfrm>
            <a:off x="1417320" y="4709160"/>
            <a:ext cx="9326880" cy="868680"/>
          </a:xfrm>
          <a:prstGeom prst="rect">
            <a:avLst/>
          </a:prstGeom>
          <a:noFill/>
          <a:ln/>
        </p:spPr>
        <p:txBody>
          <a:bodyPr wrap="square" lIns="0" tIns="0" rIns="0" bIns="0" rtlCol="0" anchor="ctr"/>
          <a:lstStyle/>
          <a:p>
            <a:pPr marL="0" indent="0">
              <a:buNone/>
            </a:pPr>
            <a:r>
              <a:rPr lang="en-US" sz="1150" dirty="0">
                <a:solidFill>
                  <a:srgbClr val="F0E7DA"/>
                </a:solidFill>
                <a:latin typeface="Calibri" pitchFamily="34" charset="0"/>
                <a:ea typeface="Calibri" pitchFamily="34" charset="-122"/>
                <a:cs typeface="Calibri" pitchFamily="34" charset="-120"/>
              </a:rPr>
              <a:t>The largest lever we measured anywhere was copying the judging prompt word for word instead of rewording it. Ten defects produced confident, well-formatted, wrong numbers, and every one would have survived a test that only asked whether the code ran.</a:t>
            </a:r>
            <a:endParaRPr lang="en-US" sz="1150" dirty="0"/>
          </a:p>
        </p:txBody>
      </p:sp>
      <p:sp>
        <p:nvSpPr>
          <p:cNvPr id="18" name="Shape 16"/>
          <p:cNvSpPr/>
          <p:nvPr/>
        </p:nvSpPr>
        <p:spPr>
          <a:xfrm>
            <a:off x="822960" y="5669280"/>
            <a:ext cx="10515600" cy="777240"/>
          </a:xfrm>
          <a:prstGeom prst="roundRect">
            <a:avLst>
              <a:gd name="adj" fmla="val 9412"/>
            </a:avLst>
          </a:prstGeom>
          <a:solidFill>
            <a:srgbClr val="8C6E52"/>
          </a:solidFill>
          <a:ln w="9525">
            <a:solidFill>
              <a:srgbClr val="C9B195"/>
            </a:solidFill>
            <a:prstDash val="solid"/>
          </a:ln>
        </p:spPr>
        <p:txBody>
          <a:bodyPr/>
          <a:lstStyle/>
          <a:p>
            <a:endParaRPr lang="en-IN"/>
          </a:p>
        </p:txBody>
      </p:sp>
      <p:sp>
        <p:nvSpPr>
          <p:cNvPr id="19" name="Text 17"/>
          <p:cNvSpPr/>
          <p:nvPr/>
        </p:nvSpPr>
        <p:spPr>
          <a:xfrm>
            <a:off x="1097280" y="5669280"/>
            <a:ext cx="10058400" cy="777240"/>
          </a:xfrm>
          <a:prstGeom prst="rect">
            <a:avLst/>
          </a:prstGeom>
          <a:noFill/>
          <a:ln/>
        </p:spPr>
        <p:txBody>
          <a:bodyPr wrap="square" lIns="0" tIns="0" rIns="0" bIns="0" rtlCol="0" anchor="ctr"/>
          <a:lstStyle/>
          <a:p>
            <a:pPr marL="0" indent="0">
              <a:buNone/>
            </a:pPr>
            <a:r>
              <a:rPr lang="en-US" sz="1300" b="1" i="1" dirty="0">
                <a:solidFill>
                  <a:srgbClr val="FFFFFF"/>
                </a:solidFill>
                <a:latin typeface="Georgia" pitchFamily="34" charset="0"/>
                <a:ea typeface="Georgia" pitchFamily="34" charset="-122"/>
                <a:cs typeface="Georgia" pitchFamily="34" charset="-120"/>
              </a:rPr>
              <a:t>“RAG evaluation code fails quietly rather than loudly. The time spent checking the instrument is better spent than the time spent tuning the pipeline.”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221</TotalTime>
  <Words>6173</Words>
  <Application>Microsoft Office PowerPoint</Application>
  <PresentationFormat>Widescreen</PresentationFormat>
  <Paragraphs>1102</Paragraphs>
  <Slides>28</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Calibri</vt:lpstr>
      <vt:lpstr>Cambria</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Real-World RAG — Capstone Review</dc:title>
  <dc:subject>PptxGenJS Presentation</dc:subject>
  <dc:creator>RAGBench Capstone Batch 26</dc:creator>
  <cp:lastModifiedBy>Manvee Dandekar</cp:lastModifiedBy>
  <cp:revision>1</cp:revision>
  <dcterms:created xsi:type="dcterms:W3CDTF">2026-08-08T08:06:30Z</dcterms:created>
  <dcterms:modified xsi:type="dcterms:W3CDTF">2026-08-12T01:21:25Z</dcterms:modified>
</cp:coreProperties>
</file>